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1" r:id="rId2"/>
    <p:sldId id="264" r:id="rId3"/>
    <p:sldId id="260" r:id="rId4"/>
    <p:sldId id="262" r:id="rId5"/>
    <p:sldId id="272" r:id="rId6"/>
    <p:sldId id="282" r:id="rId7"/>
    <p:sldId id="278" r:id="rId8"/>
    <p:sldId id="283" r:id="rId9"/>
    <p:sldId id="284" r:id="rId1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9999"/>
    <a:srgbClr val="336699"/>
    <a:srgbClr val="FFC000"/>
    <a:srgbClr val="993300"/>
    <a:srgbClr val="339966"/>
    <a:srgbClr val="3366CC"/>
    <a:srgbClr val="0066CC"/>
    <a:srgbClr val="CC99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6192" autoAdjust="0"/>
  </p:normalViewPr>
  <p:slideViewPr>
    <p:cSldViewPr snapToGrid="0">
      <p:cViewPr varScale="1">
        <p:scale>
          <a:sx n="75" d="100"/>
          <a:sy n="75" d="100"/>
        </p:scale>
        <p:origin x="10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EF45C-B4A1-4048-BF7F-D1617E8131E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2D7CD-EEF3-4145-A484-A9D67FF727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914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1429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741A-758B-58F3-9547-075B3114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DA989-6CC3-9A30-67EF-C7AE67952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4EED0-94D8-B606-57B5-3AB1ECD84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18964-E0E9-3EB6-75FC-8AC710386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9720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Python, </a:t>
            </a:r>
            <a:r>
              <a:rPr lang="de-DE" sz="1200" dirty="0" err="1"/>
              <a:t>Jupyter</a:t>
            </a:r>
            <a:r>
              <a:rPr lang="de-DE" sz="1200" dirty="0"/>
              <a:t> Notebook, Bibliotheken installieren, </a:t>
            </a:r>
            <a:r>
              <a:rPr lang="de-DE" sz="1200" dirty="0" err="1"/>
              <a:t>VSCode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Arbeiten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Jupyter</a:t>
            </a:r>
            <a:r>
              <a:rPr lang="en-US" sz="1200" dirty="0"/>
              <a:t> | </a:t>
            </a:r>
            <a:r>
              <a:rPr lang="de-DE" sz="12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Variablen für Analyse transformieren</a:t>
            </a:r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Daten in </a:t>
            </a:r>
            <a:r>
              <a:rPr lang="en-US" sz="1200" dirty="0" err="1"/>
              <a:t>Tabellen</a:t>
            </a:r>
            <a:r>
              <a:rPr lang="en-US" sz="1200" dirty="0"/>
              <a:t> &amp; </a:t>
            </a:r>
            <a:r>
              <a:rPr lang="en-US" sz="1200" dirty="0" err="1"/>
              <a:t>Beziehungen</a:t>
            </a:r>
            <a:r>
              <a:rPr lang="en-US" sz="1200" dirty="0"/>
              <a:t> </a:t>
            </a:r>
            <a:r>
              <a:rPr lang="en-US" sz="1200" dirty="0" err="1"/>
              <a:t>organisieren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Feature Engineering &amp; </a:t>
            </a:r>
            <a:r>
              <a:rPr lang="en-US" sz="1200" dirty="0" err="1"/>
              <a:t>Aggregationen</a:t>
            </a:r>
            <a:r>
              <a:rPr lang="en-US" sz="1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200" dirty="0" err="1"/>
              <a:t>Mittelwert</a:t>
            </a:r>
            <a:r>
              <a:rPr lang="en-US" sz="1200" dirty="0"/>
              <a:t>, Median, Modus, </a:t>
            </a:r>
            <a:r>
              <a:rPr lang="en-US" sz="1200" dirty="0" err="1"/>
              <a:t>Standardabweichung</a:t>
            </a:r>
            <a:r>
              <a:rPr lang="en-US" sz="1200" dirty="0"/>
              <a:t>, </a:t>
            </a:r>
            <a:r>
              <a:rPr lang="en-US" sz="1200" dirty="0" err="1"/>
              <a:t>Spannweite</a:t>
            </a:r>
            <a:endParaRPr lang="en-US" sz="1200" dirty="0"/>
          </a:p>
          <a:p>
            <a:r>
              <a:rPr lang="en-US" sz="1200" dirty="0" err="1"/>
              <a:t>Korrelationen</a:t>
            </a:r>
            <a:r>
              <a:rPr lang="en-US" sz="1200" dirty="0"/>
              <a:t> &amp; </a:t>
            </a:r>
            <a:r>
              <a:rPr lang="en-US" sz="1200" dirty="0" err="1"/>
              <a:t>Kreuztabellen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Klassische</a:t>
            </a:r>
            <a:r>
              <a:rPr lang="en-US" sz="1200" dirty="0"/>
              <a:t> </a:t>
            </a:r>
            <a:r>
              <a:rPr lang="en-US" sz="1200" dirty="0" err="1"/>
              <a:t>Diagramme</a:t>
            </a:r>
            <a:r>
              <a:rPr lang="en-US" sz="1200" dirty="0"/>
              <a:t>; </a:t>
            </a:r>
            <a:r>
              <a:rPr lang="en-US" sz="1200" dirty="0" err="1"/>
              <a:t>Balkendiagramm</a:t>
            </a:r>
            <a:r>
              <a:rPr lang="en-US" sz="1200" dirty="0"/>
              <a:t>, </a:t>
            </a:r>
            <a:r>
              <a:rPr lang="en-US" sz="1200" dirty="0" err="1"/>
              <a:t>Histogramm</a:t>
            </a:r>
            <a:r>
              <a:rPr lang="en-US" sz="1200" dirty="0"/>
              <a:t>, Boxplot, </a:t>
            </a:r>
            <a:r>
              <a:rPr lang="en-US" sz="1200" dirty="0" err="1"/>
              <a:t>Liniendiagramm</a:t>
            </a:r>
            <a:r>
              <a:rPr lang="en-US" sz="1200" dirty="0"/>
              <a:t>, </a:t>
            </a:r>
            <a:r>
              <a:rPr lang="en-US" sz="1200" dirty="0" err="1"/>
              <a:t>Streudiagramm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Interaktive</a:t>
            </a:r>
            <a:r>
              <a:rPr lang="en-US" sz="12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Mini-</a:t>
            </a:r>
            <a:r>
              <a:rPr lang="en-US" sz="1200" dirty="0" err="1"/>
              <a:t>Fallbeispiele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allen</a:t>
            </a:r>
            <a:r>
              <a:rPr lang="en-US" sz="1200" dirty="0"/>
              <a:t> </a:t>
            </a:r>
            <a:r>
              <a:rPr lang="en-US" sz="1200" dirty="0" err="1"/>
              <a:t>vorherigen</a:t>
            </a:r>
            <a:r>
              <a:rPr lang="en-US" sz="1200" dirty="0"/>
              <a:t> </a:t>
            </a:r>
            <a:r>
              <a:rPr lang="en-US" sz="1200" dirty="0" err="1"/>
              <a:t>Schritten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Ergebnisse präsentieren &amp; diskutieren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8453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BF8E1-3F98-2D4A-A187-71A87BAB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79535-D580-53FC-AF97-E3C06BE41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6D207-9405-7961-89E3-DF8DAFBA2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CA030-4A91-82F2-0663-BBAB7286E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94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A2992-7B48-9FE1-78D7-623B019D4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0BBA3-9D65-FC71-6287-5D4924FB5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2E1E5-197B-131C-DF3C-5A12B9A6D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187BA-927C-256A-7E34-B02B06FC1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6345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9B1BC-7917-719C-6801-41CACA40A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64A32-6ABA-556F-CF89-D81EA7509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30773-CC91-9DE9-9D42-2EC9A126D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Python, </a:t>
            </a:r>
            <a:r>
              <a:rPr lang="de-DE" sz="1200" dirty="0" err="1"/>
              <a:t>Jupyter</a:t>
            </a:r>
            <a:r>
              <a:rPr lang="de-DE" sz="1200" dirty="0"/>
              <a:t> Notebook, Bibliotheken installieren, </a:t>
            </a:r>
            <a:r>
              <a:rPr lang="de-DE" sz="1200" dirty="0" err="1"/>
              <a:t>VSCode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Arbeiten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Jupyter</a:t>
            </a:r>
            <a:r>
              <a:rPr lang="en-US" sz="1200" dirty="0"/>
              <a:t> | </a:t>
            </a:r>
            <a:r>
              <a:rPr lang="de-DE" sz="12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Variablen für Analyse transformieren</a:t>
            </a:r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Daten in </a:t>
            </a:r>
            <a:r>
              <a:rPr lang="en-US" sz="1200" dirty="0" err="1"/>
              <a:t>Tabellen</a:t>
            </a:r>
            <a:r>
              <a:rPr lang="en-US" sz="1200" dirty="0"/>
              <a:t> &amp; </a:t>
            </a:r>
            <a:r>
              <a:rPr lang="en-US" sz="1200" dirty="0" err="1"/>
              <a:t>Beziehungen</a:t>
            </a:r>
            <a:r>
              <a:rPr lang="en-US" sz="1200" dirty="0"/>
              <a:t> </a:t>
            </a:r>
            <a:r>
              <a:rPr lang="en-US" sz="1200" dirty="0" err="1"/>
              <a:t>organisieren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Feature Engineering &amp; </a:t>
            </a:r>
            <a:r>
              <a:rPr lang="en-US" sz="1200" dirty="0" err="1"/>
              <a:t>Aggregationen</a:t>
            </a:r>
            <a:r>
              <a:rPr lang="en-US" sz="1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200" dirty="0" err="1"/>
              <a:t>Mittelwert</a:t>
            </a:r>
            <a:r>
              <a:rPr lang="en-US" sz="1200" dirty="0"/>
              <a:t>, Median, Modus, </a:t>
            </a:r>
            <a:r>
              <a:rPr lang="en-US" sz="1200" dirty="0" err="1"/>
              <a:t>Standardabweichung</a:t>
            </a:r>
            <a:r>
              <a:rPr lang="en-US" sz="1200" dirty="0"/>
              <a:t>, </a:t>
            </a:r>
            <a:r>
              <a:rPr lang="en-US" sz="1200" dirty="0" err="1"/>
              <a:t>Spannweite</a:t>
            </a:r>
            <a:endParaRPr lang="en-US" sz="1200" dirty="0"/>
          </a:p>
          <a:p>
            <a:r>
              <a:rPr lang="en-US" sz="1200" dirty="0" err="1"/>
              <a:t>Korrelationen</a:t>
            </a:r>
            <a:r>
              <a:rPr lang="en-US" sz="1200" dirty="0"/>
              <a:t> &amp; </a:t>
            </a:r>
            <a:r>
              <a:rPr lang="en-US" sz="1200" dirty="0" err="1"/>
              <a:t>Kreuztabellen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Klassische</a:t>
            </a:r>
            <a:r>
              <a:rPr lang="en-US" sz="1200" dirty="0"/>
              <a:t> </a:t>
            </a:r>
            <a:r>
              <a:rPr lang="en-US" sz="1200" dirty="0" err="1"/>
              <a:t>Diagramme</a:t>
            </a:r>
            <a:r>
              <a:rPr lang="en-US" sz="1200" dirty="0"/>
              <a:t>; </a:t>
            </a:r>
            <a:r>
              <a:rPr lang="en-US" sz="1200" dirty="0" err="1"/>
              <a:t>Balkendiagramm</a:t>
            </a:r>
            <a:r>
              <a:rPr lang="en-US" sz="1200" dirty="0"/>
              <a:t>, </a:t>
            </a:r>
            <a:r>
              <a:rPr lang="en-US" sz="1200" dirty="0" err="1"/>
              <a:t>Histogramm</a:t>
            </a:r>
            <a:r>
              <a:rPr lang="en-US" sz="1200" dirty="0"/>
              <a:t>, Boxplot, </a:t>
            </a:r>
            <a:r>
              <a:rPr lang="en-US" sz="1200" dirty="0" err="1"/>
              <a:t>Liniendiagramm</a:t>
            </a:r>
            <a:r>
              <a:rPr lang="en-US" sz="1200" dirty="0"/>
              <a:t>, </a:t>
            </a:r>
            <a:r>
              <a:rPr lang="en-US" sz="1200" dirty="0" err="1"/>
              <a:t>Streudiagramm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Interaktive</a:t>
            </a:r>
            <a:r>
              <a:rPr lang="en-US" sz="12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Mini-</a:t>
            </a:r>
            <a:r>
              <a:rPr lang="en-US" sz="1200" dirty="0" err="1"/>
              <a:t>Fallbeispiele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allen</a:t>
            </a:r>
            <a:r>
              <a:rPr lang="en-US" sz="1200" dirty="0"/>
              <a:t> </a:t>
            </a:r>
            <a:r>
              <a:rPr lang="en-US" sz="1200" dirty="0" err="1"/>
              <a:t>vorherigen</a:t>
            </a:r>
            <a:r>
              <a:rPr lang="en-US" sz="1200" dirty="0"/>
              <a:t> </a:t>
            </a:r>
            <a:r>
              <a:rPr lang="en-US" sz="1200" dirty="0" err="1"/>
              <a:t>Schritten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Ergebnisse präsentieren &amp; diskutieren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2769D-F669-F967-1F60-5D38ECF71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6854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EE4BE-88F5-A9B8-131F-B340B4CA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6912A-67EE-48A7-B847-88337BADB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F6CBDF-CDB2-A020-270D-66DD567D3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 &amp; Standardizing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Fix errors and make the dataset uniform.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Correcting Values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Changing "N/A" or "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to the average value (e.g., $25$) or removing broken rows.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Standardizing Formats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Changing "Jan 1st", "01/01/26", and "2026-01-01" all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2026-01-01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 Consistency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Merging "NY", "new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and "N.Y." into one clean label: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York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2B631-96B6-7C85-148D-6D6187C03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30690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8CB27-3123-20A9-FE30-94D2D2257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72C10-0855-58BA-1D7C-44A33E9F1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F1CBA-C0A6-E1C2-0964-6A417FEBE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2: Transformation for Analysis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variables for mathematical processing.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Scaling &amp; Normalization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Shrinking a salary of $\$50,000$ and an age of $30$ to a scale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to 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they are comparable.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Categorical Encoding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Turning "Yes/No" into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a computer can calculate them.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 Binning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Grouping individual ages (22, 25, 29) into a single category: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"20-30 Years"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77EA4-75DA-B1F0-50B3-58B76E89A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6974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5AB96-1D3E-D2AD-1327-4552B48AF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22B13-74F7-0AF3-4D44-365A0DC2A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3A953-501F-2585-D77E-C79063C03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2: Transformation for Analysis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variables for mathematical processing.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Scaling &amp; Normalization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Shrinking a salary of $\$50,000$ and an age of $30$ to a scale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to 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they are comparable.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Categorical Encoding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Turning "Yes/No" into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a computer can calculate them.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 Binning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Grouping individual ages (22, 25, 29) into a single category: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"20-30 Years"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97102-1676-FDCB-7661-7F4CBDBA4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02331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9595-AE29-8F78-6250-FE6DBB183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B830E-06C9-E616-457D-0469587FD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EFBF3-5437-9432-6F3C-E9696BAE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D0A7-A4B8-8D6A-B20D-D4EED41F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5C235-37A2-169F-89F1-6CEEDE74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381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3155-3098-3396-23EF-4D00FB95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B2B4-2744-4FA6-1DCE-04083BE85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A7CE-1D79-8F9E-2161-29793B3B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907A2-F4AA-C22D-91E7-6BACD48B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D31A0-F851-DC6F-6FAE-179D6AAB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898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BBF6-43C8-1202-C842-3AEB0A79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E51AA-9DDF-9B9E-C7A3-804260F6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6152C-741A-690F-95E2-4CEEA150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A4312-5CEF-0E6E-F0FC-2158396D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CB96-F2F1-AD45-314A-F5DA6562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20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8164-1E83-B846-266B-64E7E034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6D78-13A3-57B9-A9E6-4C101CB19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8BB16-6D83-DE01-79A2-554AB22A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EB16E-8897-8C72-0C20-5DC3F49B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38E4E-E4C2-594D-0EE2-5C3B7396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E9FD8-C8E1-4BD4-A517-B0ADD515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2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6434-7761-D029-FB66-4F80A49D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CFE8E-4227-8C0A-BD8C-41F2C2A45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F3CFA-B49D-50D6-2E0E-49392FCB2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E9783-D65C-C0F6-AABC-EF1ECF7CC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FE071-5FD8-2DB5-E332-AC4CDBA99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764CB-223F-2456-6217-BD105CBD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3798B-ECD3-32E9-9B74-6D761E3A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2443F-87BD-CFD1-8A4C-CA0D911E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71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B514-5C0F-91C8-9086-96E98E2B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67521-6441-49DD-657C-A9F9ECCE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9684F-ADC5-40EE-29F5-352B32B7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7310E-84BC-1668-4738-8C6506C2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273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1DE42-EFFF-52A5-9069-2558A060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6EE09-01B8-5E7D-A9AC-ECED3892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83AEB-9C93-CF86-D334-CE30895D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140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3A1B-8068-C274-CEAF-492A5CC6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DB75-B5C7-6302-3091-FF9573490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3D8E1-0759-B964-DB0B-A80FF160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8116D-4DFE-FAC6-4C4B-A53BD3CF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F31FB-ED89-D4B0-A7DA-C57424FE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EBD40-61C2-7E15-336F-F34935FD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047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10F3-140C-EFEB-F2FA-739E5E7D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E401B-004D-0780-B8E4-3F1FB20EA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150E9-B00B-0542-A850-0B34BE69F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DC802-98E2-7466-6330-33716392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EB337-7B9A-EE26-F59D-F3FBC68B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4C702-6F8D-DDAE-83A4-E9A2ADCE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03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0964-B1E6-1C1B-491D-8D87B530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A3D5C-B633-CC1B-AA44-E499C1CB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A48F7-B899-0EA5-94AE-D4B3533A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3F8E2-1843-33D6-C8C9-6A5720DFF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F2A81-7DFE-29D5-C375-A137C255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360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0F015-E7EA-2A69-6323-A3EB90C82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ACB86-CF84-A074-9A1F-2F408DD4E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30080-38B2-3A79-5209-5EEE297B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CF3C8-BDA0-EBA1-09D5-D77B02FE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075F-0BE7-8E63-5582-D8F0FED4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565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28348-1E0F-4158-DFB4-4EF9E069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52730-C780-711F-8EC9-A46588BC7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E76EE-5EE3-0069-FE21-07534E8C3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AFFDE-209F-EABB-F557-E838A5D21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54F25-00E5-EC11-F2EE-A05BD6D65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9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98E5-5A49-760C-EC35-E81E4300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7685-C07F-EFB7-72F1-1422DCA0C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Datenanalyse</a:t>
            </a:r>
            <a:b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/>
              <a:t>Data Analysis</a:t>
            </a:r>
            <a:endParaRPr lang="LID4096" sz="8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8E596-E0F4-E60F-E73A-05489C07A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9213"/>
          </a:xfrm>
        </p:spPr>
        <p:txBody>
          <a:bodyPr>
            <a:normAutofit fontScale="47500" lnSpcReduction="20000"/>
          </a:bodyPr>
          <a:lstStyle/>
          <a:p>
            <a:br>
              <a:rPr lang="en-US" sz="3600" b="1" dirty="0"/>
            </a:br>
            <a:r>
              <a:rPr lang="en-US" sz="12600" b="1" dirty="0" err="1"/>
              <a:t>Grundlagen</a:t>
            </a:r>
            <a:endParaRPr lang="LID4096" sz="3600" b="1" dirty="0"/>
          </a:p>
        </p:txBody>
      </p:sp>
    </p:spTree>
    <p:extLst>
      <p:ext uri="{BB962C8B-B14F-4D97-AF65-F5344CB8AC3E}">
        <p14:creationId xmlns:p14="http://schemas.microsoft.com/office/powerpoint/2010/main" val="211217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06911-A5E2-6F03-201D-9F3FC9B1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AAC8A20-FCDD-73E8-BA54-E9DE3D1863F8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056EDA-F70E-5862-5364-54C75A7BDA07}"/>
              </a:ext>
            </a:extLst>
          </p:cNvPr>
          <p:cNvSpPr txBox="1"/>
          <p:nvPr/>
        </p:nvSpPr>
        <p:spPr>
          <a:xfrm>
            <a:off x="10803467" y="47193"/>
            <a:ext cx="129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process</a:t>
            </a:r>
            <a:endParaRPr lang="LID4096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01BBE8A-38DE-BEAC-0233-05229AC7506A}"/>
              </a:ext>
            </a:extLst>
          </p:cNvPr>
          <p:cNvSpPr/>
          <p:nvPr/>
        </p:nvSpPr>
        <p:spPr>
          <a:xfrm>
            <a:off x="496213" y="1024616"/>
            <a:ext cx="2067374" cy="483325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1" name="Graphic 30" descr="Question mark">
            <a:extLst>
              <a:ext uri="{FF2B5EF4-FFF2-40B4-BE49-F238E27FC236}">
                <a16:creationId xmlns:a16="http://schemas.microsoft.com/office/drawing/2014/main" id="{70393C53-2048-FE4C-CE55-054342C6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700" y="1455763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47A8AEF-C94D-DFBC-0EEC-8A5BF4A02607}"/>
              </a:ext>
            </a:extLst>
          </p:cNvPr>
          <p:cNvSpPr txBox="1"/>
          <p:nvPr/>
        </p:nvSpPr>
        <p:spPr>
          <a:xfrm>
            <a:off x="776675" y="2512330"/>
            <a:ext cx="150645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Fragestellung</a:t>
            </a:r>
            <a:endParaRPr lang="en-US" sz="1600" b="1" dirty="0"/>
          </a:p>
          <a:p>
            <a:endParaRPr lang="en-US" sz="1600" dirty="0"/>
          </a:p>
          <a:p>
            <a:pPr algn="ctr"/>
            <a:r>
              <a:rPr lang="de-DE" sz="1400" dirty="0"/>
              <a:t>Festlegung des Problems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Bestimmung</a:t>
            </a:r>
            <a:r>
              <a:rPr lang="en-US" sz="1400" dirty="0"/>
              <a:t> der </a:t>
            </a:r>
            <a:r>
              <a:rPr lang="en-US" sz="1400" dirty="0" err="1"/>
              <a:t>relevanten</a:t>
            </a:r>
            <a:r>
              <a:rPr lang="en-US" sz="1400" dirty="0"/>
              <a:t> </a:t>
            </a:r>
            <a:r>
              <a:rPr lang="en-US" sz="1400" dirty="0" err="1"/>
              <a:t>Kennzahlen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Was </a:t>
            </a:r>
            <a:r>
              <a:rPr lang="en-US" sz="1400" dirty="0" err="1"/>
              <a:t>treibt</a:t>
            </a:r>
            <a:r>
              <a:rPr lang="en-US" sz="1400" dirty="0"/>
              <a:t> die Kunden </a:t>
            </a:r>
            <a:r>
              <a:rPr lang="en-US" sz="1400" dirty="0" err="1"/>
              <a:t>zufriedenheit</a:t>
            </a:r>
            <a:r>
              <a:rPr lang="en-US" sz="1400" dirty="0"/>
              <a:t>?</a:t>
            </a:r>
            <a:endParaRPr lang="LID4096" sz="14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4294CBF-CC7D-A6AD-1FA6-99B8EDA354E3}"/>
              </a:ext>
            </a:extLst>
          </p:cNvPr>
          <p:cNvSpPr/>
          <p:nvPr/>
        </p:nvSpPr>
        <p:spPr>
          <a:xfrm>
            <a:off x="2771466" y="1024616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CB6697-0643-8D84-F464-D9CF5FBF1E6D}"/>
              </a:ext>
            </a:extLst>
          </p:cNvPr>
          <p:cNvGrpSpPr/>
          <p:nvPr/>
        </p:nvGrpSpPr>
        <p:grpSpPr>
          <a:xfrm>
            <a:off x="2802728" y="1455763"/>
            <a:ext cx="2004850" cy="3118670"/>
            <a:chOff x="2521648" y="1455763"/>
            <a:chExt cx="2004850" cy="3118670"/>
          </a:xfrm>
        </p:grpSpPr>
        <p:pic>
          <p:nvPicPr>
            <p:cNvPr id="35" name="Graphic 34" descr="Database">
              <a:extLst>
                <a:ext uri="{FF2B5EF4-FFF2-40B4-BE49-F238E27FC236}">
                  <a16:creationId xmlns:a16="http://schemas.microsoft.com/office/drawing/2014/main" id="{377AE0B0-9940-D905-D8CF-6929A0FB9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BB8D6E9-DBC5-4B58-5AE5-3D747D84E715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C560BAA-B555-E917-2DD2-B086E3B94B85}"/>
              </a:ext>
            </a:extLst>
          </p:cNvPr>
          <p:cNvSpPr/>
          <p:nvPr/>
        </p:nvSpPr>
        <p:spPr>
          <a:xfrm>
            <a:off x="5046719" y="1024616"/>
            <a:ext cx="2067374" cy="48332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8" name="Graphic 37" descr="Checklist">
            <a:extLst>
              <a:ext uri="{FF2B5EF4-FFF2-40B4-BE49-F238E27FC236}">
                <a16:creationId xmlns:a16="http://schemas.microsoft.com/office/drawing/2014/main" id="{79C85BAC-7E8F-C2D3-D0F2-2AC9C669E9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3206" y="1455763"/>
            <a:ext cx="914400" cy="91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865E7A7-88CE-7122-773F-13AD1D10BABF}"/>
              </a:ext>
            </a:extLst>
          </p:cNvPr>
          <p:cNvSpPr txBox="1"/>
          <p:nvPr/>
        </p:nvSpPr>
        <p:spPr>
          <a:xfrm>
            <a:off x="5077981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 err="1"/>
              <a:t>Z.b.</a:t>
            </a:r>
            <a:r>
              <a:rPr lang="de-DE" sz="1400" dirty="0"/>
              <a:t> EUR, USD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A26673D-789D-538C-7ECF-BD249C0457C8}"/>
              </a:ext>
            </a:extLst>
          </p:cNvPr>
          <p:cNvSpPr/>
          <p:nvPr/>
        </p:nvSpPr>
        <p:spPr>
          <a:xfrm>
            <a:off x="7321972" y="10123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4C8FF617-5522-CDB4-5692-99C9F3C2E4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98459" y="1455763"/>
            <a:ext cx="914400" cy="914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E527BC7-284B-088A-B0F0-AA3F210C7BC0}"/>
              </a:ext>
            </a:extLst>
          </p:cNvPr>
          <p:cNvSpPr txBox="1"/>
          <p:nvPr/>
        </p:nvSpPr>
        <p:spPr>
          <a:xfrm>
            <a:off x="7353234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Korrelationen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Mustererkennung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Anwendung von Modellen zur</a:t>
            </a:r>
          </a:p>
          <a:p>
            <a:pPr algn="ctr"/>
            <a:r>
              <a:rPr lang="de-DE" sz="1400" dirty="0"/>
              <a:t>Erkenntnisgewinnung</a:t>
            </a:r>
            <a:endParaRPr lang="LID4096" sz="14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FDBEC20-9558-8F71-ED61-2146B97FF8FF}"/>
              </a:ext>
            </a:extLst>
          </p:cNvPr>
          <p:cNvSpPr/>
          <p:nvPr/>
        </p:nvSpPr>
        <p:spPr>
          <a:xfrm>
            <a:off x="9597223" y="1024616"/>
            <a:ext cx="2067374" cy="48332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4" name="Graphic 43" descr="Share">
            <a:extLst>
              <a:ext uri="{FF2B5EF4-FFF2-40B4-BE49-F238E27FC236}">
                <a16:creationId xmlns:a16="http://schemas.microsoft.com/office/drawing/2014/main" id="{0598B757-8FCB-68A3-4E22-C1A5B19FC1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73710" y="1455763"/>
            <a:ext cx="914400" cy="9144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59A93B4-76D7-0305-9872-2FCEBF929737}"/>
              </a:ext>
            </a:extLst>
          </p:cNvPr>
          <p:cNvSpPr txBox="1"/>
          <p:nvPr/>
        </p:nvSpPr>
        <p:spPr>
          <a:xfrm>
            <a:off x="9628485" y="2512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Teilen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Berichte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Präsentationen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/>
              <a:t>Storytelling </a:t>
            </a:r>
            <a:r>
              <a:rPr lang="en-US" sz="1400" dirty="0" err="1"/>
              <a:t>mit</a:t>
            </a:r>
            <a:r>
              <a:rPr lang="en-US" sz="1400" dirty="0"/>
              <a:t> Daten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Klare </a:t>
            </a:r>
            <a:r>
              <a:rPr lang="en-US" sz="1400" dirty="0" err="1"/>
              <a:t>Empfehlungen</a:t>
            </a:r>
            <a:r>
              <a:rPr lang="en-US" sz="1400" dirty="0"/>
              <a:t> </a:t>
            </a:r>
            <a:r>
              <a:rPr lang="en-US" sz="1400" dirty="0" err="1"/>
              <a:t>geben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383615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24F6DF1-AF8B-B5EC-EC2F-2A121854376C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Python, </a:t>
            </a:r>
            <a:r>
              <a:rPr lang="de-DE" sz="1400" dirty="0" err="1"/>
              <a:t>Jupyter</a:t>
            </a:r>
            <a:r>
              <a:rPr lang="de-DE" sz="1400" dirty="0"/>
              <a:t> Notebook, Bibliotheken installieren, </a:t>
            </a:r>
            <a:r>
              <a:rPr lang="de-DE" sz="1400" dirty="0" err="1"/>
              <a:t>VSCode</a:t>
            </a: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Arbeiten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Jupyter</a:t>
            </a:r>
            <a:r>
              <a:rPr lang="en-US" sz="1400" dirty="0"/>
              <a:t> | </a:t>
            </a:r>
            <a:r>
              <a:rPr lang="de-DE" sz="14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BAAF1-C0D6-B182-1588-C698583090A2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A6950-109D-6924-5D77-32AA072B8DCF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94054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56AC-30C4-2912-C852-F8A9E4A7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AE1D1E8-BB27-9F07-6D1A-519FABFBAFBE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b="1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b="1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Analyseziele &amp; KPIs definieren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bg2">
                    <a:lumMod val="50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bg2">
                    <a:lumMod val="50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8B5D11-0392-D029-394E-0E2E29F38FDB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&amp; Aggregation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Daten in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Tabellen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Beziehungen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organisieren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Feature Engineering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Aggregationen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&amp; KPIs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Mittelwert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Median, Modus,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Standardabweichung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Spannweite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Korrelationen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Kreuztabellen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Klassische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Diagramme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Balkendiagramm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Histogramm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Boxplot,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Liniendiagramm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Streudiagramm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Interaktive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Mini-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Fallbeispiele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allen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vorherigen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Schritten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Ergebnisse präsentieren &amp; diskutieren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11F9C1-4711-A265-C578-3AF4BAD66930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27597A-65BE-0742-AA12-965AEC469016}"/>
              </a:ext>
            </a:extLst>
          </p:cNvPr>
          <p:cNvSpPr/>
          <p:nvPr/>
        </p:nvSpPr>
        <p:spPr>
          <a:xfrm>
            <a:off x="358375" y="2451100"/>
            <a:ext cx="4823225" cy="9779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5252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ECC72-8B28-3CB6-EC81-ABF8B87A2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083F8FC-B480-AF3F-CB51-6D5B8D465A26}"/>
              </a:ext>
            </a:extLst>
          </p:cNvPr>
          <p:cNvSpPr txBox="1"/>
          <p:nvPr/>
        </p:nvSpPr>
        <p:spPr>
          <a:xfrm>
            <a:off x="358375" y="1490503"/>
            <a:ext cx="609668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Datenerhebung &amp; Datenqualität</a:t>
            </a:r>
            <a:endParaRPr lang="de-DE" sz="1600" dirty="0">
              <a:solidFill>
                <a:srgbClr val="FF99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F1BE8F-5A43-A69A-0931-18E6C45C3281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DDEE66-84C2-089A-11D6-AC6E73C1BCF3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0CC33B-3194-5EB6-66DC-C1C42FDAC122}"/>
              </a:ext>
            </a:extLst>
          </p:cNvPr>
          <p:cNvSpPr/>
          <p:nvPr/>
        </p:nvSpPr>
        <p:spPr>
          <a:xfrm>
            <a:off x="358375" y="3346450"/>
            <a:ext cx="5432825" cy="14732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34498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7EE86-F031-25B3-22A0-439F0F934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BE57920-A6C3-0189-D9F0-96EF696834B6}"/>
              </a:ext>
            </a:extLst>
          </p:cNvPr>
          <p:cNvSpPr txBox="1"/>
          <p:nvPr/>
        </p:nvSpPr>
        <p:spPr>
          <a:xfrm>
            <a:off x="358375" y="1490503"/>
            <a:ext cx="609668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Datenbereinigung &amp; -vorbereitung</a:t>
            </a:r>
            <a:endParaRPr lang="de-DE" sz="1600" dirty="0">
              <a:solidFill>
                <a:srgbClr val="FF99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226EA3-9004-E1D2-CC1E-91A051F7EF16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AA3F0C-9EC1-E50C-D8BB-FCB2AB2D410D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214A95-EBF1-91E4-E36D-C618984E8951}"/>
              </a:ext>
            </a:extLst>
          </p:cNvPr>
          <p:cNvSpPr/>
          <p:nvPr/>
        </p:nvSpPr>
        <p:spPr>
          <a:xfrm>
            <a:off x="144410" y="4540250"/>
            <a:ext cx="5432825" cy="14732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683130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21290-A7D0-4C07-5601-656F47609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84B62E-D991-7887-2F01-C320700858A2}"/>
              </a:ext>
            </a:extLst>
          </p:cNvPr>
          <p:cNvSpPr/>
          <p:nvPr/>
        </p:nvSpPr>
        <p:spPr>
          <a:xfrm>
            <a:off x="881119" y="1151616"/>
            <a:ext cx="2067374" cy="4833257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Graphic 2" descr="Checklist">
            <a:extLst>
              <a:ext uri="{FF2B5EF4-FFF2-40B4-BE49-F238E27FC236}">
                <a16:creationId xmlns:a16="http://schemas.microsoft.com/office/drawing/2014/main" id="{B762D2CF-7EC3-C000-2793-FDDFC5A3B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7606" y="1582763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88596C-0A49-098C-CB18-391BD3753397}"/>
              </a:ext>
            </a:extLst>
          </p:cNvPr>
          <p:cNvSpPr txBox="1"/>
          <p:nvPr/>
        </p:nvSpPr>
        <p:spPr>
          <a:xfrm>
            <a:off x="912381" y="2639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5FA5A08-B852-058A-4738-87D66A16C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8300" y="1422703"/>
            <a:ext cx="6746594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Datenbereinigung &amp; Standardisierung</a:t>
            </a:r>
            <a:endParaRPr kumimoji="0" lang="en-US" altLang="LID4096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Ziel: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Fehler beheben und einen einheitlichen Datensatz erstellen.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Fehlerhafte Werte korrigieren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Beispiel: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„N/A“ oder fehlende Werte durch den Durchschnitt (z. B. $25$) ersetzen oder Zeilen löschen (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Cleaning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Formate standardisieren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Beispiel: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Unterschiedliche Daten wie „1. Jan“, „01/01/26“ einheitlich zu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2026-01-01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umwandeln.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Kategorien vereinheitlichen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Beispiel: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„DE“, „germany“ und „Deutschland“ zu einem Label zusammenfassen: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Germany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647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C576E-5E73-F344-8B95-F4851F77C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AA922C5-DC86-568D-19EB-AF17220CA4D4}"/>
              </a:ext>
            </a:extLst>
          </p:cNvPr>
          <p:cNvSpPr/>
          <p:nvPr/>
        </p:nvSpPr>
        <p:spPr>
          <a:xfrm>
            <a:off x="881119" y="1151616"/>
            <a:ext cx="2067374" cy="4833257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Graphic 2" descr="Checklist">
            <a:extLst>
              <a:ext uri="{FF2B5EF4-FFF2-40B4-BE49-F238E27FC236}">
                <a16:creationId xmlns:a16="http://schemas.microsoft.com/office/drawing/2014/main" id="{C3C44A20-9A55-D763-EB47-2E8CB3C0B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7606" y="1582763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3E3E5C-F632-2A3E-36BC-9715D42ABD99}"/>
              </a:ext>
            </a:extLst>
          </p:cNvPr>
          <p:cNvSpPr txBox="1"/>
          <p:nvPr/>
        </p:nvSpPr>
        <p:spPr>
          <a:xfrm>
            <a:off x="912381" y="2639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5AE69050-F57F-BDB2-AF22-746F775B0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4380" y="2033414"/>
            <a:ext cx="7917720" cy="361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Transformation für Analyse &amp; Science</a:t>
            </a:r>
            <a:endParaRPr kumimoji="0" lang="en-US" altLang="LID4096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Ziel: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Variablen für menschliche Erkenntnisse oder maschinelle Verarbeitung vorbereiten.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Scaling &amp; Normalisierung (Machine Ready):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Aktion: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Zahlen auf einen gemeinsamen Bereich skalieren (z. B. $0$ bis $1$).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Beispiel: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Einen Preis von $200$ € und ein Volumen von $1.000.000$ auf derselben Skala vergleichbar machen.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Categorical Encoding: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Aktion: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Text-Labels in numerische Werte umwandeln.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Beispiel: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"Kauf/Verkauf" in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1/0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ändern, damit ein Algorithmus damit rechnen kann.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Variable Binning (Gruppierung):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Aktion: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Kontinuierliche Daten in diskrete „Eimer“ (Buckets) einteilen.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Beispiel: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Alterswerte in Gruppen wie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"Junior"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oder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"Senior"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umwandeln.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647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87B4-823F-9B11-CC2F-B18049AFC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BE365C-1873-5ECA-F4EF-6481E117F2EF}"/>
              </a:ext>
            </a:extLst>
          </p:cNvPr>
          <p:cNvSpPr/>
          <p:nvPr/>
        </p:nvSpPr>
        <p:spPr>
          <a:xfrm>
            <a:off x="881119" y="1151616"/>
            <a:ext cx="2067374" cy="4833257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Graphic 2" descr="Checklist">
            <a:extLst>
              <a:ext uri="{FF2B5EF4-FFF2-40B4-BE49-F238E27FC236}">
                <a16:creationId xmlns:a16="http://schemas.microsoft.com/office/drawing/2014/main" id="{59C005E1-95D6-D6CA-FB51-93E4834AF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7606" y="1582763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AA8E21-B1F2-3862-6E26-F2F22F81C84F}"/>
              </a:ext>
            </a:extLst>
          </p:cNvPr>
          <p:cNvSpPr txBox="1"/>
          <p:nvPr/>
        </p:nvSpPr>
        <p:spPr>
          <a:xfrm>
            <a:off x="912381" y="2639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D6E37-5F4D-98C3-EF7C-DD4CC89E5DC5}"/>
              </a:ext>
            </a:extLst>
          </p:cNvPr>
          <p:cNvSpPr txBox="1"/>
          <p:nvPr/>
        </p:nvSpPr>
        <p:spPr>
          <a:xfrm>
            <a:off x="4229100" y="234694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Data </a:t>
            </a:r>
            <a:r>
              <a:rPr lang="de-DE" b="1" dirty="0" err="1"/>
              <a:t>Prep</a:t>
            </a:r>
            <a:r>
              <a:rPr lang="de-DE" b="1" dirty="0"/>
              <a:t> für Analysis: </a:t>
            </a:r>
          </a:p>
          <a:p>
            <a:r>
              <a:rPr lang="de-DE" dirty="0"/>
              <a:t>Bereinigung und Formatierung von Daten, damit </a:t>
            </a:r>
            <a:r>
              <a:rPr lang="de-DE" b="1" dirty="0"/>
              <a:t>Menschen</a:t>
            </a:r>
            <a:r>
              <a:rPr lang="de-DE" dirty="0"/>
              <a:t> sie durch Diagramme und Berichte korrekt interpretieren können.</a:t>
            </a:r>
          </a:p>
          <a:p>
            <a:r>
              <a:rPr lang="de-DE" b="1" dirty="0"/>
              <a:t>für den Menschen</a:t>
            </a:r>
          </a:p>
          <a:p>
            <a:endParaRPr lang="de-DE" dirty="0"/>
          </a:p>
          <a:p>
            <a:r>
              <a:rPr lang="de-DE" b="1" dirty="0"/>
              <a:t>Data </a:t>
            </a:r>
            <a:r>
              <a:rPr lang="de-DE" b="1" dirty="0" err="1"/>
              <a:t>Prep</a:t>
            </a:r>
            <a:r>
              <a:rPr lang="de-DE" b="1" dirty="0"/>
              <a:t> für Data Science: </a:t>
            </a:r>
          </a:p>
          <a:p>
            <a:r>
              <a:rPr lang="de-DE" dirty="0"/>
              <a:t>Transformation von Daten in mathematische Formate (wie Skalen und Vektoren), damit </a:t>
            </a:r>
            <a:r>
              <a:rPr lang="de-DE" b="1" dirty="0"/>
              <a:t>Algorithmen</a:t>
            </a:r>
            <a:r>
              <a:rPr lang="de-DE" dirty="0"/>
              <a:t> sie verarbeiten und daraus lernen können.</a:t>
            </a:r>
          </a:p>
          <a:p>
            <a:r>
              <a:rPr lang="en-US" b="1" dirty="0"/>
              <a:t>für die </a:t>
            </a:r>
            <a:r>
              <a:rPr lang="en-US" b="1" dirty="0" err="1"/>
              <a:t>Maschine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3630992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7350</TotalTime>
  <Words>1610</Words>
  <Application>Microsoft Office PowerPoint</Application>
  <PresentationFormat>Widescreen</PresentationFormat>
  <Paragraphs>365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Google Sans</vt:lpstr>
      <vt:lpstr>Google Sans Text</vt:lpstr>
      <vt:lpstr>Office Theme</vt:lpstr>
      <vt:lpstr>Datenanalyse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zolfagharian</dc:creator>
  <cp:lastModifiedBy>ali zolfagharian</cp:lastModifiedBy>
  <cp:revision>45</cp:revision>
  <dcterms:created xsi:type="dcterms:W3CDTF">2026-02-20T09:06:58Z</dcterms:created>
  <dcterms:modified xsi:type="dcterms:W3CDTF">2026-02-26T09:49:20Z</dcterms:modified>
</cp:coreProperties>
</file>