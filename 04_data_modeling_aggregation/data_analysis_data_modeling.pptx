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1" r:id="rId2"/>
    <p:sldId id="264" r:id="rId3"/>
    <p:sldId id="260" r:id="rId4"/>
    <p:sldId id="262" r:id="rId5"/>
    <p:sldId id="272" r:id="rId6"/>
    <p:sldId id="282" r:id="rId7"/>
    <p:sldId id="286" r:id="rId8"/>
    <p:sldId id="287" r:id="rId9"/>
    <p:sldId id="288" r:id="rId10"/>
    <p:sldId id="289" r:id="rId11"/>
    <p:sldId id="290" r:id="rId12"/>
    <p:sldId id="291" r:id="rId1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CC66FF"/>
    <a:srgbClr val="0066FF"/>
    <a:srgbClr val="000000"/>
    <a:srgbClr val="009999"/>
    <a:srgbClr val="336699"/>
    <a:srgbClr val="FFC000"/>
    <a:srgbClr val="993300"/>
    <a:srgbClr val="339966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6192" autoAdjust="0"/>
  </p:normalViewPr>
  <p:slideViewPr>
    <p:cSldViewPr snapToGrid="0">
      <p:cViewPr varScale="1">
        <p:scale>
          <a:sx n="73" d="100"/>
          <a:sy n="73" d="100"/>
        </p:scale>
        <p:origin x="12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EF45C-B4A1-4048-BF7F-D1617E8131E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2D7CD-EEF3-4145-A484-A9D67FF727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914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1429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0741A-758B-58F3-9547-075B3114E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DA989-6CC3-9A30-67EF-C7AE67952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4EED0-94D8-B606-57B5-3AB1ECD84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18964-E0E9-3EB6-75FC-8AC710386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9720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Python, </a:t>
            </a:r>
            <a:r>
              <a:rPr lang="de-DE" sz="1200" dirty="0" err="1"/>
              <a:t>Jupyter</a:t>
            </a:r>
            <a:r>
              <a:rPr lang="de-DE" sz="1200" dirty="0"/>
              <a:t> Notebook, Bibliotheken installieren, </a:t>
            </a:r>
            <a:r>
              <a:rPr lang="de-DE" sz="1200" dirty="0" err="1"/>
              <a:t>VSCode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Arbeiten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Jupyter</a:t>
            </a:r>
            <a:r>
              <a:rPr lang="en-US" sz="1200" dirty="0"/>
              <a:t> | </a:t>
            </a:r>
            <a:r>
              <a:rPr lang="de-DE" sz="12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Variablen für Analyse transformieren</a:t>
            </a:r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Daten in </a:t>
            </a:r>
            <a:r>
              <a:rPr lang="en-US" sz="1200" dirty="0" err="1"/>
              <a:t>Tabellen</a:t>
            </a:r>
            <a:r>
              <a:rPr lang="en-US" sz="1200" dirty="0"/>
              <a:t> &amp; </a:t>
            </a:r>
            <a:r>
              <a:rPr lang="en-US" sz="1200" dirty="0" err="1"/>
              <a:t>Beziehungen</a:t>
            </a:r>
            <a:r>
              <a:rPr lang="en-US" sz="1200" dirty="0"/>
              <a:t> </a:t>
            </a:r>
            <a:r>
              <a:rPr lang="en-US" sz="1200" dirty="0" err="1"/>
              <a:t>organisieren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Feature Engineering &amp; </a:t>
            </a:r>
            <a:r>
              <a:rPr lang="en-US" sz="1200" dirty="0" err="1"/>
              <a:t>Aggregationen</a:t>
            </a:r>
            <a:r>
              <a:rPr lang="en-US" sz="1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200" dirty="0" err="1"/>
              <a:t>Mittelwert</a:t>
            </a:r>
            <a:r>
              <a:rPr lang="en-US" sz="1200" dirty="0"/>
              <a:t>, Median, Modus, </a:t>
            </a:r>
            <a:r>
              <a:rPr lang="en-US" sz="1200" dirty="0" err="1"/>
              <a:t>Standardabweichung</a:t>
            </a:r>
            <a:r>
              <a:rPr lang="en-US" sz="1200" dirty="0"/>
              <a:t>, </a:t>
            </a:r>
            <a:r>
              <a:rPr lang="en-US" sz="1200" dirty="0" err="1"/>
              <a:t>Spannweite</a:t>
            </a:r>
            <a:endParaRPr lang="en-US" sz="1200" dirty="0"/>
          </a:p>
          <a:p>
            <a:r>
              <a:rPr lang="en-US" sz="1200" dirty="0" err="1"/>
              <a:t>Korrelationen</a:t>
            </a:r>
            <a:r>
              <a:rPr lang="en-US" sz="1200" dirty="0"/>
              <a:t> &amp; </a:t>
            </a:r>
            <a:r>
              <a:rPr lang="en-US" sz="1200" dirty="0" err="1"/>
              <a:t>Kreuztabellen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Klassische</a:t>
            </a:r>
            <a:r>
              <a:rPr lang="en-US" sz="1200" dirty="0"/>
              <a:t> </a:t>
            </a:r>
            <a:r>
              <a:rPr lang="en-US" sz="1200" dirty="0" err="1"/>
              <a:t>Diagramme</a:t>
            </a:r>
            <a:r>
              <a:rPr lang="en-US" sz="1200" dirty="0"/>
              <a:t>; </a:t>
            </a:r>
            <a:r>
              <a:rPr lang="en-US" sz="1200" dirty="0" err="1"/>
              <a:t>Balkendiagramm</a:t>
            </a:r>
            <a:r>
              <a:rPr lang="en-US" sz="1200" dirty="0"/>
              <a:t>, </a:t>
            </a:r>
            <a:r>
              <a:rPr lang="en-US" sz="1200" dirty="0" err="1"/>
              <a:t>Histogramm</a:t>
            </a:r>
            <a:r>
              <a:rPr lang="en-US" sz="1200" dirty="0"/>
              <a:t>, Boxplot, </a:t>
            </a:r>
            <a:r>
              <a:rPr lang="en-US" sz="1200" dirty="0" err="1"/>
              <a:t>Liniendiagramm</a:t>
            </a:r>
            <a:r>
              <a:rPr lang="en-US" sz="1200" dirty="0"/>
              <a:t>, </a:t>
            </a:r>
            <a:r>
              <a:rPr lang="en-US" sz="1200" dirty="0" err="1"/>
              <a:t>Streudiagramm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Interaktive</a:t>
            </a:r>
            <a:r>
              <a:rPr lang="en-US" sz="12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Mini-</a:t>
            </a:r>
            <a:r>
              <a:rPr lang="en-US" sz="1200" dirty="0" err="1"/>
              <a:t>Fallbeispiele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allen</a:t>
            </a:r>
            <a:r>
              <a:rPr lang="en-US" sz="1200" dirty="0"/>
              <a:t> </a:t>
            </a:r>
            <a:r>
              <a:rPr lang="en-US" sz="1200" dirty="0" err="1"/>
              <a:t>vorherigen</a:t>
            </a:r>
            <a:r>
              <a:rPr lang="en-US" sz="1200" dirty="0"/>
              <a:t> </a:t>
            </a:r>
            <a:r>
              <a:rPr lang="en-US" sz="1200" dirty="0" err="1"/>
              <a:t>Schritten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Ergebnisse präsentieren &amp; diskutieren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8453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BF8E1-3F98-2D4A-A187-71A87BAB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79535-D580-53FC-AF97-E3C06BE41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6D207-9405-7961-89E3-DF8DAFBA2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CA030-4A91-82F2-0663-BBAB7286E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946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A2992-7B48-9FE1-78D7-623B019D4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0BBA3-9D65-FC71-6287-5D4924FB5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2E1E5-197B-131C-DF3C-5A12B9A6D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187BA-927C-256A-7E34-B02B06FC1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46345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9B1BC-7917-719C-6801-41CACA40A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64A32-6ABA-556F-CF89-D81EA7509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30773-CC91-9DE9-9D42-2EC9A126D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Python, </a:t>
            </a:r>
            <a:r>
              <a:rPr lang="de-DE" sz="1200" dirty="0" err="1"/>
              <a:t>Jupyter</a:t>
            </a:r>
            <a:r>
              <a:rPr lang="de-DE" sz="1200" dirty="0"/>
              <a:t> Notebook, Bibliotheken installieren, </a:t>
            </a:r>
            <a:r>
              <a:rPr lang="de-DE" sz="1200" dirty="0" err="1"/>
              <a:t>VSCode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Arbeiten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Jupyter</a:t>
            </a:r>
            <a:r>
              <a:rPr lang="en-US" sz="1200" dirty="0"/>
              <a:t> | </a:t>
            </a:r>
            <a:r>
              <a:rPr lang="de-DE" sz="12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Variablen für Analyse transformieren</a:t>
            </a:r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Daten in </a:t>
            </a:r>
            <a:r>
              <a:rPr lang="en-US" sz="1200" dirty="0" err="1"/>
              <a:t>Tabellen</a:t>
            </a:r>
            <a:r>
              <a:rPr lang="en-US" sz="1200" dirty="0"/>
              <a:t> &amp; </a:t>
            </a:r>
            <a:r>
              <a:rPr lang="en-US" sz="1200" dirty="0" err="1"/>
              <a:t>Beziehungen</a:t>
            </a:r>
            <a:r>
              <a:rPr lang="en-US" sz="1200" dirty="0"/>
              <a:t> </a:t>
            </a:r>
            <a:r>
              <a:rPr lang="en-US" sz="1200" dirty="0" err="1"/>
              <a:t>organisieren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Feature Engineering &amp; </a:t>
            </a:r>
            <a:r>
              <a:rPr lang="en-US" sz="1200" dirty="0" err="1"/>
              <a:t>Aggregationen</a:t>
            </a:r>
            <a:r>
              <a:rPr lang="en-US" sz="1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200" dirty="0" err="1"/>
              <a:t>Mittelwert</a:t>
            </a:r>
            <a:r>
              <a:rPr lang="en-US" sz="1200" dirty="0"/>
              <a:t>, Median, Modus, </a:t>
            </a:r>
            <a:r>
              <a:rPr lang="en-US" sz="1200" dirty="0" err="1"/>
              <a:t>Standardabweichung</a:t>
            </a:r>
            <a:r>
              <a:rPr lang="en-US" sz="1200" dirty="0"/>
              <a:t>, </a:t>
            </a:r>
            <a:r>
              <a:rPr lang="en-US" sz="1200" dirty="0" err="1"/>
              <a:t>Spannweite</a:t>
            </a:r>
            <a:endParaRPr lang="en-US" sz="1200" dirty="0"/>
          </a:p>
          <a:p>
            <a:r>
              <a:rPr lang="en-US" sz="1200" dirty="0" err="1"/>
              <a:t>Korrelationen</a:t>
            </a:r>
            <a:r>
              <a:rPr lang="en-US" sz="1200" dirty="0"/>
              <a:t> &amp; </a:t>
            </a:r>
            <a:r>
              <a:rPr lang="en-US" sz="1200" dirty="0" err="1"/>
              <a:t>Kreuztabellen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Klassische</a:t>
            </a:r>
            <a:r>
              <a:rPr lang="en-US" sz="1200" dirty="0"/>
              <a:t> </a:t>
            </a:r>
            <a:r>
              <a:rPr lang="en-US" sz="1200" dirty="0" err="1"/>
              <a:t>Diagramme</a:t>
            </a:r>
            <a:r>
              <a:rPr lang="en-US" sz="1200" dirty="0"/>
              <a:t>; </a:t>
            </a:r>
            <a:r>
              <a:rPr lang="en-US" sz="1200" dirty="0" err="1"/>
              <a:t>Balkendiagramm</a:t>
            </a:r>
            <a:r>
              <a:rPr lang="en-US" sz="1200" dirty="0"/>
              <a:t>, </a:t>
            </a:r>
            <a:r>
              <a:rPr lang="en-US" sz="1200" dirty="0" err="1"/>
              <a:t>Histogramm</a:t>
            </a:r>
            <a:r>
              <a:rPr lang="en-US" sz="1200" dirty="0"/>
              <a:t>, Boxplot, </a:t>
            </a:r>
            <a:r>
              <a:rPr lang="en-US" sz="1200" dirty="0" err="1"/>
              <a:t>Liniendiagramm</a:t>
            </a:r>
            <a:r>
              <a:rPr lang="en-US" sz="1200" dirty="0"/>
              <a:t>, </a:t>
            </a:r>
            <a:r>
              <a:rPr lang="en-US" sz="1200" dirty="0" err="1"/>
              <a:t>Streudiagramm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Interaktive</a:t>
            </a:r>
            <a:r>
              <a:rPr lang="en-US" sz="12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Mini-</a:t>
            </a:r>
            <a:r>
              <a:rPr lang="en-US" sz="1200" dirty="0" err="1"/>
              <a:t>Fallbeispiele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allen</a:t>
            </a:r>
            <a:r>
              <a:rPr lang="en-US" sz="1200" dirty="0"/>
              <a:t> </a:t>
            </a:r>
            <a:r>
              <a:rPr lang="en-US" sz="1200" dirty="0" err="1"/>
              <a:t>vorherigen</a:t>
            </a:r>
            <a:r>
              <a:rPr lang="en-US" sz="1200" dirty="0"/>
              <a:t> </a:t>
            </a:r>
            <a:r>
              <a:rPr lang="en-US" sz="1200" dirty="0" err="1"/>
              <a:t>Schritten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Ergebnisse präsentieren &amp; diskutieren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2769D-F669-F967-1F60-5D38ECF71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6854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CEEDA-EDD2-146B-C230-41E5AEA7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51277-24C8-868E-CEC7-CC3E6A74B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873086-0E77-558F-DDB6-B46C3E5CB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Python, </a:t>
            </a:r>
            <a:r>
              <a:rPr lang="de-DE" sz="1200" dirty="0" err="1"/>
              <a:t>Jupyter</a:t>
            </a:r>
            <a:r>
              <a:rPr lang="de-DE" sz="1200" dirty="0"/>
              <a:t> Notebook, Bibliotheken installieren, </a:t>
            </a:r>
            <a:r>
              <a:rPr lang="de-DE" sz="1200" dirty="0" err="1"/>
              <a:t>VSCode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Arbeiten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Jupyter</a:t>
            </a:r>
            <a:r>
              <a:rPr lang="en-US" sz="1200" dirty="0"/>
              <a:t> | </a:t>
            </a:r>
            <a:r>
              <a:rPr lang="de-DE" sz="12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Variablen für Analyse transformieren</a:t>
            </a:r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Daten in </a:t>
            </a:r>
            <a:r>
              <a:rPr lang="en-US" sz="1200" dirty="0" err="1"/>
              <a:t>Tabellen</a:t>
            </a:r>
            <a:r>
              <a:rPr lang="en-US" sz="1200" dirty="0"/>
              <a:t> &amp; </a:t>
            </a:r>
            <a:r>
              <a:rPr lang="en-US" sz="1200" dirty="0" err="1"/>
              <a:t>Beziehungen</a:t>
            </a:r>
            <a:r>
              <a:rPr lang="en-US" sz="1200" dirty="0"/>
              <a:t> </a:t>
            </a:r>
            <a:r>
              <a:rPr lang="en-US" sz="1200" dirty="0" err="1"/>
              <a:t>organisieren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Feature Engineering &amp; </a:t>
            </a:r>
            <a:r>
              <a:rPr lang="en-US" sz="1200" dirty="0" err="1"/>
              <a:t>Aggregationen</a:t>
            </a:r>
            <a:r>
              <a:rPr lang="en-US" sz="1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200" dirty="0" err="1"/>
              <a:t>Mittelwert</a:t>
            </a:r>
            <a:r>
              <a:rPr lang="en-US" sz="1200" dirty="0"/>
              <a:t>, Median, Modus, </a:t>
            </a:r>
            <a:r>
              <a:rPr lang="en-US" sz="1200" dirty="0" err="1"/>
              <a:t>Standardabweichung</a:t>
            </a:r>
            <a:r>
              <a:rPr lang="en-US" sz="1200" dirty="0"/>
              <a:t>, </a:t>
            </a:r>
            <a:r>
              <a:rPr lang="en-US" sz="1200" dirty="0" err="1"/>
              <a:t>Spannweite</a:t>
            </a:r>
            <a:endParaRPr lang="en-US" sz="1200" dirty="0"/>
          </a:p>
          <a:p>
            <a:r>
              <a:rPr lang="en-US" sz="1200" dirty="0" err="1"/>
              <a:t>Korrelationen</a:t>
            </a:r>
            <a:r>
              <a:rPr lang="en-US" sz="1200" dirty="0"/>
              <a:t> &amp; </a:t>
            </a:r>
            <a:r>
              <a:rPr lang="en-US" sz="1200" dirty="0" err="1"/>
              <a:t>Kreuztabellen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Klassische</a:t>
            </a:r>
            <a:r>
              <a:rPr lang="en-US" sz="1200" dirty="0"/>
              <a:t> </a:t>
            </a:r>
            <a:r>
              <a:rPr lang="en-US" sz="1200" dirty="0" err="1"/>
              <a:t>Diagramme</a:t>
            </a:r>
            <a:r>
              <a:rPr lang="en-US" sz="1200" dirty="0"/>
              <a:t>; </a:t>
            </a:r>
            <a:r>
              <a:rPr lang="en-US" sz="1200" dirty="0" err="1"/>
              <a:t>Balkendiagramm</a:t>
            </a:r>
            <a:r>
              <a:rPr lang="en-US" sz="1200" dirty="0"/>
              <a:t>, </a:t>
            </a:r>
            <a:r>
              <a:rPr lang="en-US" sz="1200" dirty="0" err="1"/>
              <a:t>Histogramm</a:t>
            </a:r>
            <a:r>
              <a:rPr lang="en-US" sz="1200" dirty="0"/>
              <a:t>, Boxplot, </a:t>
            </a:r>
            <a:r>
              <a:rPr lang="en-US" sz="1200" dirty="0" err="1"/>
              <a:t>Liniendiagramm</a:t>
            </a:r>
            <a:r>
              <a:rPr lang="en-US" sz="1200" dirty="0"/>
              <a:t>, </a:t>
            </a:r>
            <a:r>
              <a:rPr lang="en-US" sz="1200" dirty="0" err="1"/>
              <a:t>Streudiagramm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Interaktive</a:t>
            </a:r>
            <a:r>
              <a:rPr lang="en-US" sz="12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Mini-</a:t>
            </a:r>
            <a:r>
              <a:rPr lang="en-US" sz="1200" dirty="0" err="1"/>
              <a:t>Fallbeispiele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allen</a:t>
            </a:r>
            <a:r>
              <a:rPr lang="en-US" sz="1200" dirty="0"/>
              <a:t> </a:t>
            </a:r>
            <a:r>
              <a:rPr lang="en-US" sz="1200" dirty="0" err="1"/>
              <a:t>vorherigen</a:t>
            </a:r>
            <a:r>
              <a:rPr lang="en-US" sz="1200" dirty="0"/>
              <a:t> </a:t>
            </a:r>
            <a:r>
              <a:rPr lang="en-US" sz="1200" dirty="0" err="1"/>
              <a:t>Schritten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Ergebnisse präsentieren &amp; diskutieren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96ED6-76BC-1AF7-F6FD-73C419B36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5624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0491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766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9595-AE29-8F78-6250-FE6DBB183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B830E-06C9-E616-457D-0469587FD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EFBF3-5437-9432-6F3C-E9696BAE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8D0A7-A4B8-8D6A-B20D-D4EED41F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5C235-37A2-169F-89F1-6CEEDE74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381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3155-3098-3396-23EF-4D00FB95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7B2B4-2744-4FA6-1DCE-04083BE85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AA7CE-1D79-8F9E-2161-29793B3B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907A2-F4AA-C22D-91E7-6BACD48B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D31A0-F851-DC6F-6FAE-179D6AAB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898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BBF6-43C8-1202-C842-3AEB0A79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E51AA-9DDF-9B9E-C7A3-804260F6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6152C-741A-690F-95E2-4CEEA150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A4312-5CEF-0E6E-F0FC-2158396D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BCB96-F2F1-AD45-314A-F5DA6562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20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8164-1E83-B846-266B-64E7E034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6D78-13A3-57B9-A9E6-4C101CB19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8BB16-6D83-DE01-79A2-554AB22A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EB16E-8897-8C72-0C20-5DC3F49B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38E4E-E4C2-594D-0EE2-5C3B7396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E9FD8-C8E1-4BD4-A517-B0ADD515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2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6434-7761-D029-FB66-4F80A49D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CFE8E-4227-8C0A-BD8C-41F2C2A45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F3CFA-B49D-50D6-2E0E-49392FCB2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E9783-D65C-C0F6-AABC-EF1ECF7CC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FE071-5FD8-2DB5-E332-AC4CDBA99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764CB-223F-2456-6217-BD105CBD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3798B-ECD3-32E9-9B74-6D761E3A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2443F-87BD-CFD1-8A4C-CA0D911E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171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B514-5C0F-91C8-9086-96E98E2B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67521-6441-49DD-657C-A9F9ECCE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9684F-ADC5-40EE-29F5-352B32B7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7310E-84BC-1668-4738-8C6506C2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273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1DE42-EFFF-52A5-9069-2558A060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6EE09-01B8-5E7D-A9AC-ECED3892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83AEB-9C93-CF86-D334-CE30895D0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140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3A1B-8068-C274-CEAF-492A5CC6B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DB75-B5C7-6302-3091-FF9573490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3D8E1-0759-B964-DB0B-A80FF1603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8116D-4DFE-FAC6-4C4B-A53BD3CF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F31FB-ED89-D4B0-A7DA-C57424FE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EBD40-61C2-7E15-336F-F34935FD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0479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10F3-140C-EFEB-F2FA-739E5E7D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E401B-004D-0780-B8E4-3F1FB20EA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150E9-B00B-0542-A850-0B34BE69F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DC802-98E2-7466-6330-33716392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EB337-7B9A-EE26-F59D-F3FBC68B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4C702-6F8D-DDAE-83A4-E9A2ADCE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038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0964-B1E6-1C1B-491D-8D87B530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A3D5C-B633-CC1B-AA44-E499C1CBE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A48F7-B899-0EA5-94AE-D4B3533A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3F8E2-1843-33D6-C8C9-6A5720DFF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F2A81-7DFE-29D5-C375-A137C255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3602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90F015-E7EA-2A69-6323-A3EB90C82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ACB86-CF84-A074-9A1F-2F408DD4E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30080-38B2-3A79-5209-5EEE297B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CF3C8-BDA0-EBA1-09D5-D77B02FE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075F-0BE7-8E63-5582-D8F0FED4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565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28348-1E0F-4158-DFB4-4EF9E069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52730-C780-711F-8EC9-A46588BC7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E76EE-5EE3-0069-FE21-07534E8C3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AFFDE-209F-EABB-F557-E838A5D21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54F25-00E5-EC11-F2EE-A05BD6D65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9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98E5-5A49-760C-EC35-E81E4300A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7685-C07F-EFB7-72F1-1422DCA0C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 err="1">
                <a:solidFill>
                  <a:schemeClr val="accent1">
                    <a:lumMod val="75000"/>
                  </a:schemeClr>
                </a:solidFill>
              </a:rPr>
              <a:t>Datenanalyse</a:t>
            </a:r>
            <a:b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dirty="0"/>
              <a:t>Data Analysis</a:t>
            </a:r>
            <a:endParaRPr lang="LID4096" sz="8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8E596-E0F4-E60F-E73A-05489C07A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89213"/>
          </a:xfrm>
        </p:spPr>
        <p:txBody>
          <a:bodyPr>
            <a:normAutofit fontScale="47500" lnSpcReduction="20000"/>
          </a:bodyPr>
          <a:lstStyle/>
          <a:p>
            <a:br>
              <a:rPr lang="en-US" sz="3600" b="1" dirty="0"/>
            </a:br>
            <a:r>
              <a:rPr lang="en-US" sz="12600" b="1" dirty="0" err="1"/>
              <a:t>Grundlagen</a:t>
            </a:r>
            <a:endParaRPr lang="LID4096" sz="3600" b="1" dirty="0"/>
          </a:p>
        </p:txBody>
      </p:sp>
    </p:spTree>
    <p:extLst>
      <p:ext uri="{BB962C8B-B14F-4D97-AF65-F5344CB8AC3E}">
        <p14:creationId xmlns:p14="http://schemas.microsoft.com/office/powerpoint/2010/main" val="2112175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06911-A5E2-6F03-201D-9F3FC9B1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AAC8A20-FCDD-73E8-BA54-E9DE3D1863F8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056EDA-F70E-5862-5364-54C75A7BDA07}"/>
              </a:ext>
            </a:extLst>
          </p:cNvPr>
          <p:cNvSpPr txBox="1"/>
          <p:nvPr/>
        </p:nvSpPr>
        <p:spPr>
          <a:xfrm>
            <a:off x="10803467" y="47193"/>
            <a:ext cx="129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process</a:t>
            </a:r>
            <a:endParaRPr lang="LID4096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01BBE8A-38DE-BEAC-0233-05229AC7506A}"/>
              </a:ext>
            </a:extLst>
          </p:cNvPr>
          <p:cNvSpPr/>
          <p:nvPr/>
        </p:nvSpPr>
        <p:spPr>
          <a:xfrm>
            <a:off x="496213" y="1024616"/>
            <a:ext cx="2067374" cy="483325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1" name="Graphic 30" descr="Question mark">
            <a:extLst>
              <a:ext uri="{FF2B5EF4-FFF2-40B4-BE49-F238E27FC236}">
                <a16:creationId xmlns:a16="http://schemas.microsoft.com/office/drawing/2014/main" id="{70393C53-2048-FE4C-CE55-054342C6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700" y="1455763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47A8AEF-C94D-DFBC-0EEC-8A5BF4A02607}"/>
              </a:ext>
            </a:extLst>
          </p:cNvPr>
          <p:cNvSpPr txBox="1"/>
          <p:nvPr/>
        </p:nvSpPr>
        <p:spPr>
          <a:xfrm>
            <a:off x="776675" y="2512330"/>
            <a:ext cx="150645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Fragestellung</a:t>
            </a:r>
            <a:endParaRPr lang="en-US" sz="1600" b="1" dirty="0"/>
          </a:p>
          <a:p>
            <a:endParaRPr lang="en-US" sz="1600" dirty="0"/>
          </a:p>
          <a:p>
            <a:pPr algn="ctr"/>
            <a:r>
              <a:rPr lang="de-DE" sz="1400" dirty="0"/>
              <a:t>Festlegung des Problems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Bestimmung</a:t>
            </a:r>
            <a:r>
              <a:rPr lang="en-US" sz="1400" dirty="0"/>
              <a:t> der </a:t>
            </a:r>
            <a:r>
              <a:rPr lang="en-US" sz="1400" dirty="0" err="1"/>
              <a:t>relevanten</a:t>
            </a:r>
            <a:r>
              <a:rPr lang="en-US" sz="1400" dirty="0"/>
              <a:t> </a:t>
            </a:r>
            <a:r>
              <a:rPr lang="en-US" sz="1400" dirty="0" err="1"/>
              <a:t>Kennzahlen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Was </a:t>
            </a:r>
            <a:r>
              <a:rPr lang="en-US" sz="1400" dirty="0" err="1"/>
              <a:t>treibt</a:t>
            </a:r>
            <a:r>
              <a:rPr lang="en-US" sz="1400" dirty="0"/>
              <a:t> die Kunden </a:t>
            </a:r>
            <a:r>
              <a:rPr lang="en-US" sz="1400" dirty="0" err="1"/>
              <a:t>zufriedenheit</a:t>
            </a:r>
            <a:r>
              <a:rPr lang="en-US" sz="1400" dirty="0"/>
              <a:t>?</a:t>
            </a:r>
            <a:endParaRPr lang="LID4096" sz="14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4294CBF-CC7D-A6AD-1FA6-99B8EDA354E3}"/>
              </a:ext>
            </a:extLst>
          </p:cNvPr>
          <p:cNvSpPr/>
          <p:nvPr/>
        </p:nvSpPr>
        <p:spPr>
          <a:xfrm>
            <a:off x="2771466" y="1024616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DCB6697-0643-8D84-F464-D9CF5FBF1E6D}"/>
              </a:ext>
            </a:extLst>
          </p:cNvPr>
          <p:cNvGrpSpPr/>
          <p:nvPr/>
        </p:nvGrpSpPr>
        <p:grpSpPr>
          <a:xfrm>
            <a:off x="2802728" y="1455763"/>
            <a:ext cx="2004850" cy="3118670"/>
            <a:chOff x="2521648" y="1455763"/>
            <a:chExt cx="2004850" cy="3118670"/>
          </a:xfrm>
        </p:grpSpPr>
        <p:pic>
          <p:nvPicPr>
            <p:cNvPr id="35" name="Graphic 34" descr="Database">
              <a:extLst>
                <a:ext uri="{FF2B5EF4-FFF2-40B4-BE49-F238E27FC236}">
                  <a16:creationId xmlns:a16="http://schemas.microsoft.com/office/drawing/2014/main" id="{377AE0B0-9940-D905-D8CF-6929A0FB9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BB8D6E9-DBC5-4B58-5AE5-3D747D84E715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C560BAA-B555-E917-2DD2-B086E3B94B85}"/>
              </a:ext>
            </a:extLst>
          </p:cNvPr>
          <p:cNvSpPr/>
          <p:nvPr/>
        </p:nvSpPr>
        <p:spPr>
          <a:xfrm>
            <a:off x="5046719" y="1024616"/>
            <a:ext cx="2067374" cy="483325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8" name="Graphic 37" descr="Checklist">
            <a:extLst>
              <a:ext uri="{FF2B5EF4-FFF2-40B4-BE49-F238E27FC236}">
                <a16:creationId xmlns:a16="http://schemas.microsoft.com/office/drawing/2014/main" id="{79C85BAC-7E8F-C2D3-D0F2-2AC9C669E9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3206" y="1455763"/>
            <a:ext cx="914400" cy="914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865E7A7-88CE-7122-773F-13AD1D10BABF}"/>
              </a:ext>
            </a:extLst>
          </p:cNvPr>
          <p:cNvSpPr txBox="1"/>
          <p:nvPr/>
        </p:nvSpPr>
        <p:spPr>
          <a:xfrm>
            <a:off x="5077981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Vorbereitung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Bereinigung Fehlende Werte oder unvollständiger 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Transformation und </a:t>
            </a:r>
            <a:r>
              <a:rPr lang="de-DE" sz="1400" dirty="0" err="1"/>
              <a:t>strukturierung</a:t>
            </a:r>
            <a:r>
              <a:rPr lang="de-DE" sz="1400" dirty="0"/>
              <a:t> der Rohdaten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 err="1"/>
              <a:t>Z.b.</a:t>
            </a:r>
            <a:r>
              <a:rPr lang="de-DE" sz="1400" dirty="0"/>
              <a:t> EUR, USD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A26673D-789D-538C-7ECF-BD249C0457C8}"/>
              </a:ext>
            </a:extLst>
          </p:cNvPr>
          <p:cNvSpPr/>
          <p:nvPr/>
        </p:nvSpPr>
        <p:spPr>
          <a:xfrm>
            <a:off x="7321972" y="1012371"/>
            <a:ext cx="2067374" cy="4833257"/>
          </a:xfrm>
          <a:prstGeom prst="round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1" name="Graphic 40" descr="Research">
            <a:extLst>
              <a:ext uri="{FF2B5EF4-FFF2-40B4-BE49-F238E27FC236}">
                <a16:creationId xmlns:a16="http://schemas.microsoft.com/office/drawing/2014/main" id="{4C8FF617-5522-CDB4-5692-99C9F3C2E4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98459" y="1455763"/>
            <a:ext cx="914400" cy="9144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E527BC7-284B-088A-B0F0-AA3F210C7BC0}"/>
              </a:ext>
            </a:extLst>
          </p:cNvPr>
          <p:cNvSpPr txBox="1"/>
          <p:nvPr/>
        </p:nvSpPr>
        <p:spPr>
          <a:xfrm>
            <a:off x="7353234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Analyse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Statistische</a:t>
            </a:r>
            <a:r>
              <a:rPr lang="en-US" sz="1400" dirty="0"/>
              <a:t> </a:t>
            </a:r>
            <a:r>
              <a:rPr lang="en-US" sz="1400" dirty="0" err="1"/>
              <a:t>Auswertung</a:t>
            </a:r>
            <a:r>
              <a:rPr lang="en-US" sz="1400" dirty="0"/>
              <a:t> 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Korrelationen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Mustererkennung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Anwendung von Modellen zur</a:t>
            </a:r>
          </a:p>
          <a:p>
            <a:pPr algn="ctr"/>
            <a:r>
              <a:rPr lang="de-DE" sz="1400" dirty="0"/>
              <a:t>Erkenntnisgewinnung</a:t>
            </a:r>
            <a:endParaRPr lang="LID4096" sz="140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FDBEC20-9558-8F71-ED61-2146B97FF8FF}"/>
              </a:ext>
            </a:extLst>
          </p:cNvPr>
          <p:cNvSpPr/>
          <p:nvPr/>
        </p:nvSpPr>
        <p:spPr>
          <a:xfrm>
            <a:off x="9597223" y="1024616"/>
            <a:ext cx="2067374" cy="483325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4" name="Graphic 43" descr="Share">
            <a:extLst>
              <a:ext uri="{FF2B5EF4-FFF2-40B4-BE49-F238E27FC236}">
                <a16:creationId xmlns:a16="http://schemas.microsoft.com/office/drawing/2014/main" id="{0598B757-8FCB-68A3-4E22-C1A5B19FC1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73710" y="1455763"/>
            <a:ext cx="914400" cy="9144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59A93B4-76D7-0305-9872-2FCEBF929737}"/>
              </a:ext>
            </a:extLst>
          </p:cNvPr>
          <p:cNvSpPr txBox="1"/>
          <p:nvPr/>
        </p:nvSpPr>
        <p:spPr>
          <a:xfrm>
            <a:off x="9628485" y="2512330"/>
            <a:ext cx="2004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Teilen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Berichte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Präsentationen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/>
              <a:t>Storytelling </a:t>
            </a:r>
            <a:r>
              <a:rPr lang="en-US" sz="1400" dirty="0" err="1"/>
              <a:t>mit</a:t>
            </a:r>
            <a:r>
              <a:rPr lang="en-US" sz="1400" dirty="0"/>
              <a:t> Daten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Klare </a:t>
            </a:r>
            <a:r>
              <a:rPr lang="en-US" sz="1400" dirty="0" err="1"/>
              <a:t>Empfehlungen</a:t>
            </a:r>
            <a:r>
              <a:rPr lang="en-US" sz="1400" dirty="0"/>
              <a:t> </a:t>
            </a:r>
            <a:r>
              <a:rPr lang="en-US" sz="1400" dirty="0" err="1"/>
              <a:t>geben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383615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524F6DF1-AF8B-B5EC-EC2F-2A121854376C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Python, </a:t>
            </a:r>
            <a:r>
              <a:rPr lang="de-DE" sz="1400" dirty="0" err="1"/>
              <a:t>Jupyter</a:t>
            </a:r>
            <a:r>
              <a:rPr lang="de-DE" sz="1400" dirty="0"/>
              <a:t> Notebook, Bibliotheken installieren, </a:t>
            </a:r>
            <a:r>
              <a:rPr lang="de-DE" sz="1400" dirty="0" err="1"/>
              <a:t>VSCode</a:t>
            </a: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Arbeiten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Jupyter</a:t>
            </a:r>
            <a:r>
              <a:rPr lang="en-US" sz="1400" dirty="0"/>
              <a:t> | </a:t>
            </a:r>
            <a:r>
              <a:rPr lang="de-DE" sz="14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BAAF1-C0D6-B182-1588-C698583090A2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5A6950-109D-6924-5D77-32AA072B8DCF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94054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56AC-30C4-2912-C852-F8A9E4A7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AE1D1E8-BB27-9F07-6D1A-519FABFBAFBE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Python, </a:t>
            </a:r>
            <a:r>
              <a:rPr lang="de-DE" sz="1400" b="1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 Notebook, Bibliotheken installieren, </a:t>
            </a:r>
            <a:r>
              <a:rPr lang="de-DE" sz="1400" b="1" dirty="0" err="1">
                <a:solidFill>
                  <a:schemeClr val="accent6">
                    <a:lumMod val="75000"/>
                  </a:schemeClr>
                </a:solidFill>
              </a:rPr>
              <a:t>VSCode</a:t>
            </a:r>
            <a:endParaRPr lang="de-DE" sz="1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Arbeiten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mit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| </a:t>
            </a: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600" b="1" dirty="0">
                <a:solidFill>
                  <a:srgbClr val="FF9933"/>
                </a:solidFill>
              </a:rPr>
              <a:t>Analyseziele &amp; KPIs definieren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bg2">
                    <a:lumMod val="50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bg2">
                    <a:lumMod val="50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8B5D11-0392-D029-394E-0E2E29F38FDB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&amp; Aggregation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Daten in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Tabellen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Beziehungen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organisieren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Feature Engineering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Aggregationen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&amp; KPIs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Mittelwert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Median, Modus,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Standardabweichung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Spannweite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Korrelationen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Kreuztabellen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Klassische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Diagramme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Balkendiagramm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Histogramm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Boxplot,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Liniendiagramm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Streudiagramm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Interaktive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Mini-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Fallbeispiele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mit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allen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vorherigen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Schritten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Ergebnisse präsentieren &amp; diskutieren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11F9C1-4711-A265-C578-3AF4BAD66930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27597A-65BE-0742-AA12-965AEC469016}"/>
              </a:ext>
            </a:extLst>
          </p:cNvPr>
          <p:cNvSpPr/>
          <p:nvPr/>
        </p:nvSpPr>
        <p:spPr>
          <a:xfrm>
            <a:off x="358375" y="2451100"/>
            <a:ext cx="4823225" cy="9779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5252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ECC72-8B28-3CB6-EC81-ABF8B87A2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083F8FC-B480-AF3F-CB51-6D5B8D465A26}"/>
              </a:ext>
            </a:extLst>
          </p:cNvPr>
          <p:cNvSpPr txBox="1"/>
          <p:nvPr/>
        </p:nvSpPr>
        <p:spPr>
          <a:xfrm>
            <a:off x="358375" y="1490503"/>
            <a:ext cx="609668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Python,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 Notebook, Bibliotheken installieren,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VSCode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Arbeiten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mit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| 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600" b="1" dirty="0">
                <a:solidFill>
                  <a:srgbClr val="FF9933"/>
                </a:solidFill>
              </a:rPr>
              <a:t>Datenerhebung &amp; Datenqualität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b="1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b="1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b="1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b="1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F1BE8F-5A43-A69A-0931-18E6C45C3281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DDEE66-84C2-089A-11D6-AC6E73C1BCF3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0CC33B-3194-5EB6-66DC-C1C42FDAC122}"/>
              </a:ext>
            </a:extLst>
          </p:cNvPr>
          <p:cNvSpPr/>
          <p:nvPr/>
        </p:nvSpPr>
        <p:spPr>
          <a:xfrm>
            <a:off x="358375" y="3346450"/>
            <a:ext cx="5432825" cy="14732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34498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7EE86-F031-25B3-22A0-439F0F934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BE57920-A6C3-0189-D9F0-96EF696834B6}"/>
              </a:ext>
            </a:extLst>
          </p:cNvPr>
          <p:cNvSpPr txBox="1"/>
          <p:nvPr/>
        </p:nvSpPr>
        <p:spPr>
          <a:xfrm>
            <a:off x="358375" y="1490503"/>
            <a:ext cx="609668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Python,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 Notebook, Bibliotheken installieren,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VSCode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Arbeiten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mit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| 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b="1" dirty="0"/>
          </a:p>
          <a:p>
            <a:pPr>
              <a:buNone/>
            </a:pPr>
            <a:r>
              <a:rPr lang="de-DE" sz="1600" b="1" dirty="0">
                <a:solidFill>
                  <a:srgbClr val="FF9933"/>
                </a:solidFill>
              </a:rPr>
              <a:t>Datenbereinigung &amp; -vorbereitung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b="1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b="1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b="1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226EA3-9004-E1D2-CC1E-91A051F7EF16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AA3F0C-9EC1-E50C-D8BB-FCB2AB2D410D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214A95-EBF1-91E4-E36D-C618984E8951}"/>
              </a:ext>
            </a:extLst>
          </p:cNvPr>
          <p:cNvSpPr/>
          <p:nvPr/>
        </p:nvSpPr>
        <p:spPr>
          <a:xfrm>
            <a:off x="144410" y="4540250"/>
            <a:ext cx="5432825" cy="14732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683130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51820-5F31-2281-29A3-597D37636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F01A249C-C956-1742-9127-AA9BACC12AA0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Python,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 Notebook, Bibliotheken installieren,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VSCode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Arbeiten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mit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| 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BAC4ED-D61C-F1DD-A015-AA3C007971C4}"/>
              </a:ext>
            </a:extLst>
          </p:cNvPr>
          <p:cNvSpPr txBox="1"/>
          <p:nvPr/>
        </p:nvSpPr>
        <p:spPr>
          <a:xfrm>
            <a:off x="5950910" y="1490503"/>
            <a:ext cx="609668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 err="1">
                <a:solidFill>
                  <a:srgbClr val="FF9933"/>
                </a:solidFill>
              </a:rPr>
              <a:t>Datenmodellierung</a:t>
            </a:r>
            <a:r>
              <a:rPr lang="en-US" sz="1600" b="1" dirty="0">
                <a:solidFill>
                  <a:srgbClr val="FF9933"/>
                </a:solidFill>
              </a:rPr>
              <a:t> &amp; Aggregation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Daten in </a:t>
            </a:r>
            <a:r>
              <a:rPr lang="en-US" sz="1600" b="1" dirty="0" err="1"/>
              <a:t>Tabellen</a:t>
            </a:r>
            <a:r>
              <a:rPr lang="en-US" sz="1600" b="1" dirty="0"/>
              <a:t> &amp; </a:t>
            </a:r>
            <a:r>
              <a:rPr lang="en-US" sz="1600" b="1" dirty="0" err="1"/>
              <a:t>Beziehungen</a:t>
            </a:r>
            <a:r>
              <a:rPr lang="en-US" sz="1600" b="1" dirty="0"/>
              <a:t> </a:t>
            </a:r>
            <a:r>
              <a:rPr lang="en-US" sz="1600" b="1" dirty="0" err="1"/>
              <a:t>organisieren</a:t>
            </a: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Feature Engineering &amp; </a:t>
            </a:r>
            <a:r>
              <a:rPr lang="en-US" sz="1600" b="1" dirty="0" err="1"/>
              <a:t>Aggregationen</a:t>
            </a:r>
            <a:r>
              <a:rPr lang="en-US" sz="1600" b="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8F9460-8FB2-0AEE-AAF4-3B4B221943B1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DFEC56E-7F72-EF8A-1689-A040934A976A}"/>
              </a:ext>
            </a:extLst>
          </p:cNvPr>
          <p:cNvSpPr/>
          <p:nvPr/>
        </p:nvSpPr>
        <p:spPr>
          <a:xfrm>
            <a:off x="5668910" y="1308100"/>
            <a:ext cx="5432825" cy="10922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81258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24B6E3A-7503-BFCD-7521-182EC439077A}"/>
              </a:ext>
            </a:extLst>
          </p:cNvPr>
          <p:cNvSpPr txBox="1"/>
          <p:nvPr/>
        </p:nvSpPr>
        <p:spPr>
          <a:xfrm>
            <a:off x="668746" y="1218168"/>
            <a:ext cx="7433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Storage Architectures / Solutions</a:t>
            </a:r>
          </a:p>
          <a:p>
            <a:endParaRPr lang="LID4096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1898593-3B6B-E40C-E9BD-BF9E3F2E410E}"/>
              </a:ext>
            </a:extLst>
          </p:cNvPr>
          <p:cNvGrpSpPr/>
          <p:nvPr/>
        </p:nvGrpSpPr>
        <p:grpSpPr>
          <a:xfrm>
            <a:off x="668746" y="1954768"/>
            <a:ext cx="7891313" cy="1305549"/>
            <a:chOff x="902717" y="2234168"/>
            <a:chExt cx="7891313" cy="1305549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7CA0F34-6C4B-FDAA-110B-9A33EA5BDB5B}"/>
                </a:ext>
              </a:extLst>
            </p:cNvPr>
            <p:cNvSpPr/>
            <p:nvPr/>
          </p:nvSpPr>
          <p:spPr>
            <a:xfrm>
              <a:off x="902717" y="2234168"/>
              <a:ext cx="7891313" cy="1305549"/>
            </a:xfrm>
            <a:prstGeom prst="roundRect">
              <a:avLst/>
            </a:prstGeom>
            <a:solidFill>
              <a:srgbClr val="0066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49BEEBA-A505-5A38-BC1D-3FDC87AB7759}"/>
                </a:ext>
              </a:extLst>
            </p:cNvPr>
            <p:cNvSpPr txBox="1"/>
            <p:nvPr/>
          </p:nvSpPr>
          <p:spPr>
            <a:xfrm>
              <a:off x="2484587" y="2324618"/>
              <a:ext cx="60960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b="1" dirty="0"/>
            </a:p>
            <a:p>
              <a:r>
                <a:rPr lang="en-US" b="1" dirty="0"/>
                <a:t>Data Warehouse</a:t>
              </a:r>
              <a:r>
                <a:rPr lang="en-US" dirty="0"/>
                <a:t> – optimized for structured, relational data; supports complex analytics and reporting.</a:t>
              </a:r>
            </a:p>
          </p:txBody>
        </p:sp>
        <p:pic>
          <p:nvPicPr>
            <p:cNvPr id="29" name="Graphic 28" descr="Table">
              <a:extLst>
                <a:ext uri="{FF2B5EF4-FFF2-40B4-BE49-F238E27FC236}">
                  <a16:creationId xmlns:a16="http://schemas.microsoft.com/office/drawing/2014/main" id="{47BA246D-B4CE-67FA-EF6F-568626455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12693" y="2634015"/>
              <a:ext cx="492788" cy="492788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F306387-91CA-E81E-8138-245825B09F3F}"/>
              </a:ext>
            </a:extLst>
          </p:cNvPr>
          <p:cNvGrpSpPr/>
          <p:nvPr/>
        </p:nvGrpSpPr>
        <p:grpSpPr>
          <a:xfrm>
            <a:off x="668746" y="3394835"/>
            <a:ext cx="7891313" cy="1305549"/>
            <a:chOff x="2624286" y="3708067"/>
            <a:chExt cx="7891313" cy="1305549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0AC67AFA-C191-1877-1172-5999B4EE8A4B}"/>
                </a:ext>
              </a:extLst>
            </p:cNvPr>
            <p:cNvSpPr/>
            <p:nvPr/>
          </p:nvSpPr>
          <p:spPr>
            <a:xfrm>
              <a:off x="2624286" y="3708067"/>
              <a:ext cx="7891313" cy="1305549"/>
            </a:xfrm>
            <a:prstGeom prst="roundRect">
              <a:avLst/>
            </a:prstGeom>
            <a:solidFill>
              <a:srgbClr val="CC66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pic>
          <p:nvPicPr>
            <p:cNvPr id="16" name="Graphic 15" descr="Image">
              <a:extLst>
                <a:ext uri="{FF2B5EF4-FFF2-40B4-BE49-F238E27FC236}">
                  <a16:creationId xmlns:a16="http://schemas.microsoft.com/office/drawing/2014/main" id="{24FF8AE1-F483-C103-621C-66F15368B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58037" y="3766019"/>
              <a:ext cx="492788" cy="492788"/>
            </a:xfrm>
            <a:prstGeom prst="rect">
              <a:avLst/>
            </a:prstGeom>
          </p:spPr>
        </p:pic>
        <p:pic>
          <p:nvPicPr>
            <p:cNvPr id="18" name="Graphic 17" descr="Clapper board">
              <a:extLst>
                <a:ext uri="{FF2B5EF4-FFF2-40B4-BE49-F238E27FC236}">
                  <a16:creationId xmlns:a16="http://schemas.microsoft.com/office/drawing/2014/main" id="{DFF2DAD9-4D82-BA1C-7C49-3C3E6BAEB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41700" y="4393261"/>
              <a:ext cx="492788" cy="492788"/>
            </a:xfrm>
            <a:prstGeom prst="rect">
              <a:avLst/>
            </a:prstGeom>
          </p:spPr>
        </p:pic>
        <p:pic>
          <p:nvPicPr>
            <p:cNvPr id="23" name="Graphic 22" descr="Table">
              <a:extLst>
                <a:ext uri="{FF2B5EF4-FFF2-40B4-BE49-F238E27FC236}">
                  <a16:creationId xmlns:a16="http://schemas.microsoft.com/office/drawing/2014/main" id="{1859789A-08DD-327A-62B6-3F8CC955B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46274" y="4186117"/>
              <a:ext cx="492788" cy="492788"/>
            </a:xfrm>
            <a:prstGeom prst="rect">
              <a:avLst/>
            </a:prstGeom>
          </p:spPr>
        </p:pic>
        <p:pic>
          <p:nvPicPr>
            <p:cNvPr id="25" name="Graphic 24" descr="Document">
              <a:extLst>
                <a:ext uri="{FF2B5EF4-FFF2-40B4-BE49-F238E27FC236}">
                  <a16:creationId xmlns:a16="http://schemas.microsoft.com/office/drawing/2014/main" id="{754C1A6A-2BBC-B8E0-BC09-F5385E0D8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464999" y="3932156"/>
              <a:ext cx="492788" cy="49278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5AE9F17-0CDB-181D-D3C2-9CE56FC1B43E}"/>
                </a:ext>
              </a:extLst>
            </p:cNvPr>
            <p:cNvSpPr txBox="1"/>
            <p:nvPr/>
          </p:nvSpPr>
          <p:spPr>
            <a:xfrm>
              <a:off x="4301770" y="3944731"/>
              <a:ext cx="60960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Data Lake</a:t>
              </a:r>
              <a:r>
                <a:rPr lang="en-US" dirty="0"/>
                <a:t> – can store structured, semi-structured, and unstructured data; schema-on-read; good for flexible analysis and large-scale storage.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7EFD8C3-A30C-761D-3628-87CE7E6CA70C}"/>
              </a:ext>
            </a:extLst>
          </p:cNvPr>
          <p:cNvGrpSpPr/>
          <p:nvPr/>
        </p:nvGrpSpPr>
        <p:grpSpPr>
          <a:xfrm>
            <a:off x="668746" y="4834903"/>
            <a:ext cx="7909666" cy="1305549"/>
            <a:chOff x="1132608" y="5114303"/>
            <a:chExt cx="7909666" cy="1305549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E182CCC-6F84-E8C6-758E-94DD23623DD5}"/>
                </a:ext>
              </a:extLst>
            </p:cNvPr>
            <p:cNvSpPr/>
            <p:nvPr/>
          </p:nvSpPr>
          <p:spPr>
            <a:xfrm>
              <a:off x="1132608" y="5114303"/>
              <a:ext cx="7891313" cy="1305549"/>
            </a:xfrm>
            <a:prstGeom prst="roundRect">
              <a:avLst/>
            </a:prstGeom>
            <a:solidFill>
              <a:srgbClr val="FF9933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pic>
          <p:nvPicPr>
            <p:cNvPr id="26" name="Graphic 25" descr="Image">
              <a:extLst>
                <a:ext uri="{FF2B5EF4-FFF2-40B4-BE49-F238E27FC236}">
                  <a16:creationId xmlns:a16="http://schemas.microsoft.com/office/drawing/2014/main" id="{3CE62877-5552-BEFA-C550-4442010F5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90306" y="5505091"/>
              <a:ext cx="492788" cy="492788"/>
            </a:xfrm>
            <a:prstGeom prst="rect">
              <a:avLst/>
            </a:prstGeom>
          </p:spPr>
        </p:pic>
        <p:pic>
          <p:nvPicPr>
            <p:cNvPr id="27" name="Graphic 26" descr="Clapper board">
              <a:extLst>
                <a:ext uri="{FF2B5EF4-FFF2-40B4-BE49-F238E27FC236}">
                  <a16:creationId xmlns:a16="http://schemas.microsoft.com/office/drawing/2014/main" id="{42565FF7-B407-EC15-5B0E-193054256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857193" y="5774664"/>
              <a:ext cx="492788" cy="492788"/>
            </a:xfrm>
            <a:prstGeom prst="rect">
              <a:avLst/>
            </a:prstGeom>
          </p:spPr>
        </p:pic>
        <p:pic>
          <p:nvPicPr>
            <p:cNvPr id="28" name="Graphic 27" descr="Document">
              <a:extLst>
                <a:ext uri="{FF2B5EF4-FFF2-40B4-BE49-F238E27FC236}">
                  <a16:creationId xmlns:a16="http://schemas.microsoft.com/office/drawing/2014/main" id="{E4B0D19F-1BD6-25F9-627E-2E6770BC6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931292" y="5288159"/>
              <a:ext cx="492788" cy="492788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3300C4C-D6B9-3230-9EAE-23E841636806}"/>
                </a:ext>
              </a:extLst>
            </p:cNvPr>
            <p:cNvSpPr txBox="1"/>
            <p:nvPr/>
          </p:nvSpPr>
          <p:spPr>
            <a:xfrm>
              <a:off x="2946274" y="5288159"/>
              <a:ext cx="60960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dirty="0"/>
            </a:p>
            <a:p>
              <a:r>
                <a:rPr lang="en-US" b="1" dirty="0"/>
                <a:t>Object Storage</a:t>
              </a:r>
              <a:r>
                <a:rPr lang="en-US" dirty="0"/>
                <a:t> – primarily for unstructured data like files, images, videos, or backups; highly scalable and cost-effective.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4516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3AD912-2D1B-D806-8FD9-5CB071F9B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405008"/>
              </p:ext>
            </p:extLst>
          </p:nvPr>
        </p:nvGraphicFramePr>
        <p:xfrm>
          <a:off x="838200" y="2255520"/>
          <a:ext cx="10515600" cy="2926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144021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431320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053429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36494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Data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Data Lake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Object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20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Data types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Structured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Structured, semi-structured, unstructured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Mostly unstructured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124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Schema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Schema-on-write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Schema-on-read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028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Access / Query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SQL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SQL/Spark queries +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34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6188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CC390-0080-D986-A4EA-014DCEA5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4FCE7E-2247-6F14-78CE-EF053ADD2C5F}"/>
              </a:ext>
            </a:extLst>
          </p:cNvPr>
          <p:cNvSpPr txBox="1"/>
          <p:nvPr/>
        </p:nvSpPr>
        <p:spPr>
          <a:xfrm>
            <a:off x="1409700" y="1410038"/>
            <a:ext cx="101981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F9933"/>
                </a:solidFill>
              </a:rPr>
              <a:t>Data Modeling Basics</a:t>
            </a:r>
          </a:p>
          <a:p>
            <a:pPr>
              <a:buNone/>
            </a:pP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   Definition:</a:t>
            </a:r>
            <a:r>
              <a:rPr lang="en-US" sz="2800" dirty="0"/>
              <a:t> Designing a </a:t>
            </a:r>
            <a:r>
              <a:rPr lang="en-US" sz="2800" b="1" dirty="0"/>
              <a:t>blueprint of how data is organized</a:t>
            </a:r>
            <a:r>
              <a:rPr lang="en-US" sz="2800" dirty="0"/>
              <a:t> so it can be stored, retrieved, and used efficiently.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  Traditionally involves </a:t>
            </a:r>
            <a:r>
              <a:rPr lang="en-US" sz="2800" b="1" dirty="0"/>
              <a:t>entities, relationships, attributes, and constraints</a:t>
            </a:r>
            <a:r>
              <a:rPr lang="en-US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   Classic example:</a:t>
            </a:r>
            <a:r>
              <a:rPr lang="en-US" sz="2800" dirty="0"/>
              <a:t> Designing tables in a relational database with primary keys, foreign keys, and normalization.</a:t>
            </a:r>
          </a:p>
        </p:txBody>
      </p:sp>
    </p:spTree>
    <p:extLst>
      <p:ext uri="{BB962C8B-B14F-4D97-AF65-F5344CB8AC3E}">
        <p14:creationId xmlns:p14="http://schemas.microsoft.com/office/powerpoint/2010/main" val="3168857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96D8EA-8CB2-71D1-ACE3-D47A8AAE8544}"/>
              </a:ext>
            </a:extLst>
          </p:cNvPr>
          <p:cNvSpPr txBox="1"/>
          <p:nvPr/>
        </p:nvSpPr>
        <p:spPr>
          <a:xfrm>
            <a:off x="673100" y="1035546"/>
            <a:ext cx="47879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9933"/>
                </a:solidFill>
              </a:rPr>
              <a:t>Step-by-Step Data Modeling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Identify Entities (Objects / Things)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Determine the main “objects” in your domain.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Online store → Customer, Order, Product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Stock exchange → Stock, Trade, Trader</a:t>
            </a:r>
          </a:p>
          <a:p>
            <a:pPr marL="1143000" lvl="2" indent="-228600">
              <a:buFont typeface="+mj-lt"/>
              <a:buAutoNum type="arabicPeriod"/>
            </a:pPr>
            <a:endParaRPr lang="en-US" dirty="0"/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Identify Attributes (Properties of Entities)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List the data points each entity needs.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Customer → Name, Email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Stock → Symbol, </a:t>
            </a:r>
            <a:r>
              <a:rPr lang="en-US" dirty="0" err="1"/>
              <a:t>CompanyName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39DF7-8946-9A25-9674-A5CB92DD70FA}"/>
              </a:ext>
            </a:extLst>
          </p:cNvPr>
          <p:cNvSpPr txBox="1"/>
          <p:nvPr/>
        </p:nvSpPr>
        <p:spPr>
          <a:xfrm>
            <a:off x="6451602" y="751344"/>
            <a:ext cx="47879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lvl="2" indent="-228600">
              <a:buFont typeface="+mj-lt"/>
              <a:buAutoNum type="arabicPeriod"/>
            </a:pPr>
            <a:endParaRPr lang="en-US" dirty="0"/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Determine Relationships Between Entities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Decide how entities are linked: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One-to-One (1:1)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One-to-Many (1:N)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Many-to-Many (M:N, usually needs a linking table)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Trader → Trade = 1:N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/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Assign Keys (Optional in Conceptual Phase)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Primary Key (PK) → unique identifier for each entity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Foreign Key (FK) → links to another entity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Draw a Conceptual Diagram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Boxes for entities, list attributes, arrows for relationships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Keep it </a:t>
            </a:r>
            <a:r>
              <a:rPr lang="en-US" b="1" dirty="0"/>
              <a:t>high-level</a:t>
            </a:r>
            <a:r>
              <a:rPr lang="en-US" dirty="0"/>
              <a:t>, no need to define data types yet</a:t>
            </a:r>
          </a:p>
        </p:txBody>
      </p:sp>
    </p:spTree>
    <p:extLst>
      <p:ext uri="{BB962C8B-B14F-4D97-AF65-F5344CB8AC3E}">
        <p14:creationId xmlns:p14="http://schemas.microsoft.com/office/powerpoint/2010/main" val="2250183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49970-F4C9-9BD7-57A5-531572CC1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59FD3D0-2E04-86D1-79BB-F9EB3EE08161}"/>
              </a:ext>
            </a:extLst>
          </p:cNvPr>
          <p:cNvSpPr txBox="1"/>
          <p:nvPr/>
        </p:nvSpPr>
        <p:spPr>
          <a:xfrm>
            <a:off x="850900" y="215900"/>
            <a:ext cx="64261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lvl="2" indent="-228600">
              <a:buFont typeface="+mj-lt"/>
              <a:buAutoNum type="arabicPeriod"/>
            </a:pPr>
            <a:endParaRPr lang="en-US" sz="2400" dirty="0">
              <a:solidFill>
                <a:srgbClr val="FF9933"/>
              </a:solidFill>
            </a:endParaRPr>
          </a:p>
          <a:p>
            <a:r>
              <a:rPr lang="en-US" sz="2400" b="1" dirty="0">
                <a:solidFill>
                  <a:srgbClr val="FF9933"/>
                </a:solidFill>
              </a:rPr>
              <a:t>Determine Relationships Between Entities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5D95B5-5DDC-2F00-57DE-915B6547556B}"/>
              </a:ext>
            </a:extLst>
          </p:cNvPr>
          <p:cNvSpPr txBox="1"/>
          <p:nvPr/>
        </p:nvSpPr>
        <p:spPr>
          <a:xfrm>
            <a:off x="850900" y="2457778"/>
            <a:ext cx="45339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1:1</a:t>
            </a:r>
            <a:r>
              <a:rPr lang="en-US" dirty="0"/>
              <a:t> – </a:t>
            </a:r>
            <a:r>
              <a:rPr lang="en-US" b="1" dirty="0"/>
              <a:t>Trader → Trading Account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trader has </a:t>
            </a:r>
            <a:r>
              <a:rPr lang="en-US" b="1" dirty="0"/>
              <a:t>one trading account</a:t>
            </a:r>
            <a:r>
              <a:rPr lang="en-US" dirty="0"/>
              <a:t>, each account belongs to </a:t>
            </a:r>
            <a:r>
              <a:rPr lang="en-US" b="1" dirty="0"/>
              <a:t>one trader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1:N</a:t>
            </a:r>
            <a:r>
              <a:rPr lang="en-US" dirty="0"/>
              <a:t> – </a:t>
            </a:r>
            <a:r>
              <a:rPr lang="en-US" b="1" dirty="0"/>
              <a:t>Trader → Trade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trader can make </a:t>
            </a:r>
            <a:r>
              <a:rPr lang="en-US" b="1" dirty="0"/>
              <a:t>many trades</a:t>
            </a:r>
            <a:r>
              <a:rPr lang="en-US" dirty="0"/>
              <a:t>, each trade belongs to </a:t>
            </a:r>
            <a:r>
              <a:rPr lang="en-US" b="1" dirty="0"/>
              <a:t>one trader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M:N</a:t>
            </a:r>
            <a:r>
              <a:rPr lang="en-US" dirty="0"/>
              <a:t> – </a:t>
            </a:r>
            <a:r>
              <a:rPr lang="en-US" b="1" dirty="0"/>
              <a:t>Trade → Stock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trade can include </a:t>
            </a:r>
            <a:r>
              <a:rPr lang="en-US" b="1" dirty="0"/>
              <a:t>many stocks</a:t>
            </a:r>
            <a:r>
              <a:rPr lang="en-US" dirty="0"/>
              <a:t>, one stock can appear in </a:t>
            </a:r>
            <a:r>
              <a:rPr lang="en-US" b="1" dirty="0"/>
              <a:t>many trades</a:t>
            </a:r>
            <a:r>
              <a:rPr lang="en-US" dirty="0"/>
              <a:t> (via a linking table, e.g., </a:t>
            </a:r>
            <a:r>
              <a:rPr lang="en-US" dirty="0" err="1"/>
              <a:t>TradeDetails</a:t>
            </a:r>
            <a:r>
              <a:rPr lang="en-US" dirty="0"/>
              <a:t>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7DFF41-DCE4-F53C-5D7F-8AC8466F05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746" y="2207623"/>
            <a:ext cx="6223877" cy="414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64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8262</TotalTime>
  <Words>1751</Words>
  <Application>Microsoft Office PowerPoint</Application>
  <PresentationFormat>Widescreen</PresentationFormat>
  <Paragraphs>439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Datenanalyse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zolfagharian</dc:creator>
  <cp:lastModifiedBy>ali zolfagharian</cp:lastModifiedBy>
  <cp:revision>48</cp:revision>
  <dcterms:created xsi:type="dcterms:W3CDTF">2026-02-20T09:06:58Z</dcterms:created>
  <dcterms:modified xsi:type="dcterms:W3CDTF">2026-02-27T13:39:04Z</dcterms:modified>
</cp:coreProperties>
</file>