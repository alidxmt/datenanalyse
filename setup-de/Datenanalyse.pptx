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59" r:id="rId4"/>
    <p:sldId id="260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6192" autoAdjust="0"/>
  </p:normalViewPr>
  <p:slideViewPr>
    <p:cSldViewPr snapToGrid="0">
      <p:cViewPr varScale="1">
        <p:scale>
          <a:sx n="75" d="100"/>
          <a:sy n="75" d="100"/>
        </p:scale>
        <p:origin x="15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EF45C-B4A1-4048-BF7F-D1617E8131E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2D7CD-EEF3-4145-A484-A9D67FF727B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914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Hallo zusammen.</a:t>
            </a:r>
            <a:br>
              <a:rPr lang="de-DE" dirty="0"/>
            </a:br>
            <a:r>
              <a:rPr lang="de-DE" dirty="0"/>
              <a:t>Willkommen zum Kurs </a:t>
            </a:r>
            <a:r>
              <a:rPr lang="de-DE" b="1" dirty="0"/>
              <a:t>Datenanalyse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Der Kurs dauert zehn Wochen, also fünf Abschnitte, je zwei Wochen.</a:t>
            </a:r>
            <a:br>
              <a:rPr lang="de-DE" dirty="0"/>
            </a:br>
            <a:r>
              <a:rPr lang="de-DE" dirty="0"/>
              <a:t>Wir starten mit der </a:t>
            </a:r>
            <a:r>
              <a:rPr lang="de-DE" b="1" dirty="0" err="1"/>
              <a:t>Foundation</a:t>
            </a:r>
            <a:r>
              <a:rPr lang="de-DE" dirty="0"/>
              <a:t>, dann lernen wir </a:t>
            </a:r>
            <a:r>
              <a:rPr lang="de-DE" b="1" dirty="0"/>
              <a:t>Excel</a:t>
            </a:r>
            <a:r>
              <a:rPr lang="de-DE" dirty="0"/>
              <a:t>, </a:t>
            </a:r>
            <a:r>
              <a:rPr lang="de-DE" b="1" dirty="0"/>
              <a:t>SQL</a:t>
            </a:r>
            <a:r>
              <a:rPr lang="de-DE" dirty="0"/>
              <a:t>, </a:t>
            </a:r>
            <a:r>
              <a:rPr lang="de-DE" b="1" dirty="0"/>
              <a:t>Power BI</a:t>
            </a:r>
            <a:r>
              <a:rPr lang="de-DE" dirty="0"/>
              <a:t> und </a:t>
            </a:r>
            <a:r>
              <a:rPr lang="de-DE" b="1" dirty="0"/>
              <a:t>Python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Warum? Diese Skills sind sehr wichtig für Jobs im Bereich </a:t>
            </a:r>
            <a:r>
              <a:rPr lang="de-DE" b="1" dirty="0"/>
              <a:t>Data Analysis</a:t>
            </a:r>
            <a:r>
              <a:rPr lang="de-DE" dirty="0"/>
              <a:t>.</a:t>
            </a:r>
            <a:br>
              <a:rPr lang="de-DE" dirty="0"/>
            </a:br>
            <a:r>
              <a:rPr lang="de-DE" dirty="0"/>
              <a:t>Wenn ihr diese Tools und Methoden kennt, könnt ihr Daten analysieren, Berichte machen und bessere Entscheidungen treffen.</a:t>
            </a:r>
            <a:br>
              <a:rPr lang="de-DE" dirty="0"/>
            </a:br>
            <a:r>
              <a:rPr lang="de-DE" dirty="0"/>
              <a:t>Nach der Weiterbildung habt ihr bessere Chancen auf einen Job im Datenbereich.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0122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Heute konzentrieren wir uns auf die </a:t>
            </a:r>
            <a:r>
              <a:rPr lang="de-DE" b="1" dirty="0"/>
              <a:t>Grundlagen</a:t>
            </a:r>
            <a:r>
              <a:rPr lang="de-DE" dirty="0"/>
              <a:t>. Dieser Teil ist für </a:t>
            </a:r>
            <a:r>
              <a:rPr lang="de-DE" b="1" dirty="0"/>
              <a:t>zwei Wochen</a:t>
            </a:r>
            <a:r>
              <a:rPr lang="de-DE" dirty="0"/>
              <a:t> geplant.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1429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Datenanalyse-Prozess beginnt immer mit einer </a:t>
            </a:r>
            <a:r>
              <a:rPr lang="de-DE" b="1" dirty="0"/>
              <a:t>Fragestellung</a:t>
            </a:r>
            <a:r>
              <a:rPr lang="de-DE" dirty="0"/>
              <a:t>. Wir müssen zuerst das Problem festlegen. Danach folgt die </a:t>
            </a:r>
            <a:r>
              <a:rPr lang="de-DE" b="1" dirty="0"/>
              <a:t>Erhebung</a:t>
            </a:r>
            <a:r>
              <a:rPr lang="de-DE" dirty="0"/>
              <a:t>. Hier sammeln wir die Daten, zum Beispiel aus Datenbanken oder durch Web </a:t>
            </a:r>
            <a:r>
              <a:rPr lang="de-DE" dirty="0" err="1"/>
              <a:t>Scraping</a:t>
            </a:r>
            <a:r>
              <a:rPr lang="de-DE" dirty="0"/>
              <a:t>.</a:t>
            </a:r>
          </a:p>
          <a:p>
            <a:r>
              <a:rPr lang="de-DE" dirty="0"/>
              <a:t>Der nächste Schritt ist die </a:t>
            </a:r>
            <a:r>
              <a:rPr lang="de-DE" b="1" dirty="0"/>
              <a:t>Vorbereitung</a:t>
            </a:r>
            <a:r>
              <a:rPr lang="de-DE" dirty="0"/>
              <a:t>. Wir bereinigen die Daten und prüfen auf fehlende Werte. Wenn die Daten sauber sind, gehen wir zur </a:t>
            </a:r>
            <a:r>
              <a:rPr lang="de-DE" b="1" dirty="0"/>
              <a:t>Analyse</a:t>
            </a:r>
            <a:r>
              <a:rPr lang="de-DE" dirty="0"/>
              <a:t> über. Wir suchen nach Korrelationen und Mustern. Am Ende müssen wir die Ergebnisse </a:t>
            </a:r>
            <a:r>
              <a:rPr lang="de-DE" b="1" dirty="0"/>
              <a:t>teilen</a:t>
            </a:r>
            <a:r>
              <a:rPr lang="de-DE" dirty="0"/>
              <a:t>. Wir erstellen Berichte und geben klare Empfehlungen.</a:t>
            </a:r>
          </a:p>
          <a:p>
            <a:r>
              <a:rPr lang="de-DE" dirty="0"/>
              <a:t>Unser Kursplan basiert genau auf diesem Prozess. In den nächsten zwei Wochen lernen wir zuerst, wie man Daten </a:t>
            </a:r>
            <a:r>
              <a:rPr lang="de-DE" b="1" dirty="0"/>
              <a:t>erhebt</a:t>
            </a:r>
            <a:r>
              <a:rPr lang="de-DE" dirty="0"/>
              <a:t>. Danach schauen wir uns an, wie man sie </a:t>
            </a:r>
            <a:r>
              <a:rPr lang="de-DE" b="1" dirty="0"/>
              <a:t>vorbereitet</a:t>
            </a:r>
            <a:r>
              <a:rPr lang="de-DE" dirty="0"/>
              <a:t>. Dann folgt der wichtigste Teil: die </a:t>
            </a:r>
            <a:r>
              <a:rPr lang="de-DE" b="1" dirty="0"/>
              <a:t>Analyse</a:t>
            </a:r>
            <a:r>
              <a:rPr lang="de-DE" dirty="0"/>
              <a:t>. Und am Ende lernen wir, wie man die Ergebnisse richtig </a:t>
            </a:r>
            <a:r>
              <a:rPr lang="de-DE" b="1" dirty="0"/>
              <a:t>kommuniziert</a:t>
            </a:r>
            <a:r>
              <a:rPr lang="de-DE" dirty="0"/>
              <a:t>.</a:t>
            </a:r>
            <a:endParaRPr lang="en-US" b="1" dirty="0"/>
          </a:p>
          <a:p>
            <a:r>
              <a:rPr lang="de-DE" dirty="0"/>
              <a:t>Gute Fragen zu formulieren ist eine Fähigkeit, die wir durch Übung entwickeln. Zuerst müssen wir lernen, welche </a:t>
            </a:r>
            <a:r>
              <a:rPr lang="de-DE" b="1" dirty="0"/>
              <a:t>Werkzeuge</a:t>
            </a:r>
            <a:r>
              <a:rPr lang="de-DE" dirty="0"/>
              <a:t> wir haben. Wenn wir die Tools verstehen, können wir das Problem übersetzen und zu einem </a:t>
            </a:r>
            <a:r>
              <a:rPr lang="de-DE" b="1" dirty="0"/>
              <a:t>Ergebnis</a:t>
            </a:r>
            <a:r>
              <a:rPr lang="de-DE" dirty="0"/>
              <a:t> kommen.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Question</a:t>
            </a:r>
          </a:p>
          <a:p>
            <a:r>
              <a:rPr lang="en-US" dirty="0"/>
              <a:t>Define the problem</a:t>
            </a:r>
          </a:p>
          <a:p>
            <a:r>
              <a:rPr lang="en-US" dirty="0"/>
              <a:t>Determine the relevant key metrics</a:t>
            </a:r>
          </a:p>
          <a:p>
            <a:r>
              <a:rPr lang="en-US" dirty="0"/>
              <a:t>What drives customer satisfaction?</a:t>
            </a:r>
          </a:p>
          <a:p>
            <a:r>
              <a:rPr lang="en-US" b="1" dirty="0"/>
              <a:t>Data Collection</a:t>
            </a:r>
          </a:p>
          <a:p>
            <a:r>
              <a:rPr lang="en-US" dirty="0"/>
              <a:t>Gathering data from databases, APIs, web scraping</a:t>
            </a:r>
          </a:p>
          <a:p>
            <a:r>
              <a:rPr lang="en-US" dirty="0"/>
              <a:t>Product reviews, delivery times</a:t>
            </a:r>
          </a:p>
          <a:p>
            <a:r>
              <a:rPr lang="en-US" dirty="0"/>
              <a:t>Prices &amp; discounts</a:t>
            </a:r>
          </a:p>
          <a:p>
            <a:r>
              <a:rPr lang="en-US" b="1" dirty="0"/>
              <a:t>Preparation</a:t>
            </a:r>
          </a:p>
          <a:p>
            <a:r>
              <a:rPr lang="en-US" dirty="0"/>
              <a:t>Cleaning missing or incomplete data</a:t>
            </a:r>
          </a:p>
          <a:p>
            <a:r>
              <a:rPr lang="en-US" dirty="0"/>
              <a:t>Transforming and structuring raw data</a:t>
            </a:r>
          </a:p>
          <a:p>
            <a:r>
              <a:rPr lang="en-US" dirty="0"/>
              <a:t>e.g., EUR, USD</a:t>
            </a:r>
          </a:p>
          <a:p>
            <a:r>
              <a:rPr lang="en-US" b="1" dirty="0"/>
              <a:t>Analysis</a:t>
            </a:r>
          </a:p>
          <a:p>
            <a:r>
              <a:rPr lang="en-US" dirty="0"/>
              <a:t>Statistical evaluation</a:t>
            </a:r>
          </a:p>
          <a:p>
            <a:r>
              <a:rPr lang="en-US" dirty="0"/>
              <a:t>Correlations</a:t>
            </a:r>
          </a:p>
          <a:p>
            <a:r>
              <a:rPr lang="en-US" dirty="0"/>
              <a:t>Pattern recognition</a:t>
            </a:r>
          </a:p>
          <a:p>
            <a:r>
              <a:rPr lang="en-US" dirty="0"/>
              <a:t>Applying models to gain insights</a:t>
            </a:r>
          </a:p>
          <a:p>
            <a:r>
              <a:rPr lang="en-US" b="1" dirty="0"/>
              <a:t>Sharing</a:t>
            </a:r>
          </a:p>
          <a:p>
            <a:r>
              <a:rPr lang="en-US" dirty="0"/>
              <a:t>Reports</a:t>
            </a:r>
          </a:p>
          <a:p>
            <a:r>
              <a:rPr lang="en-US" dirty="0"/>
              <a:t>Presentations</a:t>
            </a:r>
          </a:p>
          <a:p>
            <a:r>
              <a:rPr lang="en-US" dirty="0"/>
              <a:t>Data storytelling</a:t>
            </a:r>
          </a:p>
          <a:p>
            <a:r>
              <a:rPr lang="en-US" dirty="0"/>
              <a:t>Provide clear recommendations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6407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Gemini said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explain these 9 topics, you can use the script below. It connects your technical tools (Python,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to the ultimate goal of reaching a conclusion.</a:t>
            </a:r>
          </a:p>
          <a:p>
            <a:pPr rtl="0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Slides 3 &amp; 4: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(Our 9 Topics)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 Introduction: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"Hier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Themengebiete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Technik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Projekt."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(Here you see our nine topic areas. We start with the technology and end with a real project.)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Setup, Daten &amp;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Datentypen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Zuerst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unsere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Werkzeuge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VSCode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Notebook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Unterschied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zwischen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Daten,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Informationen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Datensätzen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Bibliotheken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(install libraries),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Überblick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(overview).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Analyseziele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KPIs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definieren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"Bevor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rechnen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müssen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Ziele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identifizieren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verknüpfen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KPIs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Geschäftsentscheidungen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Analysefragen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(analysis questions),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verknüpfen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(to link).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Datenerhebung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Datenqualität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die Daten?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lokale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Dateien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Wichtig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Qualität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Sind die Daten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vollständig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konsistent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Vollständigkeit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(completeness),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Genauigkeit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(accuracy).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Datenbereinigung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-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vorbereitung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Rohdaten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oft '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schmutzig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korrigieren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Variablen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können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prüfen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(check format),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standardisieren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(standardize).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Datenmodellierung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Aggregation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Daten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Tabellen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nutzen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Engineering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Erkenntnisse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gewinnen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Beziehungen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(organize relationships).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Deskriptive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Statistik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KPIs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"Hier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lernen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Sprache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Daten: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Mittelwert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Standardabweichung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Korrelationen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Spannweite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(range),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Kreuztabellen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(cross-tabulations).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Datenvisualisierung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"Ein Bild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sagt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tausend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Zahlen.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erstellen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Balkendiagramme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Streudiagramme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Interaktive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Charts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(interactive charts).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Analytics-Workflow &amp; Integration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zusammen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strukturierten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Prozess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Wir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üben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kleinen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Fallbeispielen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Fallbeispiele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(case studies),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vorherige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Schritte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(previous steps).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Capstone End-to-End Projekt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"Am Ende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an. Von der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ersten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Fragestellung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Präsentation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Ihrer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Ergebnisse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</a:p>
          <a:p>
            <a:pPr rtl="0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words: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Ergebnisse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diskutieren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(discuss results),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anwenden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(to apply).</a:t>
            </a:r>
          </a:p>
          <a:p>
            <a:endParaRPr lang="en-US" b="1" dirty="0"/>
          </a:p>
          <a:p>
            <a:r>
              <a:rPr lang="en-US" b="1" dirty="0"/>
              <a:t>Setup, Data &amp; Data Types</a:t>
            </a:r>
            <a:endParaRPr lang="en-US" dirty="0"/>
          </a:p>
          <a:p>
            <a:r>
              <a:rPr lang="en-US" dirty="0"/>
              <a:t>Install Python, Notebooks, Libraries</a:t>
            </a:r>
          </a:p>
          <a:p>
            <a:r>
              <a:rPr lang="en-US" dirty="0"/>
              <a:t>Overview of Data Types</a:t>
            </a:r>
          </a:p>
          <a:p>
            <a:r>
              <a:rPr lang="en-US" dirty="0"/>
              <a:t>Data | Information</a:t>
            </a:r>
          </a:p>
          <a:p>
            <a:r>
              <a:rPr lang="en-US" b="1" dirty="0"/>
              <a:t>Define Analysis Goals &amp; KPIs</a:t>
            </a:r>
            <a:endParaRPr lang="en-US" dirty="0"/>
          </a:p>
          <a:p>
            <a:r>
              <a:rPr lang="en-US" dirty="0"/>
              <a:t>Identify analysis questions &amp; objectives</a:t>
            </a:r>
          </a:p>
          <a:p>
            <a:r>
              <a:rPr lang="en-US" dirty="0"/>
              <a:t>Link KPIs to business decisions</a:t>
            </a:r>
          </a:p>
          <a:p>
            <a:r>
              <a:rPr lang="en-US" b="1" dirty="0"/>
              <a:t>Data Gathering &amp; Quality</a:t>
            </a:r>
            <a:endParaRPr lang="en-US" dirty="0"/>
          </a:p>
          <a:p>
            <a:r>
              <a:rPr lang="en-US" dirty="0"/>
              <a:t>Collect data: APIs, local files, unstructured data</a:t>
            </a:r>
          </a:p>
          <a:p>
            <a:r>
              <a:rPr lang="en-US" dirty="0"/>
              <a:t>Check completeness, accuracy, consistency</a:t>
            </a:r>
          </a:p>
          <a:p>
            <a:r>
              <a:rPr lang="en-US" dirty="0"/>
              <a:t>Load &amp; inspect datasets</a:t>
            </a:r>
          </a:p>
          <a:p>
            <a:r>
              <a:rPr lang="en-US" dirty="0"/>
              <a:t>Check for missing values, duplicates, formatting</a:t>
            </a:r>
          </a:p>
          <a:p>
            <a:r>
              <a:rPr lang="en-US" b="1" dirty="0"/>
              <a:t>Data Cleaning &amp; Preparation</a:t>
            </a:r>
            <a:endParaRPr lang="en-US" dirty="0"/>
          </a:p>
          <a:p>
            <a:r>
              <a:rPr lang="en-US" dirty="0"/>
              <a:t>Correct missing / incorrect values</a:t>
            </a:r>
          </a:p>
          <a:p>
            <a:r>
              <a:rPr lang="en-US" dirty="0"/>
              <a:t>Standardize formats</a:t>
            </a:r>
          </a:p>
          <a:p>
            <a:r>
              <a:rPr lang="en-US" dirty="0"/>
              <a:t>Transform variables for analysis</a:t>
            </a:r>
          </a:p>
          <a:p>
            <a:r>
              <a:rPr lang="en-US" b="1" dirty="0"/>
              <a:t>Data Modeling &amp; Aggregation</a:t>
            </a:r>
            <a:endParaRPr lang="en-US" dirty="0"/>
          </a:p>
          <a:p>
            <a:r>
              <a:rPr lang="en-US" dirty="0"/>
              <a:t>Organize data into tables &amp; relationships</a:t>
            </a:r>
          </a:p>
          <a:p>
            <a:r>
              <a:rPr lang="en-US" dirty="0"/>
              <a:t>Feature engineering &amp; aggregations</a:t>
            </a:r>
          </a:p>
          <a:p>
            <a:r>
              <a:rPr lang="en-US" b="1" dirty="0"/>
              <a:t>Descriptive Statistics &amp; KPIs</a:t>
            </a:r>
            <a:endParaRPr lang="en-US" dirty="0"/>
          </a:p>
          <a:p>
            <a:r>
              <a:rPr lang="en-US" dirty="0"/>
              <a:t>Mean, Median, Mode, Standard Deviation, Range</a:t>
            </a:r>
          </a:p>
          <a:p>
            <a:r>
              <a:rPr lang="en-US" dirty="0"/>
              <a:t>Correlations &amp; Cross-tabs</a:t>
            </a:r>
          </a:p>
          <a:p>
            <a:r>
              <a:rPr lang="en-US" b="1" dirty="0"/>
              <a:t>Data Visualization</a:t>
            </a:r>
            <a:endParaRPr lang="en-US" dirty="0"/>
          </a:p>
          <a:p>
            <a:r>
              <a:rPr lang="en-US" dirty="0"/>
              <a:t>Classic charts: Bar chart, Histogram, Boxplot, Line chart, Scatter plot</a:t>
            </a:r>
          </a:p>
          <a:p>
            <a:r>
              <a:rPr lang="en-US" dirty="0"/>
              <a:t>Interactive charts</a:t>
            </a:r>
          </a:p>
          <a:p>
            <a:r>
              <a:rPr lang="en-US" b="1" dirty="0"/>
              <a:t>Analytics Workflow &amp; Integration</a:t>
            </a:r>
            <a:endParaRPr lang="en-US" dirty="0"/>
          </a:p>
          <a:p>
            <a:r>
              <a:rPr lang="en-US" dirty="0"/>
              <a:t>Structured workflow</a:t>
            </a:r>
          </a:p>
          <a:p>
            <a:r>
              <a:rPr lang="en-US" dirty="0"/>
              <a:t>Mini case studies using all previous steps</a:t>
            </a:r>
          </a:p>
          <a:p>
            <a:r>
              <a:rPr lang="en-US" b="1" dirty="0"/>
              <a:t>Capstone End-to-End Project</a:t>
            </a:r>
            <a:endParaRPr lang="en-US" dirty="0"/>
          </a:p>
          <a:p>
            <a:r>
              <a:rPr lang="en-US" dirty="0"/>
              <a:t>Complete analysis from question to presentation</a:t>
            </a:r>
          </a:p>
          <a:p>
            <a:r>
              <a:rPr lang="en-US" dirty="0"/>
              <a:t>Apply all learned steps</a:t>
            </a:r>
          </a:p>
          <a:p>
            <a:r>
              <a:rPr lang="en-US" dirty="0"/>
              <a:t>Present &amp; discuss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2D7CD-EEF3-4145-A484-A9D67FF727B1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845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02/21/2026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E9CF-4789-C34E-EAA9-7E845897C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4D9C2-3BE3-768E-873A-FCAB40044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lnSpcReduction="10000"/>
          </a:bodyPr>
          <a:lstStyle/>
          <a:p>
            <a:br>
              <a:rPr lang="en-US" sz="3600" b="1" dirty="0"/>
            </a:br>
            <a:r>
              <a:rPr lang="en-US" sz="3600" b="1" dirty="0" err="1"/>
              <a:t>Grundlagen</a:t>
            </a:r>
            <a:r>
              <a:rPr lang="en-US" sz="3600" b="1" dirty="0"/>
              <a:t> | Excel | SQL | Power BI | Python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335652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98E5-5A49-760C-EC35-E81E4300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77685-C07F-EFB7-72F1-1422DCA0C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98E596-E0F4-E60F-E73A-05489C07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fontScale="47500" lnSpcReduction="20000"/>
          </a:bodyPr>
          <a:lstStyle/>
          <a:p>
            <a:br>
              <a:rPr lang="en-US" sz="3600" b="1" dirty="0"/>
            </a:br>
            <a:r>
              <a:rPr lang="en-US" sz="12600" b="1" dirty="0" err="1"/>
              <a:t>Grundlagen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2112175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43AF4DC-A281-4750-7689-04550908EEE8}"/>
              </a:ext>
            </a:extLst>
          </p:cNvPr>
          <p:cNvSpPr/>
          <p:nvPr/>
        </p:nvSpPr>
        <p:spPr>
          <a:xfrm>
            <a:off x="496213" y="1024616"/>
            <a:ext cx="2067374" cy="483325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3CD82926-BF69-61BA-A2B8-AE13D0769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700" y="1455763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748B9C-7513-93B1-01D3-D7DFFC032034}"/>
              </a:ext>
            </a:extLst>
          </p:cNvPr>
          <p:cNvSpPr txBox="1"/>
          <p:nvPr/>
        </p:nvSpPr>
        <p:spPr>
          <a:xfrm>
            <a:off x="776675" y="2512330"/>
            <a:ext cx="150645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Fragestellung</a:t>
            </a:r>
            <a:endParaRPr lang="en-US" sz="1600" b="1" dirty="0"/>
          </a:p>
          <a:p>
            <a:endParaRPr lang="en-US" sz="1600" dirty="0"/>
          </a:p>
          <a:p>
            <a:pPr algn="ctr"/>
            <a:r>
              <a:rPr lang="de-DE" sz="1400" dirty="0"/>
              <a:t>Festlegung des Problems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Bestimmung</a:t>
            </a:r>
            <a:r>
              <a:rPr lang="en-US" sz="1400" dirty="0"/>
              <a:t> der </a:t>
            </a:r>
            <a:r>
              <a:rPr lang="en-US" sz="1400" dirty="0" err="1"/>
              <a:t>relevanten</a:t>
            </a:r>
            <a:r>
              <a:rPr lang="en-US" sz="1400" dirty="0"/>
              <a:t> </a:t>
            </a:r>
            <a:r>
              <a:rPr lang="en-US" sz="1400" dirty="0" err="1"/>
              <a:t>Kennzahlen</a:t>
            </a:r>
            <a:endParaRPr lang="en-US" sz="1400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Was </a:t>
            </a:r>
            <a:r>
              <a:rPr lang="en-US" sz="1400" dirty="0" err="1"/>
              <a:t>treibt</a:t>
            </a:r>
            <a:r>
              <a:rPr lang="en-US" sz="1400" dirty="0"/>
              <a:t> die Kunden </a:t>
            </a:r>
            <a:r>
              <a:rPr lang="en-US" sz="1400" dirty="0" err="1"/>
              <a:t>zufriedenheit</a:t>
            </a:r>
            <a:r>
              <a:rPr lang="en-US" sz="1400" dirty="0"/>
              <a:t>?</a:t>
            </a:r>
            <a:endParaRPr lang="LID4096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2E64AC7-D27B-6A45-ACD8-B06D8517723B}"/>
              </a:ext>
            </a:extLst>
          </p:cNvPr>
          <p:cNvSpPr/>
          <p:nvPr/>
        </p:nvSpPr>
        <p:spPr>
          <a:xfrm>
            <a:off x="2771466" y="1024616"/>
            <a:ext cx="2067374" cy="48332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F39061-D5C5-812E-6950-4B8E8B63B5CD}"/>
              </a:ext>
            </a:extLst>
          </p:cNvPr>
          <p:cNvGrpSpPr/>
          <p:nvPr/>
        </p:nvGrpSpPr>
        <p:grpSpPr>
          <a:xfrm>
            <a:off x="2802728" y="1455763"/>
            <a:ext cx="2004850" cy="3118670"/>
            <a:chOff x="2521648" y="1455763"/>
            <a:chExt cx="2004850" cy="3118670"/>
          </a:xfrm>
        </p:grpSpPr>
        <p:pic>
          <p:nvPicPr>
            <p:cNvPr id="9" name="Graphic 8" descr="Database">
              <a:extLst>
                <a:ext uri="{FF2B5EF4-FFF2-40B4-BE49-F238E27FC236}">
                  <a16:creationId xmlns:a16="http://schemas.microsoft.com/office/drawing/2014/main" id="{476B54AC-BFD5-F800-D135-AD5B57514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66873" y="1455763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DFA633-3341-86B8-27F8-C87ACA044166}"/>
                </a:ext>
              </a:extLst>
            </p:cNvPr>
            <p:cNvSpPr txBox="1"/>
            <p:nvPr/>
          </p:nvSpPr>
          <p:spPr>
            <a:xfrm>
              <a:off x="2521648" y="2512330"/>
              <a:ext cx="200485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b="1" dirty="0"/>
                <a:t>Erhebung</a:t>
              </a:r>
            </a:p>
            <a:p>
              <a:pPr algn="ctr"/>
              <a:endParaRPr lang="de-DE" sz="1400" dirty="0"/>
            </a:p>
            <a:p>
              <a:pPr algn="ctr"/>
              <a:r>
                <a:rPr lang="de-DE" sz="1400" dirty="0"/>
                <a:t>Sammlung von Daten</a:t>
              </a:r>
            </a:p>
            <a:p>
              <a:pPr algn="ctr"/>
              <a:r>
                <a:rPr lang="de-DE" sz="1400" dirty="0"/>
                <a:t>Datenbanken, APIs, Web </a:t>
              </a:r>
              <a:r>
                <a:rPr lang="de-DE" sz="1400" dirty="0" err="1"/>
                <a:t>Scraping</a:t>
              </a:r>
              <a:endParaRPr lang="de-DE" sz="1400" dirty="0"/>
            </a:p>
            <a:p>
              <a:pPr algn="ctr"/>
              <a:endParaRPr lang="de-DE" sz="1400" dirty="0"/>
            </a:p>
            <a:p>
              <a:pPr algn="ctr"/>
              <a:r>
                <a:rPr lang="en-US" sz="1400" dirty="0" err="1"/>
                <a:t>Produktbewertungen</a:t>
              </a:r>
              <a:endParaRPr lang="en-US" sz="1400" dirty="0"/>
            </a:p>
            <a:p>
              <a:pPr algn="ctr"/>
              <a:r>
                <a:rPr lang="en-US" sz="1400" dirty="0" err="1"/>
                <a:t>Lieferzeiten</a:t>
              </a:r>
              <a:endParaRPr lang="en-US" sz="1400" dirty="0"/>
            </a:p>
            <a:p>
              <a:pPr algn="ctr"/>
              <a:r>
                <a:rPr lang="en-US" sz="1400" dirty="0" err="1"/>
                <a:t>Preise</a:t>
              </a:r>
              <a:r>
                <a:rPr lang="en-US" sz="1400" dirty="0"/>
                <a:t> &amp; </a:t>
              </a:r>
              <a:r>
                <a:rPr lang="en-US" sz="1400" dirty="0" err="1"/>
                <a:t>Rabatte</a:t>
              </a:r>
              <a:endParaRPr lang="en-US" sz="1400" dirty="0"/>
            </a:p>
          </p:txBody>
        </p:sp>
      </p:grp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1494EC8-C6E2-9439-105B-EAC73E3DA858}"/>
              </a:ext>
            </a:extLst>
          </p:cNvPr>
          <p:cNvSpPr/>
          <p:nvPr/>
        </p:nvSpPr>
        <p:spPr>
          <a:xfrm>
            <a:off x="5046719" y="1024616"/>
            <a:ext cx="2067374" cy="483325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9" name="Graphic 18" descr="Checklist">
            <a:extLst>
              <a:ext uri="{FF2B5EF4-FFF2-40B4-BE49-F238E27FC236}">
                <a16:creationId xmlns:a16="http://schemas.microsoft.com/office/drawing/2014/main" id="{5674ACFB-94AF-E452-F96B-AA1A76DC1C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206" y="1455763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7AF935-C9DA-A1C8-F302-67A8ABEAB3C3}"/>
              </a:ext>
            </a:extLst>
          </p:cNvPr>
          <p:cNvSpPr txBox="1"/>
          <p:nvPr/>
        </p:nvSpPr>
        <p:spPr>
          <a:xfrm>
            <a:off x="5077981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Vorbereitung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Bereinigung Fehlende Werte oder unvollständiger 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Transformation und </a:t>
            </a:r>
            <a:r>
              <a:rPr lang="de-DE" sz="1400" dirty="0" err="1"/>
              <a:t>strukturierung</a:t>
            </a:r>
            <a:r>
              <a:rPr lang="de-DE" sz="1400" dirty="0"/>
              <a:t> der Rohdaten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 err="1"/>
              <a:t>Z.b.</a:t>
            </a:r>
            <a:r>
              <a:rPr lang="de-DE" sz="1400" dirty="0"/>
              <a:t> EUR, USD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98568F5-E42F-8BB3-A490-D5BE0EF78F44}"/>
              </a:ext>
            </a:extLst>
          </p:cNvPr>
          <p:cNvSpPr/>
          <p:nvPr/>
        </p:nvSpPr>
        <p:spPr>
          <a:xfrm>
            <a:off x="7321972" y="1012371"/>
            <a:ext cx="2067374" cy="4833257"/>
          </a:xfrm>
          <a:prstGeom prst="roundRect">
            <a:avLst/>
          </a:prstGeom>
          <a:solidFill>
            <a:srgbClr val="99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3" name="Graphic 12" descr="Research">
            <a:extLst>
              <a:ext uri="{FF2B5EF4-FFF2-40B4-BE49-F238E27FC236}">
                <a16:creationId xmlns:a16="http://schemas.microsoft.com/office/drawing/2014/main" id="{A19EC08F-EE9E-EEC3-70FF-6AA50E2E51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98459" y="1455763"/>
            <a:ext cx="914400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87E938B-C533-53F6-0B07-680FA385DE68}"/>
              </a:ext>
            </a:extLst>
          </p:cNvPr>
          <p:cNvSpPr txBox="1"/>
          <p:nvPr/>
        </p:nvSpPr>
        <p:spPr>
          <a:xfrm>
            <a:off x="7353234" y="2512330"/>
            <a:ext cx="200485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Analyse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 err="1"/>
              <a:t>Statistische</a:t>
            </a:r>
            <a:r>
              <a:rPr lang="en-US" sz="1400" dirty="0"/>
              <a:t> </a:t>
            </a:r>
            <a:r>
              <a:rPr lang="en-US" sz="1400" dirty="0" err="1"/>
              <a:t>Auswertung</a:t>
            </a:r>
            <a:r>
              <a:rPr lang="en-US" sz="1400" dirty="0"/>
              <a:t> 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Korrelationen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Mustererkennung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Anwendung von Modellen zur</a:t>
            </a:r>
          </a:p>
          <a:p>
            <a:pPr algn="ctr"/>
            <a:r>
              <a:rPr lang="de-DE" sz="1400" dirty="0"/>
              <a:t>Erkenntnisgewinnung</a:t>
            </a:r>
            <a:endParaRPr lang="LID4096" sz="14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C62606D-036F-F460-EAC8-BF67CF336768}"/>
              </a:ext>
            </a:extLst>
          </p:cNvPr>
          <p:cNvSpPr/>
          <p:nvPr/>
        </p:nvSpPr>
        <p:spPr>
          <a:xfrm>
            <a:off x="9597223" y="1024616"/>
            <a:ext cx="2067374" cy="483325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5" name="Graphic 14" descr="Share">
            <a:extLst>
              <a:ext uri="{FF2B5EF4-FFF2-40B4-BE49-F238E27FC236}">
                <a16:creationId xmlns:a16="http://schemas.microsoft.com/office/drawing/2014/main" id="{FF895700-3132-0648-A450-8F1704B896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73710" y="1455763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007D182-B808-E93F-8C23-74CEF8A12818}"/>
              </a:ext>
            </a:extLst>
          </p:cNvPr>
          <p:cNvSpPr txBox="1"/>
          <p:nvPr/>
        </p:nvSpPr>
        <p:spPr>
          <a:xfrm>
            <a:off x="9628485" y="2512330"/>
            <a:ext cx="200485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Teilen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Berichte</a:t>
            </a:r>
          </a:p>
          <a:p>
            <a:pPr algn="ctr"/>
            <a:endParaRPr lang="de-DE" sz="1400" dirty="0"/>
          </a:p>
          <a:p>
            <a:pPr algn="ctr"/>
            <a:r>
              <a:rPr lang="de-DE" sz="1400" dirty="0"/>
              <a:t>Präsentationen</a:t>
            </a:r>
          </a:p>
          <a:p>
            <a:pPr algn="ctr"/>
            <a:endParaRPr lang="de-DE" sz="1400" dirty="0"/>
          </a:p>
          <a:p>
            <a:pPr algn="ctr"/>
            <a:r>
              <a:rPr lang="en-US" sz="1400" dirty="0"/>
              <a:t>Storytelling </a:t>
            </a:r>
            <a:r>
              <a:rPr lang="en-US" sz="1400" dirty="0" err="1"/>
              <a:t>mit</a:t>
            </a:r>
            <a:r>
              <a:rPr lang="en-US" sz="1400" dirty="0"/>
              <a:t> Daten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Klare </a:t>
            </a:r>
            <a:r>
              <a:rPr lang="en-US" sz="1400" dirty="0" err="1"/>
              <a:t>Empfehlungen</a:t>
            </a:r>
            <a:r>
              <a:rPr lang="en-US" sz="1400" dirty="0"/>
              <a:t> </a:t>
            </a:r>
            <a:r>
              <a:rPr lang="en-US" sz="1400" dirty="0" err="1"/>
              <a:t>geben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38733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24F6DF1-AF8B-B5EC-EC2F-2A121854376C}"/>
              </a:ext>
            </a:extLst>
          </p:cNvPr>
          <p:cNvSpPr txBox="1"/>
          <p:nvPr/>
        </p:nvSpPr>
        <p:spPr>
          <a:xfrm>
            <a:off x="358375" y="1490503"/>
            <a:ext cx="60966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Setup, Daten &amp; Datentypen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Python, </a:t>
            </a:r>
            <a:r>
              <a:rPr lang="de-DE" sz="1400" dirty="0" err="1"/>
              <a:t>Jupyter</a:t>
            </a:r>
            <a:r>
              <a:rPr lang="de-DE" sz="1400" dirty="0"/>
              <a:t> Notebook, Bibliotheken installieren, </a:t>
            </a:r>
            <a:r>
              <a:rPr lang="de-DE" sz="1400" dirty="0" err="1"/>
              <a:t>VSCode</a:t>
            </a: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Arbeiten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Jupyter</a:t>
            </a:r>
            <a:r>
              <a:rPr lang="en-US" sz="1400" dirty="0"/>
              <a:t> | </a:t>
            </a:r>
            <a:r>
              <a:rPr lang="de-DE" sz="1400" dirty="0"/>
              <a:t>Überblick über Datentypen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Data | Information | Dataset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Analyseziele &amp; KPIs definieren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Analysefragen &amp; Ziele identifizieren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KPIs mit Geschäftsentscheidungen verknüpfen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Datenerhebung &amp; Datenqualität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sammeln: APIs, lokale Dateien, unstrukturierte Daten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Vollständigkeit, Genauigkeit, Konsistenz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Daten laden &amp; inspizieren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 Werte, Duplikate, Format prüfen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>
              <a:buNone/>
            </a:pPr>
            <a:r>
              <a:rPr lang="de-DE" sz="1400" b="1" dirty="0">
                <a:solidFill>
                  <a:schemeClr val="accent5">
                    <a:lumMod val="75000"/>
                  </a:schemeClr>
                </a:solidFill>
              </a:rPr>
              <a:t>Datenbereinigung &amp; -vorbereitung</a:t>
            </a:r>
            <a:endParaRPr lang="de-DE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Fehlende/falsche Werte korrigieren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Formate standardisieren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Variablen für Analyse transformieren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DBAAF1-C0D6-B182-1588-C698583090A2}"/>
              </a:ext>
            </a:extLst>
          </p:cNvPr>
          <p:cNvSpPr txBox="1"/>
          <p:nvPr/>
        </p:nvSpPr>
        <p:spPr>
          <a:xfrm>
            <a:off x="5950910" y="1490503"/>
            <a:ext cx="60966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Datenmodellierung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Aggregation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Daten in </a:t>
            </a:r>
            <a:r>
              <a:rPr lang="en-US" sz="1400" dirty="0" err="1"/>
              <a:t>Tabellen</a:t>
            </a:r>
            <a:r>
              <a:rPr lang="en-US" sz="1400" dirty="0"/>
              <a:t> &amp; </a:t>
            </a:r>
            <a:r>
              <a:rPr lang="en-US" sz="1400" dirty="0" err="1"/>
              <a:t>Beziehungen</a:t>
            </a:r>
            <a:r>
              <a:rPr lang="en-US" sz="1400" dirty="0"/>
              <a:t> </a:t>
            </a:r>
            <a:r>
              <a:rPr lang="en-US" sz="1400" dirty="0" err="1"/>
              <a:t>organisieren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 Engineering &amp; </a:t>
            </a:r>
            <a:r>
              <a:rPr lang="en-US" sz="1400" dirty="0" err="1"/>
              <a:t>Aggregationen</a:t>
            </a:r>
            <a:r>
              <a:rPr lang="en-US" sz="1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Deskriptive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Statistik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&amp; KPIs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400" dirty="0" err="1"/>
              <a:t>Mittelwert</a:t>
            </a:r>
            <a:r>
              <a:rPr lang="en-US" sz="1400" dirty="0"/>
              <a:t>, Median, Modus, </a:t>
            </a:r>
            <a:r>
              <a:rPr lang="en-US" sz="1400" dirty="0" err="1"/>
              <a:t>Standardabweichung</a:t>
            </a:r>
            <a:r>
              <a:rPr lang="en-US" sz="1400" dirty="0"/>
              <a:t>, </a:t>
            </a:r>
            <a:r>
              <a:rPr lang="en-US" sz="1400" dirty="0" err="1"/>
              <a:t>Spannweite</a:t>
            </a:r>
            <a:endParaRPr lang="en-US" sz="1400" dirty="0"/>
          </a:p>
          <a:p>
            <a:r>
              <a:rPr lang="en-US" sz="1400" dirty="0" err="1"/>
              <a:t>Korrelationen</a:t>
            </a:r>
            <a:r>
              <a:rPr lang="en-US" sz="1400" dirty="0"/>
              <a:t> &amp; </a:t>
            </a:r>
            <a:r>
              <a:rPr lang="en-US" sz="1400" dirty="0" err="1"/>
              <a:t>Kreuztabellen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Datenvisualisierung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Klassische</a:t>
            </a:r>
            <a:r>
              <a:rPr lang="en-US" sz="1400" dirty="0"/>
              <a:t> </a:t>
            </a:r>
            <a:r>
              <a:rPr lang="en-US" sz="1400" dirty="0" err="1"/>
              <a:t>Diagramme</a:t>
            </a:r>
            <a:r>
              <a:rPr lang="en-US" sz="1400" dirty="0"/>
              <a:t>; </a:t>
            </a:r>
            <a:r>
              <a:rPr lang="en-US" sz="1400" dirty="0" err="1"/>
              <a:t>Balkendiagramm</a:t>
            </a:r>
            <a:r>
              <a:rPr lang="en-US" sz="1400" dirty="0"/>
              <a:t>, </a:t>
            </a:r>
            <a:r>
              <a:rPr lang="en-US" sz="1400" dirty="0" err="1"/>
              <a:t>Histogramm</a:t>
            </a:r>
            <a:r>
              <a:rPr lang="en-US" sz="1400" dirty="0"/>
              <a:t>, Boxplot, </a:t>
            </a:r>
            <a:r>
              <a:rPr lang="en-US" sz="1400" dirty="0" err="1"/>
              <a:t>Liniendiagramm</a:t>
            </a:r>
            <a:r>
              <a:rPr lang="en-US" sz="1400" dirty="0"/>
              <a:t>, </a:t>
            </a:r>
            <a:r>
              <a:rPr lang="en-US" sz="1400" dirty="0" err="1"/>
              <a:t>Streudiagramm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Interaktive</a:t>
            </a:r>
            <a:r>
              <a:rPr lang="en-US" sz="1400" dirty="0"/>
              <a:t> Charts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Analytics-Workflow &amp; Integration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Strukturierter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Mini-</a:t>
            </a:r>
            <a:r>
              <a:rPr lang="en-US" sz="1400" dirty="0" err="1"/>
              <a:t>Fallbeispiele</a:t>
            </a:r>
            <a:r>
              <a:rPr lang="en-US" sz="1400" dirty="0"/>
              <a:t> </a:t>
            </a:r>
            <a:r>
              <a:rPr lang="en-US" sz="1400" dirty="0" err="1"/>
              <a:t>mit</a:t>
            </a:r>
            <a:r>
              <a:rPr lang="en-US" sz="1400" dirty="0"/>
              <a:t> </a:t>
            </a:r>
            <a:r>
              <a:rPr lang="en-US" sz="1400" dirty="0" err="1"/>
              <a:t>allen</a:t>
            </a:r>
            <a:r>
              <a:rPr lang="en-US" sz="1400" dirty="0"/>
              <a:t> </a:t>
            </a:r>
            <a:r>
              <a:rPr lang="en-US" sz="1400" dirty="0" err="1"/>
              <a:t>vorherigen</a:t>
            </a:r>
            <a:r>
              <a:rPr lang="en-US" sz="1400" dirty="0"/>
              <a:t> </a:t>
            </a:r>
            <a:r>
              <a:rPr lang="en-US" sz="1400" dirty="0" err="1"/>
              <a:t>Schritten</a:t>
            </a:r>
            <a:endParaRPr lang="en-US" sz="1400" dirty="0"/>
          </a:p>
          <a:p>
            <a:endParaRPr lang="en-US" sz="1400" dirty="0"/>
          </a:p>
          <a:p>
            <a:pPr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Capstone End-to-End Projekt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Vollständige Analyse von der Fragestellung bis zur Präsentation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Alle erlernten Schritte anwenden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Ergebnisse präsentieren &amp; diskutieren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A6950-109D-6924-5D77-32AA072B8DCF}"/>
              </a:ext>
            </a:extLst>
          </p:cNvPr>
          <p:cNvSpPr txBox="1"/>
          <p:nvPr/>
        </p:nvSpPr>
        <p:spPr>
          <a:xfrm>
            <a:off x="2493169" y="272534"/>
            <a:ext cx="6920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/>
              <a:t>Methodische</a:t>
            </a:r>
            <a:r>
              <a:rPr lang="en-US" sz="2800" b="1" dirty="0"/>
              <a:t> </a:t>
            </a:r>
            <a:r>
              <a:rPr lang="en-US" sz="2800" b="1" dirty="0" err="1"/>
              <a:t>Grundlagen</a:t>
            </a:r>
            <a:r>
              <a:rPr lang="en-US" sz="2800" b="1" dirty="0"/>
              <a:t> der </a:t>
            </a:r>
            <a:r>
              <a:rPr lang="en-US" sz="2800" b="1" dirty="0" err="1"/>
              <a:t>Datenanalyse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9405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20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3574</TotalTime>
  <Words>1206</Words>
  <Application>Microsoft Office PowerPoint</Application>
  <PresentationFormat>Widescreen</PresentationFormat>
  <Paragraphs>184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Datenanalyse Data Analysis</vt:lpstr>
      <vt:lpstr>Datenanalyse Data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20</cp:revision>
  <dcterms:created xsi:type="dcterms:W3CDTF">2026-02-20T09:06:58Z</dcterms:created>
  <dcterms:modified xsi:type="dcterms:W3CDTF">2026-02-22T20:45:09Z</dcterms:modified>
</cp:coreProperties>
</file>