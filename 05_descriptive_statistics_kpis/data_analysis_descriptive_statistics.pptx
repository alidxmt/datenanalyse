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2"/>
  </p:notesMasterIdLst>
  <p:sldIdLst>
    <p:sldId id="261" r:id="rId2"/>
    <p:sldId id="264" r:id="rId3"/>
    <p:sldId id="260" r:id="rId4"/>
    <p:sldId id="281" r:id="rId5"/>
    <p:sldId id="286" r:id="rId6"/>
    <p:sldId id="287" r:id="rId7"/>
    <p:sldId id="282" r:id="rId8"/>
    <p:sldId id="283" r:id="rId9"/>
    <p:sldId id="285" r:id="rId10"/>
    <p:sldId id="280" r:id="rId11"/>
  </p:sldIdLst>
  <p:sldSz cx="12192000" cy="6858000"/>
  <p:notesSz cx="6858000" cy="9144000"/>
  <p:defaultTextStyle>
    <a:defPPr>
      <a:defRPr lang="LID4096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9933"/>
    <a:srgbClr val="009999"/>
    <a:srgbClr val="336699"/>
    <a:srgbClr val="FFC000"/>
    <a:srgbClr val="993300"/>
    <a:srgbClr val="339966"/>
    <a:srgbClr val="3366CC"/>
    <a:srgbClr val="0066CC"/>
    <a:srgbClr val="CC99FF"/>
    <a:srgbClr val="FF505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987" autoAdjust="0"/>
    <p:restoredTop sz="66192" autoAdjust="0"/>
  </p:normalViewPr>
  <p:slideViewPr>
    <p:cSldViewPr snapToGrid="0">
      <p:cViewPr varScale="1">
        <p:scale>
          <a:sx n="60" d="100"/>
          <a:sy n="60" d="100"/>
        </p:scale>
        <p:origin x="72" y="4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LID4096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29EF45C-B4A1-4048-BF7F-D1617E8131EB}" type="datetimeFigureOut">
              <a:rPr lang="LID4096" smtClean="0"/>
              <a:t>02/27/2026</a:t>
            </a:fld>
            <a:endParaRPr lang="LID4096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LID4096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LID4096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0C2D7CD-EEF3-4145-A484-A9D67FF727B1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33914230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LID4096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0C2D7CD-EEF3-4145-A484-A9D67FF727B1}" type="slidenum">
              <a:rPr lang="LID4096" smtClean="0"/>
              <a:t>1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81142998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B0741A-758B-58F3-9547-075B3114E2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D3DA989-6CC3-9A30-67EF-C7AE6795286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854EED0-94D8-B606-57B5-3AB1ECD84DB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F218964-E0E9-3EB6-75FC-8AC710386C4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0C2D7CD-EEF3-4145-A484-A9D67FF727B1}" type="slidenum">
              <a:rPr lang="LID4096" smtClean="0"/>
              <a:t>2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75972013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0C2D7CD-EEF3-4145-A484-A9D67FF727B1}" type="slidenum">
              <a:rPr lang="LID4096" smtClean="0"/>
              <a:t>3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24845373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F6D6D0-D2F4-862D-CE1C-64128AFFB5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8CE2BB6-EEE0-863E-E6CB-0D1A4E53A09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6EECB26-72B7-0AD4-5DE8-18DAD384441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AE2111E-8A84-158C-4D15-06469604BCA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0C2D7CD-EEF3-4145-A484-A9D67FF727B1}" type="slidenum">
              <a:rPr lang="LID4096" smtClean="0"/>
              <a:t>4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37077740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F239BF-2618-C457-9D91-B606971DC6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8BCDD7C-4CD5-D1F2-F637-5CFCD9745EF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DEC7755-71A2-87FB-1093-D33B3E019CE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"A value X is more representative than Y if, when I randomly select one value from the dataset, and repeat this process multiple times, X on average deviates less from the dataset than Y.“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"X is more representative than Y if it is, on average, closer to the values of the dataset than Y when repeatedly sampling."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01D188C-ED38-0FEB-8EBC-1B5D173A028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0C2D7CD-EEF3-4145-A484-A9D67FF727B1}" type="slidenum">
              <a:rPr lang="LID4096" smtClean="0"/>
              <a:t>5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96317926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D77A8F-5EBC-A83E-A6D8-EF7917556A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3E7CBE3-4728-8CBF-3E0B-48C8B042844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59EB670-0178-9DA6-79BE-8CC00C0CE26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"A value X is more representative than Y if, when I randomly select one value from the dataset, and repeat this process multiple times, X on average deviates less from the dataset than Y.“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"X is more representative than Y if it is, on average, closer to the values of the dataset than Y when repeatedly sampling."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496D48F-F0DF-E283-23CA-188DA530870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0C2D7CD-EEF3-4145-A484-A9D67FF727B1}" type="slidenum">
              <a:rPr lang="LID4096" smtClean="0"/>
              <a:t>6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20646233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86CFE4-C7AD-862F-7BC9-CC98AFF2AC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13C9B2E-ACFA-6B9C-BC2A-798900C3F29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1519828-0AF4-4289-1B3D-2E6641626A1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Bevor wir analysieren oder ein Model trainieren, müssen wir sicherstellen, dass unsere Daten verlässlich sind. Schlechte Daten führen automatisch zu schlechten Ergebnissen. Data Quality ist keine Option, sondern eine Voraussetzung.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0A3D414-05C1-756C-C326-725DFA14964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0C2D7CD-EEF3-4145-A484-A9D67FF727B1}" type="slidenum">
              <a:rPr lang="LID4096" smtClean="0"/>
              <a:t>7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59528657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0E2B7F-A949-F9F9-89C9-38C25F2A36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7133E59-D6F4-95C8-67EB-4EA9CC07927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DE5A426-80D9-C512-355D-B66C577D5CF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Bevor wir analysieren oder ein Model trainieren, müssen wir sicherstellen, dass unsere Daten verlässlich sind. Schlechte Daten führen automatisch zu schlechten Ergebnissen. Data Quality ist keine Option, sondern eine Voraussetzung.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4682562-9641-D188-46D7-19D4029B86D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0C2D7CD-EEF3-4145-A484-A9D67FF727B1}" type="slidenum">
              <a:rPr lang="LID4096" smtClean="0"/>
              <a:t>8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68158444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1E67A5-75EC-16C5-A186-1835DB540E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17D20DD-CD9E-04B1-8693-56F81413C3B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A363CCF-BAB1-58A4-5B2E-386F198B76F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Bevor wir analysieren oder ein Model trainieren, müssen wir sicherstellen, dass unsere Daten verlässlich sind. Schlechte Daten führen automatisch zu schlechten Ergebnissen. Data Quality ist keine Option, sondern eine Voraussetzung.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D328FF8-B7F0-FD2B-0295-634AFA5E75E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0C2D7CD-EEF3-4145-A484-A9D67FF727B1}" type="slidenum">
              <a:rPr lang="LID4096" smtClean="0"/>
              <a:t>9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64741593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5F4EF4-34F0-39CD-4990-B4FD238371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FC8D2A7-EF2A-ED76-48CA-D4E86D6C03B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9BB5485-83CD-4ADC-788C-3012DA67A60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Bevor wir analysieren oder ein Model trainieren, müssen wir sicherstellen, dass unsere Daten verlässlich sind. Schlechte Daten führen automatisch zu schlechten Ergebnissen. Data Quality ist keine Option, sondern eine Voraussetzung.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9926DFF-682A-F89C-8456-81E256D8F32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0C2D7CD-EEF3-4145-A484-A9D67FF727B1}" type="slidenum">
              <a:rPr lang="LID4096" smtClean="0"/>
              <a:t>10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17313933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929595-AE29-8F78-6250-FE6DBB183C8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5FB830E-06C9-E616-457D-0469587FD36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25EFBF3-5437-9432-6F3C-E9696BAED8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5A3FF9-0028-4556-8BB5-EE36D45F941B}" type="datetimeFigureOut">
              <a:rPr lang="LID4096" smtClean="0"/>
              <a:t>02/27/2026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CB8D0A7-A4B8-8D6A-B20D-D4EED41F26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CD5C235-37A2-169F-89F1-6CEEDE742C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60C1A5-03DE-470F-9F9D-57755EEE9BEE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46381561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4B3155-3098-3396-23EF-4D00FB95E2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C07B2B4-2744-4FA6-1DCE-04083BE85C3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11AA7CE-1D79-8F9E-2161-29793B3BEC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5A3FF9-0028-4556-8BB5-EE36D45F941B}" type="datetimeFigureOut">
              <a:rPr lang="LID4096" smtClean="0"/>
              <a:t>02/27/2026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B9907A2-F4AA-C22D-91E7-6BACD48B7D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F7D31A0-F851-DC6F-6FAE-179D6AAB09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60C1A5-03DE-470F-9F9D-57755EEE9BEE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44898801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32BBF6-43C8-1202-C842-3AEB0A7926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A0E51AA-9DDF-9B9E-C7A3-804260F6168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636152C-741A-690F-95E2-4CEEA150FA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5A3FF9-0028-4556-8BB5-EE36D45F941B}" type="datetimeFigureOut">
              <a:rPr lang="LID4096" smtClean="0"/>
              <a:t>02/27/2026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F3A4312-5CEF-0E6E-F0FC-2158396D81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68BCB96-F2F1-AD45-314A-F5DA656280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60C1A5-03DE-470F-9F9D-57755EEE9BEE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2720849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E98164-1E83-B846-266B-64E7E0347D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6F46D78-13A3-57B9-A9E6-4C101CB19A3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FE8BB16-6D83-DE01-79A2-554AB22AF1E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73EB16E-8897-8C72-0C20-5DC3F49B6A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5A3FF9-0028-4556-8BB5-EE36D45F941B}" type="datetimeFigureOut">
              <a:rPr lang="LID4096" smtClean="0"/>
              <a:t>02/27/2026</a:t>
            </a:fld>
            <a:endParaRPr lang="LID4096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5438E4E-E4C2-594D-0EE2-5C3B7396D5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92E9FD8-C8E1-4BD4-A517-B0ADD51597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60C1A5-03DE-470F-9F9D-57755EEE9BEE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792003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916434-7761-D029-FB66-4F80A49D20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1BCFE8E-4227-8C0A-BD8C-41F2C2A454E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B8F3CFA-B49D-50D6-2E0E-49392FCB214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94E9783-D65C-C0F6-AABC-EF1ECF7CC01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CDFE071-5FD8-2DB5-E332-AC4CDBA99EC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B52764CB-223F-2456-6217-BD105CBD3C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5A3FF9-0028-4556-8BB5-EE36D45F941B}" type="datetimeFigureOut">
              <a:rPr lang="LID4096" smtClean="0"/>
              <a:t>02/27/2026</a:t>
            </a:fld>
            <a:endParaRPr lang="LID4096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2D3798B-ECD3-32E9-9B74-6D761E3AA5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DE2443F-87BD-CFD1-8A4C-CA0D911EBE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60C1A5-03DE-470F-9F9D-57755EEE9BEE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66171348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17B514-5C0F-91C8-9086-96E98E2BA4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3467521-6441-49DD-657C-A9F9ECCEBC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5A3FF9-0028-4556-8BB5-EE36D45F941B}" type="datetimeFigureOut">
              <a:rPr lang="LID4096" smtClean="0"/>
              <a:t>02/27/2026</a:t>
            </a:fld>
            <a:endParaRPr lang="LID4096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729684F-ADC5-40EE-29F5-352B32B7C5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067310E-84BC-1668-4738-8C6506C2FB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60C1A5-03DE-470F-9F9D-57755EEE9BEE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33273003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5B1DE42-EFFF-52A5-9069-2558A06069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5A3FF9-0028-4556-8BB5-EE36D45F941B}" type="datetimeFigureOut">
              <a:rPr lang="LID4096" smtClean="0"/>
              <a:t>02/27/2026</a:t>
            </a:fld>
            <a:endParaRPr lang="LID4096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A36EE09-01B8-5E7D-A9AC-ECED38920B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A683AEB-9C93-CF86-D334-CE30895D05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60C1A5-03DE-470F-9F9D-57755EEE9BEE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65140363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E63A1B-8068-C274-CEAF-492A5CC6B1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8BADB75-B5C7-6302-3091-FF95734906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FC3D8E1-0759-B964-DB0B-A80FF1603C1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768116D-4DFE-FAC6-4C4B-A53BD3CFDD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5A3FF9-0028-4556-8BB5-EE36D45F941B}" type="datetimeFigureOut">
              <a:rPr lang="LID4096" smtClean="0"/>
              <a:t>02/27/2026</a:t>
            </a:fld>
            <a:endParaRPr lang="LID4096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0CF31FB-ED89-D4B0-A7DA-C57424FED6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8EEBD40-61C2-7E15-336F-F34935FD78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60C1A5-03DE-470F-9F9D-57755EEE9BEE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63047932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F610F3-140C-EFEB-F2FA-739E5E7D7B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DEE401B-004D-0780-B8E4-3F1FB20EABE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LID4096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43150E9-B00B-0542-A850-0B34BE69F10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08DC802-98E2-7466-6330-337163929D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5A3FF9-0028-4556-8BB5-EE36D45F941B}" type="datetimeFigureOut">
              <a:rPr lang="LID4096" smtClean="0"/>
              <a:t>02/27/2026</a:t>
            </a:fld>
            <a:endParaRPr lang="LID4096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1BEB337-7B9A-EE26-F59D-F3FBC68BD3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2A4C702-6F8D-DDAE-83A4-E9A2ADCE21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60C1A5-03DE-470F-9F9D-57755EEE9BEE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19038589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830964-B1E6-1C1B-491D-8D87B53070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BAA3D5C-B633-CC1B-AA44-E499C1CBEBA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82A48F7-B899-0EA5-94AE-D4B3533A64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5A3FF9-0028-4556-8BB5-EE36D45F941B}" type="datetimeFigureOut">
              <a:rPr lang="LID4096" smtClean="0"/>
              <a:t>02/27/2026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FC3F8E2-1843-33D6-C8C9-6A5720DFF2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89F2A81-7DFE-29D5-C375-A137C25558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60C1A5-03DE-470F-9F9D-57755EEE9BEE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86360288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AA90F015-E7EA-2A69-6323-A3EB90C827F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13ACB86-CF84-A074-9A1F-2F408DD4E09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B830080-38B2-3A79-5209-5EEE297BD2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5A3FF9-0028-4556-8BB5-EE36D45F941B}" type="datetimeFigureOut">
              <a:rPr lang="LID4096" smtClean="0"/>
              <a:t>02/27/2026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60CF3C8-BDA0-EBA1-09D5-D77B02FE46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BAC075F-0BE7-8E63-5582-D8F0FED4BA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60C1A5-03DE-470F-9F9D-57755EEE9BEE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75565761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BC28348-1E0F-4158-DFB4-4EF9E0692A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B552730-C780-711F-8EC9-A46588BC7BC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19E76EE-5EE3-0069-FE21-07534E8C34B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F5A3FF9-0028-4556-8BB5-EE36D45F941B}" type="datetimeFigureOut">
              <a:rPr lang="LID4096" smtClean="0"/>
              <a:t>02/27/2026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A7AFFDE-209F-EABB-F557-E838A5D21E5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E654F25-00E5-EC11-F2EE-A05BD6D651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D60C1A5-03DE-470F-9F9D-57755EEE9BEE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3194699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LID4096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sv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12" Type="http://schemas.openxmlformats.org/officeDocument/2006/relationships/image" Target="../media/image10.sv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svg"/><Relationship Id="rId11" Type="http://schemas.openxmlformats.org/officeDocument/2006/relationships/image" Target="../media/image9.png"/><Relationship Id="rId5" Type="http://schemas.openxmlformats.org/officeDocument/2006/relationships/image" Target="../media/image3.png"/><Relationship Id="rId10" Type="http://schemas.openxmlformats.org/officeDocument/2006/relationships/image" Target="../media/image8.svg"/><Relationship Id="rId4" Type="http://schemas.openxmlformats.org/officeDocument/2006/relationships/image" Target="../media/image2.svg"/><Relationship Id="rId9" Type="http://schemas.openxmlformats.org/officeDocument/2006/relationships/image" Target="../media/image7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sv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sv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1.png"/><Relationship Id="rId4" Type="http://schemas.openxmlformats.org/officeDocument/2006/relationships/image" Target="../media/image8.sv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sv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sv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2.png"/><Relationship Id="rId4" Type="http://schemas.openxmlformats.org/officeDocument/2006/relationships/image" Target="../media/image8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4C98E5-5A49-760C-EC35-E81E4300AD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177685-C07F-EFB7-72F1-1422DCA0C095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sz="8000" b="1" dirty="0" err="1">
                <a:solidFill>
                  <a:schemeClr val="accent1">
                    <a:lumMod val="75000"/>
                  </a:schemeClr>
                </a:solidFill>
              </a:rPr>
              <a:t>Datenanalyse</a:t>
            </a:r>
            <a:br>
              <a:rPr lang="en-US" sz="8000" b="1" dirty="0">
                <a:solidFill>
                  <a:schemeClr val="accent1">
                    <a:lumMod val="75000"/>
                  </a:schemeClr>
                </a:solidFill>
              </a:rPr>
            </a:br>
            <a:r>
              <a:rPr lang="en-US" sz="2400" b="1" dirty="0"/>
              <a:t>Data Analysis</a:t>
            </a:r>
            <a:endParaRPr lang="LID4096" sz="8000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498E596-E0F4-E60F-E73A-05489C07A5D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989213"/>
          </a:xfrm>
        </p:spPr>
        <p:txBody>
          <a:bodyPr>
            <a:normAutofit fontScale="47500" lnSpcReduction="20000"/>
          </a:bodyPr>
          <a:lstStyle/>
          <a:p>
            <a:br>
              <a:rPr lang="en-US" sz="3600" b="1" dirty="0"/>
            </a:br>
            <a:r>
              <a:rPr lang="en-US" sz="12600" b="1" dirty="0" err="1"/>
              <a:t>Grundlagen</a:t>
            </a:r>
            <a:endParaRPr lang="LID4096" sz="3600" b="1" dirty="0"/>
          </a:p>
        </p:txBody>
      </p:sp>
    </p:spTree>
    <p:extLst>
      <p:ext uri="{BB962C8B-B14F-4D97-AF65-F5344CB8AC3E}">
        <p14:creationId xmlns:p14="http://schemas.microsoft.com/office/powerpoint/2010/main" val="211217541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F06911-A5E2-6F03-201D-9F3FC9B111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TextBox 21">
            <a:extLst>
              <a:ext uri="{FF2B5EF4-FFF2-40B4-BE49-F238E27FC236}">
                <a16:creationId xmlns:a16="http://schemas.microsoft.com/office/drawing/2014/main" id="{0AAC8A20-FCDD-73E8-BA54-E9DE3D1863F8}"/>
              </a:ext>
            </a:extLst>
          </p:cNvPr>
          <p:cNvSpPr txBox="1"/>
          <p:nvPr/>
        </p:nvSpPr>
        <p:spPr>
          <a:xfrm>
            <a:off x="2493169" y="272534"/>
            <a:ext cx="6920462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b="1" dirty="0" err="1"/>
              <a:t>Methodische</a:t>
            </a:r>
            <a:r>
              <a:rPr lang="en-US" sz="2800" b="1" dirty="0"/>
              <a:t> </a:t>
            </a:r>
            <a:r>
              <a:rPr lang="en-US" sz="2800" b="1" dirty="0" err="1"/>
              <a:t>Grundlagen</a:t>
            </a:r>
            <a:r>
              <a:rPr lang="en-US" sz="2800" b="1" dirty="0"/>
              <a:t> der </a:t>
            </a:r>
            <a:r>
              <a:rPr lang="en-US" sz="2800" b="1" dirty="0" err="1"/>
              <a:t>Datenanalyse</a:t>
            </a:r>
            <a:endParaRPr lang="LID4096" sz="2800" dirty="0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E7056EDA-F70E-5862-5364-54C75A7BDA07}"/>
              </a:ext>
            </a:extLst>
          </p:cNvPr>
          <p:cNvSpPr txBox="1"/>
          <p:nvPr/>
        </p:nvSpPr>
        <p:spPr>
          <a:xfrm>
            <a:off x="10803467" y="47193"/>
            <a:ext cx="12998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The process</a:t>
            </a:r>
            <a:endParaRPr lang="LID4096" dirty="0"/>
          </a:p>
        </p:txBody>
      </p:sp>
      <p:sp>
        <p:nvSpPr>
          <p:cNvPr id="30" name="Rectangle: Rounded Corners 29">
            <a:extLst>
              <a:ext uri="{FF2B5EF4-FFF2-40B4-BE49-F238E27FC236}">
                <a16:creationId xmlns:a16="http://schemas.microsoft.com/office/drawing/2014/main" id="{401BBE8A-38DE-BEAC-0233-05229AC7506A}"/>
              </a:ext>
            </a:extLst>
          </p:cNvPr>
          <p:cNvSpPr/>
          <p:nvPr/>
        </p:nvSpPr>
        <p:spPr>
          <a:xfrm>
            <a:off x="496213" y="1024616"/>
            <a:ext cx="2067374" cy="4833257"/>
          </a:xfrm>
          <a:prstGeom prst="roundRect">
            <a:avLst/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pic>
        <p:nvPicPr>
          <p:cNvPr id="31" name="Graphic 30" descr="Question mark">
            <a:extLst>
              <a:ext uri="{FF2B5EF4-FFF2-40B4-BE49-F238E27FC236}">
                <a16:creationId xmlns:a16="http://schemas.microsoft.com/office/drawing/2014/main" id="{70393C53-2048-FE4C-CE55-054342C6130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72700" y="1455763"/>
            <a:ext cx="914400" cy="914400"/>
          </a:xfrm>
          <a:prstGeom prst="rect">
            <a:avLst/>
          </a:prstGeom>
        </p:spPr>
      </p:pic>
      <p:sp>
        <p:nvSpPr>
          <p:cNvPr id="32" name="TextBox 31">
            <a:extLst>
              <a:ext uri="{FF2B5EF4-FFF2-40B4-BE49-F238E27FC236}">
                <a16:creationId xmlns:a16="http://schemas.microsoft.com/office/drawing/2014/main" id="{847A8AEF-C94D-DFBC-0EEC-8A5BF4A02607}"/>
              </a:ext>
            </a:extLst>
          </p:cNvPr>
          <p:cNvSpPr txBox="1"/>
          <p:nvPr/>
        </p:nvSpPr>
        <p:spPr>
          <a:xfrm>
            <a:off x="776675" y="2512330"/>
            <a:ext cx="1506450" cy="273921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b="1" dirty="0" err="1"/>
              <a:t>Fragestellung</a:t>
            </a:r>
            <a:endParaRPr lang="en-US" sz="1600" b="1" dirty="0"/>
          </a:p>
          <a:p>
            <a:endParaRPr lang="en-US" sz="1600" dirty="0"/>
          </a:p>
          <a:p>
            <a:pPr algn="ctr"/>
            <a:r>
              <a:rPr lang="de-DE" sz="1400" dirty="0"/>
              <a:t>Festlegung des Problems</a:t>
            </a:r>
          </a:p>
          <a:p>
            <a:pPr algn="ctr"/>
            <a:endParaRPr lang="de-DE" sz="1400" dirty="0"/>
          </a:p>
          <a:p>
            <a:pPr algn="ctr"/>
            <a:r>
              <a:rPr lang="en-US" sz="1400" dirty="0" err="1"/>
              <a:t>Bestimmung</a:t>
            </a:r>
            <a:r>
              <a:rPr lang="en-US" sz="1400" dirty="0"/>
              <a:t> der </a:t>
            </a:r>
            <a:r>
              <a:rPr lang="en-US" sz="1400" dirty="0" err="1"/>
              <a:t>relevanten</a:t>
            </a:r>
            <a:r>
              <a:rPr lang="en-US" sz="1400" dirty="0"/>
              <a:t> </a:t>
            </a:r>
            <a:r>
              <a:rPr lang="en-US" sz="1400" dirty="0" err="1"/>
              <a:t>Kennzahlen</a:t>
            </a:r>
            <a:endParaRPr lang="en-US" sz="1400" dirty="0"/>
          </a:p>
          <a:p>
            <a:pPr algn="ctr"/>
            <a:endParaRPr lang="en-US" sz="1400" dirty="0"/>
          </a:p>
          <a:p>
            <a:pPr algn="ctr"/>
            <a:r>
              <a:rPr lang="en-US" sz="1400" dirty="0"/>
              <a:t>Was </a:t>
            </a:r>
            <a:r>
              <a:rPr lang="en-US" sz="1400" dirty="0" err="1"/>
              <a:t>treibt</a:t>
            </a:r>
            <a:r>
              <a:rPr lang="en-US" sz="1400" dirty="0"/>
              <a:t> die Kunden </a:t>
            </a:r>
            <a:r>
              <a:rPr lang="en-US" sz="1400" dirty="0" err="1"/>
              <a:t>zufriedenheit</a:t>
            </a:r>
            <a:r>
              <a:rPr lang="en-US" sz="1400" dirty="0"/>
              <a:t>?</a:t>
            </a:r>
            <a:endParaRPr lang="LID4096" sz="1400" dirty="0"/>
          </a:p>
        </p:txBody>
      </p:sp>
      <p:sp>
        <p:nvSpPr>
          <p:cNvPr id="33" name="Rectangle: Rounded Corners 32">
            <a:extLst>
              <a:ext uri="{FF2B5EF4-FFF2-40B4-BE49-F238E27FC236}">
                <a16:creationId xmlns:a16="http://schemas.microsoft.com/office/drawing/2014/main" id="{E4294CBF-CC7D-A6AD-1FA6-99B8EDA354E3}"/>
              </a:ext>
            </a:extLst>
          </p:cNvPr>
          <p:cNvSpPr/>
          <p:nvPr/>
        </p:nvSpPr>
        <p:spPr>
          <a:xfrm>
            <a:off x="2771466" y="1024616"/>
            <a:ext cx="2067374" cy="4833257"/>
          </a:xfrm>
          <a:prstGeom prst="roundRect">
            <a:avLst/>
          </a:prstGeom>
          <a:solidFill>
            <a:schemeClr val="accent1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grpSp>
        <p:nvGrpSpPr>
          <p:cNvPr id="34" name="Group 33">
            <a:extLst>
              <a:ext uri="{FF2B5EF4-FFF2-40B4-BE49-F238E27FC236}">
                <a16:creationId xmlns:a16="http://schemas.microsoft.com/office/drawing/2014/main" id="{DDCB6697-0643-8D84-F464-D9CF5FBF1E6D}"/>
              </a:ext>
            </a:extLst>
          </p:cNvPr>
          <p:cNvGrpSpPr/>
          <p:nvPr/>
        </p:nvGrpSpPr>
        <p:grpSpPr>
          <a:xfrm>
            <a:off x="2802728" y="1455763"/>
            <a:ext cx="2004850" cy="3118670"/>
            <a:chOff x="2521648" y="1455763"/>
            <a:chExt cx="2004850" cy="3118670"/>
          </a:xfrm>
        </p:grpSpPr>
        <p:pic>
          <p:nvPicPr>
            <p:cNvPr id="35" name="Graphic 34" descr="Database">
              <a:extLst>
                <a:ext uri="{FF2B5EF4-FFF2-40B4-BE49-F238E27FC236}">
                  <a16:creationId xmlns:a16="http://schemas.microsoft.com/office/drawing/2014/main" id="{377AE0B0-9940-D905-D8CF-6929A0FB9394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3066873" y="1455763"/>
              <a:ext cx="914400" cy="914400"/>
            </a:xfrm>
            <a:prstGeom prst="rect">
              <a:avLst/>
            </a:prstGeom>
          </p:spPr>
        </p:pic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1BB8D6E9-DBC5-4B58-5AE5-3D747D84E715}"/>
                </a:ext>
              </a:extLst>
            </p:cNvPr>
            <p:cNvSpPr txBox="1"/>
            <p:nvPr/>
          </p:nvSpPr>
          <p:spPr>
            <a:xfrm>
              <a:off x="2521648" y="2512330"/>
              <a:ext cx="2004850" cy="206210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1600" b="1" dirty="0"/>
                <a:t>Erhebung</a:t>
              </a:r>
            </a:p>
            <a:p>
              <a:pPr algn="ctr"/>
              <a:endParaRPr lang="de-DE" sz="1400" dirty="0"/>
            </a:p>
            <a:p>
              <a:pPr algn="ctr"/>
              <a:r>
                <a:rPr lang="de-DE" sz="1400" dirty="0"/>
                <a:t>Sammlung von Daten</a:t>
              </a:r>
            </a:p>
            <a:p>
              <a:pPr algn="ctr"/>
              <a:r>
                <a:rPr lang="de-DE" sz="1400" dirty="0"/>
                <a:t>Datenbanken, APIs, Web </a:t>
              </a:r>
              <a:r>
                <a:rPr lang="de-DE" sz="1400" dirty="0" err="1"/>
                <a:t>Scraping</a:t>
              </a:r>
              <a:endParaRPr lang="de-DE" sz="1400" dirty="0"/>
            </a:p>
            <a:p>
              <a:pPr algn="ctr"/>
              <a:endParaRPr lang="de-DE" sz="1400" dirty="0"/>
            </a:p>
            <a:p>
              <a:pPr algn="ctr"/>
              <a:r>
                <a:rPr lang="en-US" sz="1400" dirty="0" err="1"/>
                <a:t>Produktbewertungen</a:t>
              </a:r>
              <a:endParaRPr lang="en-US" sz="1400" dirty="0"/>
            </a:p>
            <a:p>
              <a:pPr algn="ctr"/>
              <a:r>
                <a:rPr lang="en-US" sz="1400" dirty="0" err="1"/>
                <a:t>Lieferzeiten</a:t>
              </a:r>
              <a:endParaRPr lang="en-US" sz="1400" dirty="0"/>
            </a:p>
            <a:p>
              <a:pPr algn="ctr"/>
              <a:r>
                <a:rPr lang="en-US" sz="1400" dirty="0" err="1"/>
                <a:t>Preise</a:t>
              </a:r>
              <a:r>
                <a:rPr lang="en-US" sz="1400" dirty="0"/>
                <a:t> &amp; </a:t>
              </a:r>
              <a:r>
                <a:rPr lang="en-US" sz="1400" dirty="0" err="1"/>
                <a:t>Rabatte</a:t>
              </a:r>
              <a:endParaRPr lang="en-US" sz="1400" dirty="0"/>
            </a:p>
          </p:txBody>
        </p:sp>
      </p:grpSp>
      <p:sp>
        <p:nvSpPr>
          <p:cNvPr id="37" name="Rectangle: Rounded Corners 36">
            <a:extLst>
              <a:ext uri="{FF2B5EF4-FFF2-40B4-BE49-F238E27FC236}">
                <a16:creationId xmlns:a16="http://schemas.microsoft.com/office/drawing/2014/main" id="{DC560BAA-B555-E917-2DD2-B086E3B94B85}"/>
              </a:ext>
            </a:extLst>
          </p:cNvPr>
          <p:cNvSpPr/>
          <p:nvPr/>
        </p:nvSpPr>
        <p:spPr>
          <a:xfrm>
            <a:off x="5046719" y="1024616"/>
            <a:ext cx="2067374" cy="4833257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pic>
        <p:nvPicPr>
          <p:cNvPr id="38" name="Graphic 37" descr="Checklist">
            <a:extLst>
              <a:ext uri="{FF2B5EF4-FFF2-40B4-BE49-F238E27FC236}">
                <a16:creationId xmlns:a16="http://schemas.microsoft.com/office/drawing/2014/main" id="{79C85BAC-7E8F-C2D3-D0F2-2AC9C669E99D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5623206" y="1455763"/>
            <a:ext cx="914400" cy="914400"/>
          </a:xfrm>
          <a:prstGeom prst="rect">
            <a:avLst/>
          </a:prstGeom>
        </p:spPr>
      </p:pic>
      <p:sp>
        <p:nvSpPr>
          <p:cNvPr id="39" name="TextBox 38">
            <a:extLst>
              <a:ext uri="{FF2B5EF4-FFF2-40B4-BE49-F238E27FC236}">
                <a16:creationId xmlns:a16="http://schemas.microsoft.com/office/drawing/2014/main" id="{D865E7A7-88CE-7122-773F-13AD1D10BABF}"/>
              </a:ext>
            </a:extLst>
          </p:cNvPr>
          <p:cNvSpPr txBox="1"/>
          <p:nvPr/>
        </p:nvSpPr>
        <p:spPr>
          <a:xfrm>
            <a:off x="5077981" y="2512330"/>
            <a:ext cx="2004850" cy="24929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600" b="1" dirty="0"/>
              <a:t>Vorbereitung</a:t>
            </a:r>
          </a:p>
          <a:p>
            <a:pPr algn="ctr"/>
            <a:endParaRPr lang="de-DE" sz="1400" dirty="0"/>
          </a:p>
          <a:p>
            <a:pPr algn="ctr"/>
            <a:r>
              <a:rPr lang="de-DE" sz="1400" dirty="0"/>
              <a:t>Bereinigung Fehlende Werte oder unvollständiger Daten</a:t>
            </a:r>
          </a:p>
          <a:p>
            <a:pPr algn="ctr"/>
            <a:endParaRPr lang="de-DE" sz="1400" dirty="0"/>
          </a:p>
          <a:p>
            <a:pPr algn="ctr"/>
            <a:r>
              <a:rPr lang="de-DE" sz="1400" dirty="0"/>
              <a:t>Transformation und </a:t>
            </a:r>
            <a:r>
              <a:rPr lang="de-DE" sz="1400" dirty="0" err="1"/>
              <a:t>strukturierung</a:t>
            </a:r>
            <a:r>
              <a:rPr lang="de-DE" sz="1400" dirty="0"/>
              <a:t> der Rohdaten</a:t>
            </a:r>
          </a:p>
          <a:p>
            <a:pPr algn="ctr"/>
            <a:endParaRPr lang="de-DE" sz="1400" dirty="0"/>
          </a:p>
          <a:p>
            <a:pPr algn="ctr"/>
            <a:r>
              <a:rPr lang="de-DE" sz="1400" dirty="0" err="1"/>
              <a:t>Z.b.</a:t>
            </a:r>
            <a:r>
              <a:rPr lang="de-DE" sz="1400" dirty="0"/>
              <a:t> EUR, USD</a:t>
            </a:r>
          </a:p>
        </p:txBody>
      </p:sp>
      <p:sp>
        <p:nvSpPr>
          <p:cNvPr id="40" name="Rectangle: Rounded Corners 39">
            <a:extLst>
              <a:ext uri="{FF2B5EF4-FFF2-40B4-BE49-F238E27FC236}">
                <a16:creationId xmlns:a16="http://schemas.microsoft.com/office/drawing/2014/main" id="{EA26673D-789D-538C-7ECF-BD249C0457C8}"/>
              </a:ext>
            </a:extLst>
          </p:cNvPr>
          <p:cNvSpPr/>
          <p:nvPr/>
        </p:nvSpPr>
        <p:spPr>
          <a:xfrm>
            <a:off x="7321972" y="1012371"/>
            <a:ext cx="2067374" cy="4833257"/>
          </a:xfrm>
          <a:prstGeom prst="roundRect">
            <a:avLst/>
          </a:prstGeom>
          <a:solidFill>
            <a:srgbClr val="9999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pic>
        <p:nvPicPr>
          <p:cNvPr id="41" name="Graphic 40" descr="Research">
            <a:extLst>
              <a:ext uri="{FF2B5EF4-FFF2-40B4-BE49-F238E27FC236}">
                <a16:creationId xmlns:a16="http://schemas.microsoft.com/office/drawing/2014/main" id="{4C8FF617-5522-CDB4-5692-99C9F3C2E433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7898459" y="1455763"/>
            <a:ext cx="914400" cy="914400"/>
          </a:xfrm>
          <a:prstGeom prst="rect">
            <a:avLst/>
          </a:prstGeom>
        </p:spPr>
      </p:pic>
      <p:sp>
        <p:nvSpPr>
          <p:cNvPr id="42" name="TextBox 41">
            <a:extLst>
              <a:ext uri="{FF2B5EF4-FFF2-40B4-BE49-F238E27FC236}">
                <a16:creationId xmlns:a16="http://schemas.microsoft.com/office/drawing/2014/main" id="{CE527BC7-284B-088A-B0F0-AA3F210C7BC0}"/>
              </a:ext>
            </a:extLst>
          </p:cNvPr>
          <p:cNvSpPr txBox="1"/>
          <p:nvPr/>
        </p:nvSpPr>
        <p:spPr>
          <a:xfrm>
            <a:off x="7353234" y="2512330"/>
            <a:ext cx="2004850" cy="24929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600" b="1" dirty="0"/>
              <a:t>Analyse</a:t>
            </a:r>
          </a:p>
          <a:p>
            <a:pPr algn="ctr"/>
            <a:endParaRPr lang="de-DE" sz="1400" dirty="0"/>
          </a:p>
          <a:p>
            <a:pPr algn="ctr"/>
            <a:r>
              <a:rPr lang="en-US" sz="1400" dirty="0" err="1"/>
              <a:t>Statistische</a:t>
            </a:r>
            <a:r>
              <a:rPr lang="en-US" sz="1400" dirty="0"/>
              <a:t> </a:t>
            </a:r>
            <a:r>
              <a:rPr lang="en-US" sz="1400" dirty="0" err="1"/>
              <a:t>Auswertung</a:t>
            </a:r>
            <a:r>
              <a:rPr lang="en-US" sz="1400" dirty="0"/>
              <a:t> </a:t>
            </a:r>
          </a:p>
          <a:p>
            <a:pPr algn="ctr"/>
            <a:endParaRPr lang="de-DE" sz="1400" dirty="0"/>
          </a:p>
          <a:p>
            <a:pPr algn="ctr"/>
            <a:r>
              <a:rPr lang="de-DE" sz="1400" dirty="0"/>
              <a:t>Korrelationen</a:t>
            </a:r>
          </a:p>
          <a:p>
            <a:pPr algn="ctr"/>
            <a:endParaRPr lang="de-DE" sz="1400" dirty="0"/>
          </a:p>
          <a:p>
            <a:pPr algn="ctr"/>
            <a:r>
              <a:rPr lang="de-DE" sz="1400" dirty="0"/>
              <a:t>Mustererkennung</a:t>
            </a:r>
          </a:p>
          <a:p>
            <a:pPr algn="ctr"/>
            <a:endParaRPr lang="de-DE" sz="1400" dirty="0"/>
          </a:p>
          <a:p>
            <a:pPr algn="ctr"/>
            <a:r>
              <a:rPr lang="de-DE" sz="1400" dirty="0"/>
              <a:t>Anwendung von Modellen zur</a:t>
            </a:r>
          </a:p>
          <a:p>
            <a:pPr algn="ctr"/>
            <a:r>
              <a:rPr lang="de-DE" sz="1400" dirty="0"/>
              <a:t>Erkenntnisgewinnung</a:t>
            </a:r>
            <a:endParaRPr lang="LID4096" sz="1400" dirty="0"/>
          </a:p>
        </p:txBody>
      </p:sp>
      <p:sp>
        <p:nvSpPr>
          <p:cNvPr id="43" name="Rectangle: Rounded Corners 42">
            <a:extLst>
              <a:ext uri="{FF2B5EF4-FFF2-40B4-BE49-F238E27FC236}">
                <a16:creationId xmlns:a16="http://schemas.microsoft.com/office/drawing/2014/main" id="{7FDBEC20-9558-8F71-ED61-2146B97FF8FF}"/>
              </a:ext>
            </a:extLst>
          </p:cNvPr>
          <p:cNvSpPr/>
          <p:nvPr/>
        </p:nvSpPr>
        <p:spPr>
          <a:xfrm>
            <a:off x="9597223" y="1024616"/>
            <a:ext cx="2067374" cy="4833257"/>
          </a:xfrm>
          <a:prstGeom prst="roundRect">
            <a:avLst/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pic>
        <p:nvPicPr>
          <p:cNvPr id="44" name="Graphic 43" descr="Share">
            <a:extLst>
              <a:ext uri="{FF2B5EF4-FFF2-40B4-BE49-F238E27FC236}">
                <a16:creationId xmlns:a16="http://schemas.microsoft.com/office/drawing/2014/main" id="{0598B757-8FCB-68A3-4E22-C1A5B19FC18D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0173710" y="1455763"/>
            <a:ext cx="914400" cy="914400"/>
          </a:xfrm>
          <a:prstGeom prst="rect">
            <a:avLst/>
          </a:prstGeom>
        </p:spPr>
      </p:pic>
      <p:sp>
        <p:nvSpPr>
          <p:cNvPr id="45" name="TextBox 44">
            <a:extLst>
              <a:ext uri="{FF2B5EF4-FFF2-40B4-BE49-F238E27FC236}">
                <a16:creationId xmlns:a16="http://schemas.microsoft.com/office/drawing/2014/main" id="{359A93B4-76D7-0305-9872-2FCEBF929737}"/>
              </a:ext>
            </a:extLst>
          </p:cNvPr>
          <p:cNvSpPr txBox="1"/>
          <p:nvPr/>
        </p:nvSpPr>
        <p:spPr>
          <a:xfrm>
            <a:off x="9628485" y="2512330"/>
            <a:ext cx="2004850" cy="22775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600" b="1" dirty="0"/>
              <a:t>Teilen</a:t>
            </a:r>
          </a:p>
          <a:p>
            <a:pPr algn="ctr"/>
            <a:endParaRPr lang="de-DE" sz="1400" dirty="0"/>
          </a:p>
          <a:p>
            <a:pPr algn="ctr"/>
            <a:r>
              <a:rPr lang="de-DE" sz="1400" dirty="0"/>
              <a:t>Berichte</a:t>
            </a:r>
          </a:p>
          <a:p>
            <a:pPr algn="ctr"/>
            <a:endParaRPr lang="de-DE" sz="1400" dirty="0"/>
          </a:p>
          <a:p>
            <a:pPr algn="ctr"/>
            <a:r>
              <a:rPr lang="de-DE" sz="1400" dirty="0"/>
              <a:t>Präsentationen</a:t>
            </a:r>
          </a:p>
          <a:p>
            <a:pPr algn="ctr"/>
            <a:endParaRPr lang="de-DE" sz="1400" dirty="0"/>
          </a:p>
          <a:p>
            <a:pPr algn="ctr"/>
            <a:r>
              <a:rPr lang="en-US" sz="1400" dirty="0"/>
              <a:t>Storytelling </a:t>
            </a:r>
            <a:r>
              <a:rPr lang="en-US" sz="1400" dirty="0" err="1"/>
              <a:t>mit</a:t>
            </a:r>
            <a:r>
              <a:rPr lang="en-US" sz="1400" dirty="0"/>
              <a:t> Daten</a:t>
            </a:r>
          </a:p>
          <a:p>
            <a:pPr algn="ctr"/>
            <a:endParaRPr lang="en-US" sz="1400" dirty="0"/>
          </a:p>
          <a:p>
            <a:pPr algn="ctr"/>
            <a:r>
              <a:rPr lang="en-US" sz="1400" dirty="0"/>
              <a:t>Klare </a:t>
            </a:r>
            <a:r>
              <a:rPr lang="en-US" sz="1400" dirty="0" err="1"/>
              <a:t>Empfehlungen</a:t>
            </a:r>
            <a:r>
              <a:rPr lang="en-US" sz="1400" dirty="0"/>
              <a:t> </a:t>
            </a:r>
            <a:r>
              <a:rPr lang="en-US" sz="1400" dirty="0" err="1"/>
              <a:t>geben</a:t>
            </a:r>
            <a:endParaRPr lang="LID4096" sz="1400" dirty="0"/>
          </a:p>
        </p:txBody>
      </p:sp>
    </p:spTree>
    <p:extLst>
      <p:ext uri="{BB962C8B-B14F-4D97-AF65-F5344CB8AC3E}">
        <p14:creationId xmlns:p14="http://schemas.microsoft.com/office/powerpoint/2010/main" val="383615021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TextBox 17">
            <a:extLst>
              <a:ext uri="{FF2B5EF4-FFF2-40B4-BE49-F238E27FC236}">
                <a16:creationId xmlns:a16="http://schemas.microsoft.com/office/drawing/2014/main" id="{524F6DF1-AF8B-B5EC-EC2F-2A121854376C}"/>
              </a:ext>
            </a:extLst>
          </p:cNvPr>
          <p:cNvSpPr txBox="1"/>
          <p:nvPr/>
        </p:nvSpPr>
        <p:spPr>
          <a:xfrm>
            <a:off x="358375" y="1490503"/>
            <a:ext cx="6096680" cy="42473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de-DE" sz="1400" b="1" dirty="0">
                <a:solidFill>
                  <a:schemeClr val="accent5">
                    <a:lumMod val="75000"/>
                  </a:schemeClr>
                </a:solidFill>
              </a:rPr>
              <a:t>Setup, Daten &amp; Datentypen</a:t>
            </a:r>
            <a:endParaRPr lang="de-DE" sz="1400" dirty="0">
              <a:solidFill>
                <a:schemeClr val="accent5">
                  <a:lumMod val="75000"/>
                </a:schemeClr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sz="1400" dirty="0"/>
              <a:t>Python, </a:t>
            </a:r>
            <a:r>
              <a:rPr lang="de-DE" sz="1400" dirty="0" err="1"/>
              <a:t>Jupyter</a:t>
            </a:r>
            <a:r>
              <a:rPr lang="de-DE" sz="1400" dirty="0"/>
              <a:t> Notebook, Bibliotheken installieren, </a:t>
            </a:r>
            <a:r>
              <a:rPr lang="de-DE" sz="1400" dirty="0" err="1"/>
              <a:t>VSCode</a:t>
            </a:r>
            <a:endParaRPr lang="de-DE" sz="14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 err="1"/>
              <a:t>Arbeiten</a:t>
            </a:r>
            <a:r>
              <a:rPr lang="en-US" sz="1400" dirty="0"/>
              <a:t> </a:t>
            </a:r>
            <a:r>
              <a:rPr lang="en-US" sz="1400" dirty="0" err="1"/>
              <a:t>mit</a:t>
            </a:r>
            <a:r>
              <a:rPr lang="en-US" sz="1400" dirty="0"/>
              <a:t> </a:t>
            </a:r>
            <a:r>
              <a:rPr lang="en-US" sz="1400" dirty="0" err="1"/>
              <a:t>Jupyter</a:t>
            </a:r>
            <a:r>
              <a:rPr lang="en-US" sz="1400" dirty="0"/>
              <a:t> | </a:t>
            </a:r>
            <a:r>
              <a:rPr lang="de-DE" sz="1400" dirty="0"/>
              <a:t>Überblick über Datentypen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sz="1400" dirty="0"/>
              <a:t>Data | Information | Dataset</a:t>
            </a:r>
          </a:p>
          <a:p>
            <a:pPr>
              <a:buFont typeface="Arial" panose="020B0604020202020204" pitchFamily="34" charset="0"/>
              <a:buChar char="•"/>
            </a:pPr>
            <a:endParaRPr lang="de-DE" sz="1400" dirty="0"/>
          </a:p>
          <a:p>
            <a:pPr>
              <a:buNone/>
            </a:pPr>
            <a:r>
              <a:rPr lang="de-DE" sz="1400" b="1" dirty="0">
                <a:solidFill>
                  <a:schemeClr val="accent5">
                    <a:lumMod val="75000"/>
                  </a:schemeClr>
                </a:solidFill>
              </a:rPr>
              <a:t>Analyseziele &amp; KPIs definieren</a:t>
            </a:r>
            <a:endParaRPr lang="de-DE" sz="1400" dirty="0">
              <a:solidFill>
                <a:schemeClr val="accent5">
                  <a:lumMod val="75000"/>
                </a:schemeClr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sz="1400" dirty="0"/>
              <a:t>Analysefragen &amp; Ziele identifizieren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sz="1400" dirty="0"/>
              <a:t>KPIs mit Geschäftsentscheidungen verknüpfen</a:t>
            </a:r>
          </a:p>
          <a:p>
            <a:pPr>
              <a:buFont typeface="Arial" panose="020B0604020202020204" pitchFamily="34" charset="0"/>
              <a:buChar char="•"/>
            </a:pPr>
            <a:endParaRPr lang="de-DE" sz="1400" dirty="0"/>
          </a:p>
          <a:p>
            <a:pPr>
              <a:buNone/>
            </a:pPr>
            <a:r>
              <a:rPr lang="de-DE" sz="1400" b="1" dirty="0">
                <a:solidFill>
                  <a:schemeClr val="accent5">
                    <a:lumMod val="75000"/>
                  </a:schemeClr>
                </a:solidFill>
              </a:rPr>
              <a:t>Datenerhebung &amp; Datenqualität</a:t>
            </a:r>
            <a:endParaRPr lang="de-DE" sz="1400" dirty="0">
              <a:solidFill>
                <a:schemeClr val="accent5">
                  <a:lumMod val="75000"/>
                </a:schemeClr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sz="1400" dirty="0"/>
              <a:t>Daten sammeln: APIs, lokale Dateien, unstrukturierte Daten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sz="1400" dirty="0"/>
              <a:t>Vollständigkeit, Genauigkeit, Konsistenz prüfen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sz="1400" dirty="0"/>
              <a:t>Daten laden &amp; inspizieren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sz="1400" dirty="0"/>
              <a:t>Fehlende Werte, Duplikate, Format prüfen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de-DE" sz="1400" dirty="0"/>
          </a:p>
          <a:p>
            <a:pPr>
              <a:buNone/>
            </a:pPr>
            <a:r>
              <a:rPr lang="de-DE" sz="1400" b="1" dirty="0">
                <a:solidFill>
                  <a:schemeClr val="accent5">
                    <a:lumMod val="75000"/>
                  </a:schemeClr>
                </a:solidFill>
              </a:rPr>
              <a:t>Datenbereinigung &amp; -vorbereitung</a:t>
            </a:r>
            <a:endParaRPr lang="de-DE" sz="1400" dirty="0">
              <a:solidFill>
                <a:schemeClr val="accent5">
                  <a:lumMod val="75000"/>
                </a:schemeClr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sz="1400" dirty="0"/>
              <a:t>Fehlende/falsche Werte korrigieren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sz="1400" dirty="0"/>
              <a:t>Formate standardisieren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sz="1400" dirty="0"/>
              <a:t>Variablen für Analyse transformieren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88DBAAF1-C0D6-B182-1588-C698583090A2}"/>
              </a:ext>
            </a:extLst>
          </p:cNvPr>
          <p:cNvSpPr txBox="1"/>
          <p:nvPr/>
        </p:nvSpPr>
        <p:spPr>
          <a:xfrm>
            <a:off x="5950910" y="1490503"/>
            <a:ext cx="6096680" cy="46166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400" b="1" dirty="0" err="1">
                <a:solidFill>
                  <a:schemeClr val="accent5">
                    <a:lumMod val="75000"/>
                  </a:schemeClr>
                </a:solidFill>
              </a:rPr>
              <a:t>Datenmodellierung</a:t>
            </a:r>
            <a:r>
              <a:rPr lang="en-US" sz="1400" b="1" dirty="0">
                <a:solidFill>
                  <a:schemeClr val="accent5">
                    <a:lumMod val="75000"/>
                  </a:schemeClr>
                </a:solidFill>
              </a:rPr>
              <a:t> &amp; Aggregation</a:t>
            </a:r>
            <a:endParaRPr lang="en-US" sz="1400" dirty="0">
              <a:solidFill>
                <a:schemeClr val="accent5">
                  <a:lumMod val="75000"/>
                </a:schemeClr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Daten in </a:t>
            </a:r>
            <a:r>
              <a:rPr lang="en-US" sz="1400" dirty="0" err="1"/>
              <a:t>Tabellen</a:t>
            </a:r>
            <a:r>
              <a:rPr lang="en-US" sz="1400" dirty="0"/>
              <a:t> &amp; </a:t>
            </a:r>
            <a:r>
              <a:rPr lang="en-US" sz="1400" dirty="0" err="1"/>
              <a:t>Beziehungen</a:t>
            </a:r>
            <a:r>
              <a:rPr lang="en-US" sz="1400" dirty="0"/>
              <a:t> </a:t>
            </a:r>
            <a:r>
              <a:rPr lang="en-US" sz="1400" dirty="0" err="1"/>
              <a:t>organisieren</a:t>
            </a:r>
            <a:endParaRPr lang="en-US" sz="14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Feature Engineering &amp; </a:t>
            </a:r>
            <a:r>
              <a:rPr lang="en-US" sz="1400" dirty="0" err="1"/>
              <a:t>Aggregationen</a:t>
            </a:r>
            <a:r>
              <a:rPr lang="en-US" sz="1400" dirty="0"/>
              <a:t> </a:t>
            </a:r>
          </a:p>
          <a:p>
            <a:pPr>
              <a:buFont typeface="Arial" panose="020B0604020202020204" pitchFamily="34" charset="0"/>
              <a:buChar char="•"/>
            </a:pPr>
            <a:endParaRPr lang="en-US" sz="1400" dirty="0"/>
          </a:p>
          <a:p>
            <a:r>
              <a:rPr lang="en-US" sz="1400" b="1" dirty="0" err="1">
                <a:solidFill>
                  <a:schemeClr val="accent5">
                    <a:lumMod val="75000"/>
                  </a:schemeClr>
                </a:solidFill>
              </a:rPr>
              <a:t>Deskriptive</a:t>
            </a:r>
            <a:r>
              <a:rPr lang="en-US" sz="1400" b="1" dirty="0">
                <a:solidFill>
                  <a:schemeClr val="accent5">
                    <a:lumMod val="75000"/>
                  </a:schemeClr>
                </a:solidFill>
              </a:rPr>
              <a:t> </a:t>
            </a:r>
            <a:r>
              <a:rPr lang="en-US" sz="1400" b="1" dirty="0" err="1">
                <a:solidFill>
                  <a:schemeClr val="accent5">
                    <a:lumMod val="75000"/>
                  </a:schemeClr>
                </a:solidFill>
              </a:rPr>
              <a:t>Statistik</a:t>
            </a:r>
            <a:r>
              <a:rPr lang="en-US" sz="1400" b="1" dirty="0">
                <a:solidFill>
                  <a:schemeClr val="accent5">
                    <a:lumMod val="75000"/>
                  </a:schemeClr>
                </a:solidFill>
              </a:rPr>
              <a:t> &amp; KPIs</a:t>
            </a:r>
            <a:endParaRPr lang="en-US" sz="1400" dirty="0">
              <a:solidFill>
                <a:schemeClr val="accent5">
                  <a:lumMod val="75000"/>
                </a:schemeClr>
              </a:solidFill>
            </a:endParaRPr>
          </a:p>
          <a:p>
            <a:r>
              <a:rPr lang="en-US" sz="1400" dirty="0" err="1"/>
              <a:t>Mittelwert</a:t>
            </a:r>
            <a:r>
              <a:rPr lang="en-US" sz="1400" dirty="0"/>
              <a:t>, Median, Modus, </a:t>
            </a:r>
            <a:r>
              <a:rPr lang="en-US" sz="1400" dirty="0" err="1"/>
              <a:t>Standardabweichung</a:t>
            </a:r>
            <a:r>
              <a:rPr lang="en-US" sz="1400" dirty="0"/>
              <a:t>, </a:t>
            </a:r>
            <a:r>
              <a:rPr lang="en-US" sz="1400" dirty="0" err="1"/>
              <a:t>Spannweite</a:t>
            </a:r>
            <a:endParaRPr lang="en-US" sz="1400" dirty="0"/>
          </a:p>
          <a:p>
            <a:r>
              <a:rPr lang="en-US" sz="1400" dirty="0" err="1"/>
              <a:t>Korrelationen</a:t>
            </a:r>
            <a:r>
              <a:rPr lang="en-US" sz="1400" dirty="0"/>
              <a:t> &amp; </a:t>
            </a:r>
            <a:r>
              <a:rPr lang="en-US" sz="1400" dirty="0" err="1"/>
              <a:t>Kreuztabellen</a:t>
            </a:r>
            <a:endParaRPr lang="en-US" sz="1400" dirty="0"/>
          </a:p>
          <a:p>
            <a:endParaRPr lang="en-US" sz="1400" dirty="0"/>
          </a:p>
          <a:p>
            <a:pPr>
              <a:buNone/>
            </a:pPr>
            <a:r>
              <a:rPr lang="en-US" sz="1400" b="1" dirty="0" err="1">
                <a:solidFill>
                  <a:schemeClr val="accent5">
                    <a:lumMod val="75000"/>
                  </a:schemeClr>
                </a:solidFill>
              </a:rPr>
              <a:t>Datenvisualisierung</a:t>
            </a:r>
            <a:endParaRPr lang="en-US" sz="1400" dirty="0">
              <a:solidFill>
                <a:schemeClr val="accent5">
                  <a:lumMod val="75000"/>
                </a:schemeClr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 err="1"/>
              <a:t>Klassische</a:t>
            </a:r>
            <a:r>
              <a:rPr lang="en-US" sz="1400" dirty="0"/>
              <a:t> </a:t>
            </a:r>
            <a:r>
              <a:rPr lang="en-US" sz="1400" dirty="0" err="1"/>
              <a:t>Diagramme</a:t>
            </a:r>
            <a:r>
              <a:rPr lang="en-US" sz="1400" dirty="0"/>
              <a:t>; </a:t>
            </a:r>
            <a:r>
              <a:rPr lang="en-US" sz="1400" dirty="0" err="1"/>
              <a:t>Balkendiagramm</a:t>
            </a:r>
            <a:r>
              <a:rPr lang="en-US" sz="1400" dirty="0"/>
              <a:t>, </a:t>
            </a:r>
            <a:r>
              <a:rPr lang="en-US" sz="1400" dirty="0" err="1"/>
              <a:t>Histogramm</a:t>
            </a:r>
            <a:r>
              <a:rPr lang="en-US" sz="1400" dirty="0"/>
              <a:t>, Boxplot, </a:t>
            </a:r>
            <a:r>
              <a:rPr lang="en-US" sz="1400" dirty="0" err="1"/>
              <a:t>Liniendiagramm</a:t>
            </a:r>
            <a:r>
              <a:rPr lang="en-US" sz="1400" dirty="0"/>
              <a:t>, </a:t>
            </a:r>
            <a:r>
              <a:rPr lang="en-US" sz="1400" dirty="0" err="1"/>
              <a:t>Streudiagramm</a:t>
            </a:r>
            <a:endParaRPr lang="en-US" sz="14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 err="1"/>
              <a:t>Interaktive</a:t>
            </a:r>
            <a:r>
              <a:rPr lang="en-US" sz="1400" dirty="0"/>
              <a:t> Charts</a:t>
            </a:r>
          </a:p>
          <a:p>
            <a:pPr>
              <a:buFont typeface="Arial" panose="020B0604020202020204" pitchFamily="34" charset="0"/>
              <a:buChar char="•"/>
            </a:pPr>
            <a:endParaRPr lang="en-US" sz="1400" dirty="0"/>
          </a:p>
          <a:p>
            <a:pPr>
              <a:buNone/>
            </a:pPr>
            <a:r>
              <a:rPr lang="en-US" sz="1400" b="1" dirty="0">
                <a:solidFill>
                  <a:schemeClr val="accent5">
                    <a:lumMod val="75000"/>
                  </a:schemeClr>
                </a:solidFill>
              </a:rPr>
              <a:t>Analytics-Workflow &amp; Integration</a:t>
            </a:r>
            <a:endParaRPr lang="en-US" sz="1400" dirty="0">
              <a:solidFill>
                <a:schemeClr val="accent5">
                  <a:lumMod val="75000"/>
                </a:schemeClr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Strukturierter Workflow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Mini-</a:t>
            </a:r>
            <a:r>
              <a:rPr lang="en-US" sz="1400" dirty="0" err="1"/>
              <a:t>Fallbeispiele</a:t>
            </a:r>
            <a:r>
              <a:rPr lang="en-US" sz="1400" dirty="0"/>
              <a:t> </a:t>
            </a:r>
            <a:r>
              <a:rPr lang="en-US" sz="1400" dirty="0" err="1"/>
              <a:t>mit</a:t>
            </a:r>
            <a:r>
              <a:rPr lang="en-US" sz="1400" dirty="0"/>
              <a:t> </a:t>
            </a:r>
            <a:r>
              <a:rPr lang="en-US" sz="1400" dirty="0" err="1"/>
              <a:t>allen</a:t>
            </a:r>
            <a:r>
              <a:rPr lang="en-US" sz="1400" dirty="0"/>
              <a:t> </a:t>
            </a:r>
            <a:r>
              <a:rPr lang="en-US" sz="1400" dirty="0" err="1"/>
              <a:t>vorherigen</a:t>
            </a:r>
            <a:r>
              <a:rPr lang="en-US" sz="1400" dirty="0"/>
              <a:t> </a:t>
            </a:r>
            <a:r>
              <a:rPr lang="en-US" sz="1400" dirty="0" err="1"/>
              <a:t>Schritten</a:t>
            </a:r>
            <a:endParaRPr lang="en-US" sz="1400" dirty="0"/>
          </a:p>
          <a:p>
            <a:endParaRPr lang="en-US" sz="1400" dirty="0"/>
          </a:p>
          <a:p>
            <a:pPr>
              <a:buNone/>
            </a:pPr>
            <a:r>
              <a:rPr lang="en-US" sz="1400" b="1" dirty="0">
                <a:solidFill>
                  <a:schemeClr val="accent5">
                    <a:lumMod val="75000"/>
                  </a:schemeClr>
                </a:solidFill>
              </a:rPr>
              <a:t>Capstone End-to-End Projekt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sz="1400" dirty="0"/>
              <a:t>Vollständige Analyse von der Fragestellung bis zur Präsentation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sz="1400" dirty="0"/>
              <a:t>Alle erlernten Schritte anwenden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sz="1400" dirty="0"/>
              <a:t>Ergebnisse präsentieren &amp; diskutieren</a:t>
            </a:r>
            <a:endParaRPr lang="en-US" sz="1400" dirty="0">
              <a:solidFill>
                <a:schemeClr val="accent5">
                  <a:lumMod val="75000"/>
                </a:schemeClr>
              </a:solidFill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B45A6950-109D-6924-5D77-32AA072B8DCF}"/>
              </a:ext>
            </a:extLst>
          </p:cNvPr>
          <p:cNvSpPr txBox="1"/>
          <p:nvPr/>
        </p:nvSpPr>
        <p:spPr>
          <a:xfrm>
            <a:off x="2493169" y="272534"/>
            <a:ext cx="6920462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b="1" dirty="0" err="1"/>
              <a:t>Methodische</a:t>
            </a:r>
            <a:r>
              <a:rPr lang="en-US" sz="2800" b="1" dirty="0"/>
              <a:t> </a:t>
            </a:r>
            <a:r>
              <a:rPr lang="en-US" sz="2800" b="1" dirty="0" err="1"/>
              <a:t>Grundlagen</a:t>
            </a:r>
            <a:r>
              <a:rPr lang="en-US" sz="2800" b="1" dirty="0"/>
              <a:t> der </a:t>
            </a:r>
            <a:r>
              <a:rPr lang="en-US" sz="2800" b="1" dirty="0" err="1"/>
              <a:t>Datenanalyse</a:t>
            </a:r>
            <a:endParaRPr lang="LID4096" sz="2800" dirty="0"/>
          </a:p>
        </p:txBody>
      </p:sp>
    </p:spTree>
    <p:extLst>
      <p:ext uri="{BB962C8B-B14F-4D97-AF65-F5344CB8AC3E}">
        <p14:creationId xmlns:p14="http://schemas.microsoft.com/office/powerpoint/2010/main" val="29405498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BC9FA4-41F4-88F4-294C-581585FB26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TextBox 17">
            <a:extLst>
              <a:ext uri="{FF2B5EF4-FFF2-40B4-BE49-F238E27FC236}">
                <a16:creationId xmlns:a16="http://schemas.microsoft.com/office/drawing/2014/main" id="{AD235E59-2552-ED54-43A9-937D0AFA77A0}"/>
              </a:ext>
            </a:extLst>
          </p:cNvPr>
          <p:cNvSpPr txBox="1"/>
          <p:nvPr/>
        </p:nvSpPr>
        <p:spPr>
          <a:xfrm>
            <a:off x="358375" y="1490503"/>
            <a:ext cx="6096680" cy="42473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de-DE" sz="1400" b="1" dirty="0">
                <a:solidFill>
                  <a:schemeClr val="accent6">
                    <a:lumMod val="75000"/>
                  </a:schemeClr>
                </a:solidFill>
              </a:rPr>
              <a:t>Setup, Daten &amp; Datentypen</a:t>
            </a:r>
            <a:endParaRPr lang="de-DE" sz="1400" dirty="0">
              <a:solidFill>
                <a:schemeClr val="accent6">
                  <a:lumMod val="75000"/>
                </a:schemeClr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sz="1400" dirty="0">
                <a:solidFill>
                  <a:schemeClr val="accent6">
                    <a:lumMod val="75000"/>
                  </a:schemeClr>
                </a:solidFill>
              </a:rPr>
              <a:t>Python, </a:t>
            </a:r>
            <a:r>
              <a:rPr lang="de-DE" sz="1400" dirty="0" err="1">
                <a:solidFill>
                  <a:schemeClr val="accent6">
                    <a:lumMod val="75000"/>
                  </a:schemeClr>
                </a:solidFill>
              </a:rPr>
              <a:t>Jupyter</a:t>
            </a:r>
            <a:r>
              <a:rPr lang="de-DE" sz="1400" dirty="0">
                <a:solidFill>
                  <a:schemeClr val="accent6">
                    <a:lumMod val="75000"/>
                  </a:schemeClr>
                </a:solidFill>
              </a:rPr>
              <a:t> Notebook, Bibliotheken installieren, </a:t>
            </a:r>
            <a:r>
              <a:rPr lang="de-DE" sz="1400" dirty="0" err="1">
                <a:solidFill>
                  <a:schemeClr val="accent6">
                    <a:lumMod val="75000"/>
                  </a:schemeClr>
                </a:solidFill>
              </a:rPr>
              <a:t>VSCode</a:t>
            </a:r>
            <a:endParaRPr lang="de-DE" sz="1400" dirty="0">
              <a:solidFill>
                <a:schemeClr val="accent6">
                  <a:lumMod val="75000"/>
                </a:schemeClr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 err="1">
                <a:solidFill>
                  <a:schemeClr val="accent6">
                    <a:lumMod val="75000"/>
                  </a:schemeClr>
                </a:solidFill>
              </a:rPr>
              <a:t>Arbeiten</a:t>
            </a:r>
            <a:r>
              <a:rPr lang="en-US" sz="1400" dirty="0">
                <a:solidFill>
                  <a:schemeClr val="accent6">
                    <a:lumMod val="75000"/>
                  </a:schemeClr>
                </a:solidFill>
              </a:rPr>
              <a:t> </a:t>
            </a:r>
            <a:r>
              <a:rPr lang="en-US" sz="1400" dirty="0" err="1">
                <a:solidFill>
                  <a:schemeClr val="accent6">
                    <a:lumMod val="75000"/>
                  </a:schemeClr>
                </a:solidFill>
              </a:rPr>
              <a:t>mit</a:t>
            </a:r>
            <a:r>
              <a:rPr lang="en-US" sz="1400" dirty="0">
                <a:solidFill>
                  <a:schemeClr val="accent6">
                    <a:lumMod val="75000"/>
                  </a:schemeClr>
                </a:solidFill>
              </a:rPr>
              <a:t> </a:t>
            </a:r>
            <a:r>
              <a:rPr lang="en-US" sz="1400" dirty="0" err="1">
                <a:solidFill>
                  <a:schemeClr val="accent6">
                    <a:lumMod val="75000"/>
                  </a:schemeClr>
                </a:solidFill>
              </a:rPr>
              <a:t>Jupyter</a:t>
            </a:r>
            <a:r>
              <a:rPr lang="en-US" sz="1400" dirty="0">
                <a:solidFill>
                  <a:schemeClr val="accent6">
                    <a:lumMod val="75000"/>
                  </a:schemeClr>
                </a:solidFill>
              </a:rPr>
              <a:t> | </a:t>
            </a:r>
            <a:r>
              <a:rPr lang="de-DE" sz="1400" dirty="0">
                <a:solidFill>
                  <a:schemeClr val="accent6">
                    <a:lumMod val="75000"/>
                  </a:schemeClr>
                </a:solidFill>
              </a:rPr>
              <a:t>Überblick über Datentypen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sz="1400" dirty="0">
                <a:solidFill>
                  <a:schemeClr val="accent6">
                    <a:lumMod val="75000"/>
                  </a:schemeClr>
                </a:solidFill>
              </a:rPr>
              <a:t>Data | Information | Dataset</a:t>
            </a:r>
          </a:p>
          <a:p>
            <a:pPr>
              <a:buFont typeface="Arial" panose="020B0604020202020204" pitchFamily="34" charset="0"/>
              <a:buChar char="•"/>
            </a:pPr>
            <a:endParaRPr lang="de-DE" sz="1400" dirty="0">
              <a:solidFill>
                <a:schemeClr val="accent6">
                  <a:lumMod val="75000"/>
                </a:schemeClr>
              </a:solidFill>
            </a:endParaRPr>
          </a:p>
          <a:p>
            <a:pPr>
              <a:buNone/>
            </a:pPr>
            <a:r>
              <a:rPr lang="de-DE" sz="1400" b="1" dirty="0">
                <a:solidFill>
                  <a:schemeClr val="accent6">
                    <a:lumMod val="75000"/>
                  </a:schemeClr>
                </a:solidFill>
              </a:rPr>
              <a:t>Analyseziele &amp; KPIs definieren</a:t>
            </a:r>
            <a:endParaRPr lang="de-DE" sz="1400" dirty="0">
              <a:solidFill>
                <a:schemeClr val="accent6">
                  <a:lumMod val="75000"/>
                </a:schemeClr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sz="1400" dirty="0">
                <a:solidFill>
                  <a:schemeClr val="accent6">
                    <a:lumMod val="75000"/>
                  </a:schemeClr>
                </a:solidFill>
              </a:rPr>
              <a:t>Analysefragen &amp; Ziele identifizieren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sz="1400" dirty="0">
                <a:solidFill>
                  <a:schemeClr val="accent6">
                    <a:lumMod val="75000"/>
                  </a:schemeClr>
                </a:solidFill>
              </a:rPr>
              <a:t>KPIs mit Geschäftsentscheidungen verknüpfen</a:t>
            </a:r>
          </a:p>
          <a:p>
            <a:pPr>
              <a:buFont typeface="Arial" panose="020B0604020202020204" pitchFamily="34" charset="0"/>
              <a:buChar char="•"/>
            </a:pPr>
            <a:endParaRPr lang="de-DE" sz="1400" dirty="0">
              <a:solidFill>
                <a:schemeClr val="accent6">
                  <a:lumMod val="75000"/>
                </a:schemeClr>
              </a:solidFill>
            </a:endParaRPr>
          </a:p>
          <a:p>
            <a:pPr>
              <a:buNone/>
            </a:pPr>
            <a:r>
              <a:rPr lang="de-DE" sz="1400" b="1" dirty="0">
                <a:solidFill>
                  <a:schemeClr val="accent6">
                    <a:lumMod val="75000"/>
                  </a:schemeClr>
                </a:solidFill>
              </a:rPr>
              <a:t>Datenerhebung &amp; Datenqualität</a:t>
            </a:r>
            <a:endParaRPr lang="de-DE" sz="1400" dirty="0">
              <a:solidFill>
                <a:schemeClr val="accent6">
                  <a:lumMod val="75000"/>
                </a:schemeClr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sz="1400" dirty="0">
                <a:solidFill>
                  <a:schemeClr val="accent6">
                    <a:lumMod val="75000"/>
                  </a:schemeClr>
                </a:solidFill>
              </a:rPr>
              <a:t>Daten sammeln: APIs, lokale Dateien, unstrukturierte Daten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sz="1400" dirty="0">
                <a:solidFill>
                  <a:schemeClr val="accent6">
                    <a:lumMod val="75000"/>
                  </a:schemeClr>
                </a:solidFill>
              </a:rPr>
              <a:t>Vollständigkeit, Genauigkeit, Konsistenz prüfen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sz="1400" dirty="0">
                <a:solidFill>
                  <a:schemeClr val="accent6">
                    <a:lumMod val="75000"/>
                  </a:schemeClr>
                </a:solidFill>
              </a:rPr>
              <a:t>Daten laden &amp; inspizieren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sz="1400" dirty="0">
                <a:solidFill>
                  <a:schemeClr val="accent6">
                    <a:lumMod val="75000"/>
                  </a:schemeClr>
                </a:solidFill>
              </a:rPr>
              <a:t>Fehlende Werte, Duplikate, Format prüfen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de-DE" sz="1400" dirty="0">
              <a:solidFill>
                <a:schemeClr val="accent6">
                  <a:lumMod val="75000"/>
                </a:schemeClr>
              </a:solidFill>
            </a:endParaRPr>
          </a:p>
          <a:p>
            <a:pPr>
              <a:buNone/>
            </a:pPr>
            <a:r>
              <a:rPr lang="de-DE" sz="1400" b="1" dirty="0">
                <a:solidFill>
                  <a:schemeClr val="accent6">
                    <a:lumMod val="75000"/>
                  </a:schemeClr>
                </a:solidFill>
              </a:rPr>
              <a:t>Datenbereinigung &amp; -vorbereitung</a:t>
            </a:r>
            <a:endParaRPr lang="de-DE" sz="1400" dirty="0">
              <a:solidFill>
                <a:schemeClr val="accent6">
                  <a:lumMod val="75000"/>
                </a:schemeClr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sz="1400" dirty="0">
                <a:solidFill>
                  <a:schemeClr val="accent6">
                    <a:lumMod val="75000"/>
                  </a:schemeClr>
                </a:solidFill>
              </a:rPr>
              <a:t>Fehlende/falsche Werte korrigieren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sz="1400" dirty="0">
                <a:solidFill>
                  <a:schemeClr val="accent6">
                    <a:lumMod val="75000"/>
                  </a:schemeClr>
                </a:solidFill>
              </a:rPr>
              <a:t>Formate standardisieren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sz="1400" dirty="0">
                <a:solidFill>
                  <a:schemeClr val="accent6">
                    <a:lumMod val="75000"/>
                  </a:schemeClr>
                </a:solidFill>
              </a:rPr>
              <a:t>Variablen für Analyse transformieren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24CF3EB5-ED24-30EC-BEED-923666843339}"/>
              </a:ext>
            </a:extLst>
          </p:cNvPr>
          <p:cNvSpPr txBox="1"/>
          <p:nvPr/>
        </p:nvSpPr>
        <p:spPr>
          <a:xfrm>
            <a:off x="5950910" y="1490503"/>
            <a:ext cx="6096680" cy="47089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400" b="1" dirty="0" err="1">
                <a:solidFill>
                  <a:schemeClr val="accent6">
                    <a:lumMod val="75000"/>
                  </a:schemeClr>
                </a:solidFill>
              </a:rPr>
              <a:t>Datenmodellierung</a:t>
            </a:r>
            <a:r>
              <a:rPr lang="en-US" sz="1400" b="1" dirty="0">
                <a:solidFill>
                  <a:schemeClr val="accent6">
                    <a:lumMod val="75000"/>
                  </a:schemeClr>
                </a:solidFill>
              </a:rPr>
              <a:t> &amp; Aggregation</a:t>
            </a:r>
            <a:endParaRPr lang="en-US" sz="1400" dirty="0">
              <a:solidFill>
                <a:schemeClr val="accent6">
                  <a:lumMod val="75000"/>
                </a:schemeClr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chemeClr val="accent6">
                    <a:lumMod val="75000"/>
                  </a:schemeClr>
                </a:solidFill>
              </a:rPr>
              <a:t>Daten in </a:t>
            </a:r>
            <a:r>
              <a:rPr lang="en-US" sz="1400" dirty="0" err="1">
                <a:solidFill>
                  <a:schemeClr val="accent6">
                    <a:lumMod val="75000"/>
                  </a:schemeClr>
                </a:solidFill>
              </a:rPr>
              <a:t>Tabellen</a:t>
            </a:r>
            <a:r>
              <a:rPr lang="en-US" sz="1400" dirty="0">
                <a:solidFill>
                  <a:schemeClr val="accent6">
                    <a:lumMod val="75000"/>
                  </a:schemeClr>
                </a:solidFill>
              </a:rPr>
              <a:t> &amp; </a:t>
            </a:r>
            <a:r>
              <a:rPr lang="en-US" sz="1400" dirty="0" err="1">
                <a:solidFill>
                  <a:schemeClr val="accent6">
                    <a:lumMod val="75000"/>
                  </a:schemeClr>
                </a:solidFill>
              </a:rPr>
              <a:t>Beziehungen</a:t>
            </a:r>
            <a:r>
              <a:rPr lang="en-US" sz="1400" dirty="0">
                <a:solidFill>
                  <a:schemeClr val="accent6">
                    <a:lumMod val="75000"/>
                  </a:schemeClr>
                </a:solidFill>
              </a:rPr>
              <a:t> </a:t>
            </a:r>
            <a:r>
              <a:rPr lang="en-US" sz="1400" dirty="0" err="1">
                <a:solidFill>
                  <a:schemeClr val="accent6">
                    <a:lumMod val="75000"/>
                  </a:schemeClr>
                </a:solidFill>
              </a:rPr>
              <a:t>organisieren</a:t>
            </a:r>
            <a:endParaRPr lang="en-US" sz="1400" dirty="0">
              <a:solidFill>
                <a:schemeClr val="accent6">
                  <a:lumMod val="75000"/>
                </a:schemeClr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chemeClr val="accent6">
                    <a:lumMod val="75000"/>
                  </a:schemeClr>
                </a:solidFill>
              </a:rPr>
              <a:t>Feature Engineering &amp; </a:t>
            </a:r>
            <a:r>
              <a:rPr lang="en-US" sz="1400" dirty="0" err="1">
                <a:solidFill>
                  <a:schemeClr val="accent6">
                    <a:lumMod val="75000"/>
                  </a:schemeClr>
                </a:solidFill>
              </a:rPr>
              <a:t>Aggregationen</a:t>
            </a:r>
            <a:r>
              <a:rPr lang="en-US" sz="1400" dirty="0">
                <a:solidFill>
                  <a:schemeClr val="accent6">
                    <a:lumMod val="75000"/>
                  </a:schemeClr>
                </a:solidFill>
              </a:rPr>
              <a:t> </a:t>
            </a:r>
          </a:p>
          <a:p>
            <a:pPr>
              <a:buFont typeface="Arial" panose="020B0604020202020204" pitchFamily="34" charset="0"/>
              <a:buChar char="•"/>
            </a:pPr>
            <a:endParaRPr lang="en-US" sz="1400" dirty="0"/>
          </a:p>
          <a:p>
            <a:r>
              <a:rPr lang="en-US" sz="1600" b="1" dirty="0" err="1">
                <a:solidFill>
                  <a:srgbClr val="FF9933"/>
                </a:solidFill>
              </a:rPr>
              <a:t>Deskriptive</a:t>
            </a:r>
            <a:r>
              <a:rPr lang="en-US" sz="1600" b="1" dirty="0">
                <a:solidFill>
                  <a:srgbClr val="FF9933"/>
                </a:solidFill>
              </a:rPr>
              <a:t> </a:t>
            </a:r>
            <a:r>
              <a:rPr lang="en-US" sz="1600" b="1" dirty="0" err="1">
                <a:solidFill>
                  <a:srgbClr val="FF9933"/>
                </a:solidFill>
              </a:rPr>
              <a:t>Statistik</a:t>
            </a:r>
            <a:r>
              <a:rPr lang="en-US" sz="1600" b="1" dirty="0">
                <a:solidFill>
                  <a:srgbClr val="FF9933"/>
                </a:solidFill>
              </a:rPr>
              <a:t> &amp; KPIs</a:t>
            </a:r>
            <a:endParaRPr lang="en-US" sz="1600" dirty="0">
              <a:solidFill>
                <a:srgbClr val="FF9933"/>
              </a:solidFill>
            </a:endParaRPr>
          </a:p>
          <a:p>
            <a:r>
              <a:rPr lang="en-US" sz="1600" dirty="0" err="1"/>
              <a:t>Mittelwert</a:t>
            </a:r>
            <a:r>
              <a:rPr lang="en-US" sz="1600" dirty="0"/>
              <a:t>, Median, Modus, </a:t>
            </a:r>
            <a:r>
              <a:rPr lang="en-US" sz="1600" dirty="0" err="1"/>
              <a:t>Standardabweichung</a:t>
            </a:r>
            <a:r>
              <a:rPr lang="en-US" sz="1600" dirty="0"/>
              <a:t>, </a:t>
            </a:r>
            <a:r>
              <a:rPr lang="en-US" sz="1600" dirty="0" err="1"/>
              <a:t>Spannweite</a:t>
            </a:r>
            <a:endParaRPr lang="en-US" sz="1600" dirty="0"/>
          </a:p>
          <a:p>
            <a:r>
              <a:rPr lang="en-US" sz="1600" dirty="0" err="1"/>
              <a:t>Korrelationen</a:t>
            </a:r>
            <a:r>
              <a:rPr lang="en-US" sz="1600" dirty="0"/>
              <a:t> &amp; </a:t>
            </a:r>
            <a:r>
              <a:rPr lang="en-US" sz="1600" dirty="0" err="1"/>
              <a:t>Kreuztabellen</a:t>
            </a:r>
            <a:endParaRPr lang="en-US" sz="1600" dirty="0"/>
          </a:p>
          <a:p>
            <a:endParaRPr lang="en-US" sz="1400" dirty="0"/>
          </a:p>
          <a:p>
            <a:pPr>
              <a:buNone/>
            </a:pPr>
            <a:r>
              <a:rPr lang="en-US" sz="1400" b="1" dirty="0" err="1">
                <a:solidFill>
                  <a:schemeClr val="bg2">
                    <a:lumMod val="50000"/>
                  </a:schemeClr>
                </a:solidFill>
              </a:rPr>
              <a:t>Datenvisualisierung</a:t>
            </a:r>
            <a:endParaRPr lang="en-US" sz="1400" dirty="0">
              <a:solidFill>
                <a:schemeClr val="bg2">
                  <a:lumMod val="50000"/>
                </a:schemeClr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 err="1">
                <a:solidFill>
                  <a:schemeClr val="bg2">
                    <a:lumMod val="50000"/>
                  </a:schemeClr>
                </a:solidFill>
              </a:rPr>
              <a:t>Klassische</a:t>
            </a:r>
            <a:r>
              <a:rPr lang="en-US" sz="1400" dirty="0">
                <a:solidFill>
                  <a:schemeClr val="bg2">
                    <a:lumMod val="50000"/>
                  </a:schemeClr>
                </a:solidFill>
              </a:rPr>
              <a:t> </a:t>
            </a:r>
            <a:r>
              <a:rPr lang="en-US" sz="1400" dirty="0" err="1">
                <a:solidFill>
                  <a:schemeClr val="bg2">
                    <a:lumMod val="50000"/>
                  </a:schemeClr>
                </a:solidFill>
              </a:rPr>
              <a:t>Diagramme</a:t>
            </a:r>
            <a:r>
              <a:rPr lang="en-US" sz="1400" dirty="0">
                <a:solidFill>
                  <a:schemeClr val="bg2">
                    <a:lumMod val="50000"/>
                  </a:schemeClr>
                </a:solidFill>
              </a:rPr>
              <a:t>; </a:t>
            </a:r>
            <a:r>
              <a:rPr lang="en-US" sz="1400" dirty="0" err="1">
                <a:solidFill>
                  <a:schemeClr val="bg2">
                    <a:lumMod val="50000"/>
                  </a:schemeClr>
                </a:solidFill>
              </a:rPr>
              <a:t>Balkendiagramm</a:t>
            </a:r>
            <a:r>
              <a:rPr lang="en-US" sz="1400" dirty="0">
                <a:solidFill>
                  <a:schemeClr val="bg2">
                    <a:lumMod val="50000"/>
                  </a:schemeClr>
                </a:solidFill>
              </a:rPr>
              <a:t>, </a:t>
            </a:r>
            <a:r>
              <a:rPr lang="en-US" sz="1400" dirty="0" err="1">
                <a:solidFill>
                  <a:schemeClr val="bg2">
                    <a:lumMod val="50000"/>
                  </a:schemeClr>
                </a:solidFill>
              </a:rPr>
              <a:t>Histogramm</a:t>
            </a:r>
            <a:r>
              <a:rPr lang="en-US" sz="1400" dirty="0">
                <a:solidFill>
                  <a:schemeClr val="bg2">
                    <a:lumMod val="50000"/>
                  </a:schemeClr>
                </a:solidFill>
              </a:rPr>
              <a:t>, Boxplot, </a:t>
            </a:r>
            <a:r>
              <a:rPr lang="en-US" sz="1400" dirty="0" err="1">
                <a:solidFill>
                  <a:schemeClr val="bg2">
                    <a:lumMod val="50000"/>
                  </a:schemeClr>
                </a:solidFill>
              </a:rPr>
              <a:t>Liniendiagramm</a:t>
            </a:r>
            <a:r>
              <a:rPr lang="en-US" sz="1400" dirty="0">
                <a:solidFill>
                  <a:schemeClr val="bg2">
                    <a:lumMod val="50000"/>
                  </a:schemeClr>
                </a:solidFill>
              </a:rPr>
              <a:t>, </a:t>
            </a:r>
            <a:r>
              <a:rPr lang="en-US" sz="1400" dirty="0" err="1">
                <a:solidFill>
                  <a:schemeClr val="bg2">
                    <a:lumMod val="50000"/>
                  </a:schemeClr>
                </a:solidFill>
              </a:rPr>
              <a:t>Streudiagramm</a:t>
            </a:r>
            <a:endParaRPr lang="en-US" sz="1400" dirty="0">
              <a:solidFill>
                <a:schemeClr val="bg2">
                  <a:lumMod val="50000"/>
                </a:schemeClr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 err="1">
                <a:solidFill>
                  <a:schemeClr val="bg2">
                    <a:lumMod val="50000"/>
                  </a:schemeClr>
                </a:solidFill>
              </a:rPr>
              <a:t>Interaktive</a:t>
            </a:r>
            <a:r>
              <a:rPr lang="en-US" sz="1400" dirty="0">
                <a:solidFill>
                  <a:schemeClr val="bg2">
                    <a:lumMod val="50000"/>
                  </a:schemeClr>
                </a:solidFill>
              </a:rPr>
              <a:t> Charts</a:t>
            </a:r>
          </a:p>
          <a:p>
            <a:pPr>
              <a:buFont typeface="Arial" panose="020B0604020202020204" pitchFamily="34" charset="0"/>
              <a:buChar char="•"/>
            </a:pPr>
            <a:endParaRPr lang="en-US" sz="1400" dirty="0">
              <a:solidFill>
                <a:schemeClr val="bg2">
                  <a:lumMod val="50000"/>
                </a:schemeClr>
              </a:solidFill>
            </a:endParaRPr>
          </a:p>
          <a:p>
            <a:pPr>
              <a:buNone/>
            </a:pPr>
            <a:r>
              <a:rPr lang="en-US" sz="1400" b="1" dirty="0">
                <a:solidFill>
                  <a:schemeClr val="bg2">
                    <a:lumMod val="50000"/>
                  </a:schemeClr>
                </a:solidFill>
              </a:rPr>
              <a:t>Analytics-Workflow &amp; Integration</a:t>
            </a:r>
            <a:endParaRPr lang="en-US" sz="1400" dirty="0">
              <a:solidFill>
                <a:schemeClr val="bg2">
                  <a:lumMod val="50000"/>
                </a:schemeClr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chemeClr val="bg2">
                    <a:lumMod val="50000"/>
                  </a:schemeClr>
                </a:solidFill>
              </a:rPr>
              <a:t>Strukturierter Workflow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chemeClr val="bg2">
                    <a:lumMod val="50000"/>
                  </a:schemeClr>
                </a:solidFill>
              </a:rPr>
              <a:t>Mini-</a:t>
            </a:r>
            <a:r>
              <a:rPr lang="en-US" sz="1400" dirty="0" err="1">
                <a:solidFill>
                  <a:schemeClr val="bg2">
                    <a:lumMod val="50000"/>
                  </a:schemeClr>
                </a:solidFill>
              </a:rPr>
              <a:t>Fallbeispiele</a:t>
            </a:r>
            <a:r>
              <a:rPr lang="en-US" sz="1400" dirty="0">
                <a:solidFill>
                  <a:schemeClr val="bg2">
                    <a:lumMod val="50000"/>
                  </a:schemeClr>
                </a:solidFill>
              </a:rPr>
              <a:t> </a:t>
            </a:r>
            <a:r>
              <a:rPr lang="en-US" sz="1400" dirty="0" err="1">
                <a:solidFill>
                  <a:schemeClr val="bg2">
                    <a:lumMod val="50000"/>
                  </a:schemeClr>
                </a:solidFill>
              </a:rPr>
              <a:t>mit</a:t>
            </a:r>
            <a:r>
              <a:rPr lang="en-US" sz="1400" dirty="0">
                <a:solidFill>
                  <a:schemeClr val="bg2">
                    <a:lumMod val="50000"/>
                  </a:schemeClr>
                </a:solidFill>
              </a:rPr>
              <a:t> </a:t>
            </a:r>
            <a:r>
              <a:rPr lang="en-US" sz="1400" dirty="0" err="1">
                <a:solidFill>
                  <a:schemeClr val="bg2">
                    <a:lumMod val="50000"/>
                  </a:schemeClr>
                </a:solidFill>
              </a:rPr>
              <a:t>allen</a:t>
            </a:r>
            <a:r>
              <a:rPr lang="en-US" sz="1400" dirty="0">
                <a:solidFill>
                  <a:schemeClr val="bg2">
                    <a:lumMod val="50000"/>
                  </a:schemeClr>
                </a:solidFill>
              </a:rPr>
              <a:t> </a:t>
            </a:r>
            <a:r>
              <a:rPr lang="en-US" sz="1400" dirty="0" err="1">
                <a:solidFill>
                  <a:schemeClr val="bg2">
                    <a:lumMod val="50000"/>
                  </a:schemeClr>
                </a:solidFill>
              </a:rPr>
              <a:t>vorherigen</a:t>
            </a:r>
            <a:r>
              <a:rPr lang="en-US" sz="1400" dirty="0">
                <a:solidFill>
                  <a:schemeClr val="bg2">
                    <a:lumMod val="50000"/>
                  </a:schemeClr>
                </a:solidFill>
              </a:rPr>
              <a:t> </a:t>
            </a:r>
            <a:r>
              <a:rPr lang="en-US" sz="1400" dirty="0" err="1">
                <a:solidFill>
                  <a:schemeClr val="bg2">
                    <a:lumMod val="50000"/>
                  </a:schemeClr>
                </a:solidFill>
              </a:rPr>
              <a:t>Schritten</a:t>
            </a:r>
            <a:endParaRPr lang="en-US" sz="1400" dirty="0">
              <a:solidFill>
                <a:schemeClr val="bg2">
                  <a:lumMod val="50000"/>
                </a:schemeClr>
              </a:solidFill>
            </a:endParaRPr>
          </a:p>
          <a:p>
            <a:endParaRPr lang="en-US" sz="1400" dirty="0">
              <a:solidFill>
                <a:schemeClr val="bg2">
                  <a:lumMod val="50000"/>
                </a:schemeClr>
              </a:solidFill>
            </a:endParaRPr>
          </a:p>
          <a:p>
            <a:pPr>
              <a:buNone/>
            </a:pPr>
            <a:r>
              <a:rPr lang="en-US" sz="1400" b="1" dirty="0">
                <a:solidFill>
                  <a:schemeClr val="bg2">
                    <a:lumMod val="50000"/>
                  </a:schemeClr>
                </a:solidFill>
              </a:rPr>
              <a:t>Capstone End-to-End Projekt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sz="1400" dirty="0">
                <a:solidFill>
                  <a:schemeClr val="bg2">
                    <a:lumMod val="50000"/>
                  </a:schemeClr>
                </a:solidFill>
              </a:rPr>
              <a:t>Vollständige Analyse von der Fragestellung bis zur Präsentation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sz="1400" dirty="0">
                <a:solidFill>
                  <a:schemeClr val="bg2">
                    <a:lumMod val="50000"/>
                  </a:schemeClr>
                </a:solidFill>
              </a:rPr>
              <a:t>Alle erlernten Schritte anwenden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sz="1400" dirty="0">
                <a:solidFill>
                  <a:schemeClr val="bg2">
                    <a:lumMod val="50000"/>
                  </a:schemeClr>
                </a:solidFill>
              </a:rPr>
              <a:t>Ergebnisse präsentieren &amp; diskutieren</a:t>
            </a:r>
            <a:endParaRPr lang="en-US" sz="1400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770F3F48-1ADF-1153-E69E-047C833FAC72}"/>
              </a:ext>
            </a:extLst>
          </p:cNvPr>
          <p:cNvSpPr txBox="1"/>
          <p:nvPr/>
        </p:nvSpPr>
        <p:spPr>
          <a:xfrm>
            <a:off x="2493169" y="272534"/>
            <a:ext cx="6920462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b="1" dirty="0" err="1"/>
              <a:t>Methodische</a:t>
            </a:r>
            <a:r>
              <a:rPr lang="en-US" sz="2800" b="1" dirty="0"/>
              <a:t> </a:t>
            </a:r>
            <a:r>
              <a:rPr lang="en-US" sz="2800" b="1" dirty="0" err="1"/>
              <a:t>Grundlagen</a:t>
            </a:r>
            <a:r>
              <a:rPr lang="en-US" sz="2800" b="1" dirty="0"/>
              <a:t> der </a:t>
            </a:r>
            <a:r>
              <a:rPr lang="en-US" sz="2800" b="1" dirty="0" err="1"/>
              <a:t>Datenanalyse</a:t>
            </a:r>
            <a:endParaRPr lang="LID4096" sz="2800" dirty="0"/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C0664748-5797-6CF8-68A4-FA9290CD6F1B}"/>
              </a:ext>
            </a:extLst>
          </p:cNvPr>
          <p:cNvSpPr/>
          <p:nvPr/>
        </p:nvSpPr>
        <p:spPr>
          <a:xfrm>
            <a:off x="5730475" y="2191761"/>
            <a:ext cx="5737625" cy="1046739"/>
          </a:xfrm>
          <a:prstGeom prst="roundRect">
            <a:avLst/>
          </a:prstGeom>
          <a:noFill/>
          <a:ln w="3175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 dirty="0"/>
          </a:p>
        </p:txBody>
      </p:sp>
    </p:spTree>
    <p:extLst>
      <p:ext uri="{BB962C8B-B14F-4D97-AF65-F5344CB8AC3E}">
        <p14:creationId xmlns:p14="http://schemas.microsoft.com/office/powerpoint/2010/main" val="328568635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6E5BA4-A7B8-ECE0-9DD6-5895BFFA2C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6D7FF911-75F1-6CF4-7647-9BF769A2352A}"/>
              </a:ext>
            </a:extLst>
          </p:cNvPr>
          <p:cNvSpPr/>
          <p:nvPr/>
        </p:nvSpPr>
        <p:spPr>
          <a:xfrm>
            <a:off x="883072" y="1126671"/>
            <a:ext cx="2067374" cy="4833257"/>
          </a:xfrm>
          <a:prstGeom prst="roundRect">
            <a:avLst/>
          </a:prstGeom>
          <a:solidFill>
            <a:srgbClr val="9999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pic>
        <p:nvPicPr>
          <p:cNvPr id="3" name="Graphic 2" descr="Research">
            <a:extLst>
              <a:ext uri="{FF2B5EF4-FFF2-40B4-BE49-F238E27FC236}">
                <a16:creationId xmlns:a16="http://schemas.microsoft.com/office/drawing/2014/main" id="{ED97073E-4087-3C9E-F656-F669F9C3801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459559" y="1570063"/>
            <a:ext cx="914400" cy="9144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00B0EE23-FD6A-5E99-342A-7D807E549D85}"/>
              </a:ext>
            </a:extLst>
          </p:cNvPr>
          <p:cNvSpPr txBox="1"/>
          <p:nvPr/>
        </p:nvSpPr>
        <p:spPr>
          <a:xfrm>
            <a:off x="914334" y="2626630"/>
            <a:ext cx="2004850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2400" b="1" dirty="0">
                <a:solidFill>
                  <a:srgbClr val="FF9933"/>
                </a:solidFill>
              </a:rPr>
              <a:t>Analyse</a:t>
            </a:r>
          </a:p>
          <a:p>
            <a:pPr algn="ctr"/>
            <a:endParaRPr lang="de-DE" sz="1400" dirty="0"/>
          </a:p>
          <a:p>
            <a:pPr algn="ctr"/>
            <a:r>
              <a:rPr lang="en-US" sz="1400" dirty="0" err="1"/>
              <a:t>Statistische</a:t>
            </a:r>
            <a:r>
              <a:rPr lang="en-US" sz="1400" dirty="0"/>
              <a:t> </a:t>
            </a:r>
            <a:r>
              <a:rPr lang="en-US" sz="1400" dirty="0" err="1"/>
              <a:t>Auswertung</a:t>
            </a:r>
            <a:r>
              <a:rPr lang="en-US" sz="1400" dirty="0"/>
              <a:t> </a:t>
            </a:r>
          </a:p>
          <a:p>
            <a:pPr algn="ctr"/>
            <a:endParaRPr lang="de-DE" sz="1400" dirty="0"/>
          </a:p>
          <a:p>
            <a:pPr algn="ctr"/>
            <a:endParaRPr lang="LID4096" sz="14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74F1C15-32DF-DBC6-7323-E15A034C04F0}"/>
              </a:ext>
            </a:extLst>
          </p:cNvPr>
          <p:cNvSpPr txBox="1"/>
          <p:nvPr/>
        </p:nvSpPr>
        <p:spPr>
          <a:xfrm>
            <a:off x="4276299" y="876606"/>
            <a:ext cx="7032629" cy="56323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 err="1"/>
              <a:t>Lageparameter</a:t>
            </a:r>
            <a:r>
              <a:rPr lang="en-US" b="1" dirty="0"/>
              <a:t> (</a:t>
            </a:r>
            <a:r>
              <a:rPr lang="en-US" b="1" dirty="0" err="1"/>
              <a:t>Maße</a:t>
            </a:r>
            <a:r>
              <a:rPr lang="en-US" b="1" dirty="0"/>
              <a:t> der </a:t>
            </a:r>
            <a:r>
              <a:rPr lang="en-US" b="1" dirty="0" err="1"/>
              <a:t>zentralen</a:t>
            </a:r>
            <a:r>
              <a:rPr lang="en-US" b="1" dirty="0"/>
              <a:t> Tendenz)</a:t>
            </a:r>
          </a:p>
          <a:p>
            <a:endParaRPr lang="en-US" b="1" dirty="0"/>
          </a:p>
          <a:p>
            <a:r>
              <a:rPr lang="de-DE" dirty="0"/>
              <a:t>Welche Zahl zeigt eine Liste von Zahlen am besten an?</a:t>
            </a:r>
          </a:p>
          <a:p>
            <a:r>
              <a:rPr lang="en-US" dirty="0"/>
              <a:t>[3,4,5]</a:t>
            </a:r>
          </a:p>
          <a:p>
            <a:endParaRPr lang="en-US" dirty="0"/>
          </a:p>
          <a:p>
            <a:endParaRPr lang="en-US" dirty="0"/>
          </a:p>
          <a:p>
            <a:r>
              <a:rPr lang="de-DE" dirty="0"/>
              <a:t>Der Abstand von a zu b kann als a−b berechnet werden, </a:t>
            </a:r>
          </a:p>
          <a:p>
            <a:endParaRPr lang="de-DE" dirty="0"/>
          </a:p>
          <a:p>
            <a:r>
              <a:rPr lang="de-DE" dirty="0"/>
              <a:t>oder (a−b)² um ihn zu vergrößern</a:t>
            </a:r>
          </a:p>
          <a:p>
            <a:endParaRPr lang="de-DE" dirty="0"/>
          </a:p>
          <a:p>
            <a:r>
              <a:rPr lang="de-DE" dirty="0"/>
              <a:t>Und der Abstand einer Zahl zur Liste ist die Summe der Abstände zu jedem Element.</a:t>
            </a:r>
          </a:p>
          <a:p>
            <a:endParaRPr lang="en-US" dirty="0"/>
          </a:p>
          <a:p>
            <a:r>
              <a:rPr lang="en-US" b="1" dirty="0" err="1"/>
              <a:t>Beispiel</a:t>
            </a:r>
            <a:r>
              <a:rPr lang="en-US" b="1" dirty="0"/>
              <a:t>: 4 und [3,4,5]</a:t>
            </a:r>
          </a:p>
          <a:p>
            <a:r>
              <a:rPr lang="en-US" dirty="0"/>
              <a:t>(4-3)**2 = 1**2 = 1</a:t>
            </a:r>
          </a:p>
          <a:p>
            <a:r>
              <a:rPr lang="en-US" dirty="0"/>
              <a:t>(4-4)**2 = 0 **2 = 0</a:t>
            </a:r>
          </a:p>
          <a:p>
            <a:r>
              <a:rPr lang="en-US" dirty="0"/>
              <a:t>(4-5)**2 = (-1)**2 = 1</a:t>
            </a:r>
          </a:p>
          <a:p>
            <a:r>
              <a:rPr lang="en-US" dirty="0"/>
              <a:t>Sum= 1+0+1 = 2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9097812-1778-1DF7-D71B-C96CCBFF0F4D}"/>
              </a:ext>
            </a:extLst>
          </p:cNvPr>
          <p:cNvSpPr txBox="1"/>
          <p:nvPr/>
        </p:nvSpPr>
        <p:spPr>
          <a:xfrm>
            <a:off x="7042484" y="4465468"/>
            <a:ext cx="3144253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 err="1"/>
              <a:t>Beispiel</a:t>
            </a:r>
            <a:r>
              <a:rPr lang="en-US" b="1" dirty="0"/>
              <a:t>: 7 und [3,4,5]</a:t>
            </a:r>
          </a:p>
          <a:p>
            <a:r>
              <a:rPr lang="en-US" dirty="0"/>
              <a:t>(7-3)**2 = 4**2 = 16</a:t>
            </a:r>
          </a:p>
          <a:p>
            <a:r>
              <a:rPr lang="en-US" dirty="0"/>
              <a:t>(7-4)**2 = 3 **2 = 9</a:t>
            </a:r>
          </a:p>
          <a:p>
            <a:r>
              <a:rPr lang="en-US" dirty="0"/>
              <a:t>(7-5)**2 = (2)**2 = 4</a:t>
            </a:r>
          </a:p>
          <a:p>
            <a:r>
              <a:rPr lang="en-US" dirty="0"/>
              <a:t>Sum= 16+9+4 = 29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DB07762-8A0C-6C1F-FBD2-EC00545A9578}"/>
              </a:ext>
            </a:extLst>
          </p:cNvPr>
          <p:cNvSpPr txBox="1"/>
          <p:nvPr/>
        </p:nvSpPr>
        <p:spPr>
          <a:xfrm>
            <a:off x="4507831" y="6324250"/>
            <a:ext cx="506930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de-DE" dirty="0"/>
              <a:t>4 ist repräsentativer als 7.</a:t>
            </a:r>
          </a:p>
        </p:txBody>
      </p:sp>
    </p:spTree>
    <p:extLst>
      <p:ext uri="{BB962C8B-B14F-4D97-AF65-F5344CB8AC3E}">
        <p14:creationId xmlns:p14="http://schemas.microsoft.com/office/powerpoint/2010/main" val="315116209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C894E7-4DE9-2778-C260-C66E04B8B9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6D26E44B-FB85-492C-A529-E16CF0CD3C1D}"/>
              </a:ext>
            </a:extLst>
          </p:cNvPr>
          <p:cNvSpPr/>
          <p:nvPr/>
        </p:nvSpPr>
        <p:spPr>
          <a:xfrm>
            <a:off x="883072" y="1126671"/>
            <a:ext cx="2067374" cy="4833257"/>
          </a:xfrm>
          <a:prstGeom prst="roundRect">
            <a:avLst/>
          </a:prstGeom>
          <a:solidFill>
            <a:srgbClr val="9999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pic>
        <p:nvPicPr>
          <p:cNvPr id="3" name="Graphic 2" descr="Research">
            <a:extLst>
              <a:ext uri="{FF2B5EF4-FFF2-40B4-BE49-F238E27FC236}">
                <a16:creationId xmlns:a16="http://schemas.microsoft.com/office/drawing/2014/main" id="{CFEB8550-ACF6-5E82-E5E5-978373BC5E2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459559" y="1570063"/>
            <a:ext cx="914400" cy="9144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7627BADB-E707-23EB-D9A0-5A94FD74A991}"/>
              </a:ext>
            </a:extLst>
          </p:cNvPr>
          <p:cNvSpPr txBox="1"/>
          <p:nvPr/>
        </p:nvSpPr>
        <p:spPr>
          <a:xfrm>
            <a:off x="914334" y="2626630"/>
            <a:ext cx="2004850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2400" b="1" dirty="0">
                <a:solidFill>
                  <a:srgbClr val="FF9933"/>
                </a:solidFill>
              </a:rPr>
              <a:t>Analyse</a:t>
            </a:r>
          </a:p>
          <a:p>
            <a:pPr algn="ctr"/>
            <a:endParaRPr lang="de-DE" sz="1400" dirty="0"/>
          </a:p>
          <a:p>
            <a:pPr algn="ctr"/>
            <a:r>
              <a:rPr lang="en-US" sz="1400" dirty="0" err="1"/>
              <a:t>Statistische</a:t>
            </a:r>
            <a:r>
              <a:rPr lang="en-US" sz="1400" dirty="0"/>
              <a:t> </a:t>
            </a:r>
            <a:r>
              <a:rPr lang="en-US" sz="1400" dirty="0" err="1"/>
              <a:t>Auswertung</a:t>
            </a:r>
            <a:r>
              <a:rPr lang="en-US" sz="1400" dirty="0"/>
              <a:t> </a:t>
            </a:r>
          </a:p>
          <a:p>
            <a:pPr algn="ctr"/>
            <a:endParaRPr lang="de-DE" sz="1400" dirty="0"/>
          </a:p>
          <a:p>
            <a:pPr algn="ctr"/>
            <a:endParaRPr lang="LID4096" sz="14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2777E6E-6500-352C-54CF-B43EF00D29F5}"/>
              </a:ext>
            </a:extLst>
          </p:cNvPr>
          <p:cNvSpPr txBox="1"/>
          <p:nvPr/>
        </p:nvSpPr>
        <p:spPr>
          <a:xfrm>
            <a:off x="4276299" y="876606"/>
            <a:ext cx="7032629" cy="56323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 err="1"/>
              <a:t>Lageparameter</a:t>
            </a:r>
            <a:r>
              <a:rPr lang="en-US" b="1" dirty="0"/>
              <a:t> (</a:t>
            </a:r>
            <a:r>
              <a:rPr lang="en-US" b="1" dirty="0" err="1"/>
              <a:t>Maße</a:t>
            </a:r>
            <a:r>
              <a:rPr lang="en-US" b="1" dirty="0"/>
              <a:t> der </a:t>
            </a:r>
            <a:r>
              <a:rPr lang="en-US" b="1" dirty="0" err="1"/>
              <a:t>zentralen</a:t>
            </a:r>
            <a:r>
              <a:rPr lang="en-US" b="1" dirty="0"/>
              <a:t> Tendenz)</a:t>
            </a:r>
          </a:p>
          <a:p>
            <a:endParaRPr lang="en-US" b="1" dirty="0"/>
          </a:p>
          <a:p>
            <a:r>
              <a:rPr lang="de-DE" dirty="0"/>
              <a:t>Welche Zahl zeigt eine Liste von Zahlen am besten an?</a:t>
            </a:r>
          </a:p>
          <a:p>
            <a:r>
              <a:rPr lang="en-US" dirty="0"/>
              <a:t>[3,4,5]</a:t>
            </a:r>
          </a:p>
          <a:p>
            <a:endParaRPr lang="en-US" dirty="0"/>
          </a:p>
          <a:p>
            <a:endParaRPr lang="en-US" dirty="0"/>
          </a:p>
          <a:p>
            <a:r>
              <a:rPr lang="de-DE" dirty="0"/>
              <a:t>Der Abstand von a zu b kann als |a−b| berechnet werden (1-norm), </a:t>
            </a:r>
          </a:p>
          <a:p>
            <a:endParaRPr lang="de-DE" dirty="0"/>
          </a:p>
          <a:p>
            <a:r>
              <a:rPr lang="de-DE" dirty="0"/>
              <a:t>oder (a−b)² um ihn zu vergrößern (2-norm)</a:t>
            </a:r>
          </a:p>
          <a:p>
            <a:endParaRPr lang="de-DE" dirty="0"/>
          </a:p>
          <a:p>
            <a:r>
              <a:rPr lang="de-DE" dirty="0"/>
              <a:t>Und der Abstand einer Zahl zur Liste ist die Summe der Abstände zu jedem Element.</a:t>
            </a:r>
          </a:p>
          <a:p>
            <a:endParaRPr lang="en-US" dirty="0"/>
          </a:p>
          <a:p>
            <a:r>
              <a:rPr lang="en-US" b="1" dirty="0" err="1"/>
              <a:t>Beispiel</a:t>
            </a:r>
            <a:r>
              <a:rPr lang="en-US" b="1" dirty="0"/>
              <a:t>: 4 und [3,4,5]</a:t>
            </a:r>
          </a:p>
          <a:p>
            <a:r>
              <a:rPr lang="en-US" dirty="0"/>
              <a:t>(4-3)**2 = 1**2 = 1</a:t>
            </a:r>
          </a:p>
          <a:p>
            <a:r>
              <a:rPr lang="en-US" dirty="0"/>
              <a:t>(4-4)**2 = 0 **2 = 0</a:t>
            </a:r>
          </a:p>
          <a:p>
            <a:r>
              <a:rPr lang="en-US" dirty="0"/>
              <a:t>(4-5)**2 = (-1)**2 = 1</a:t>
            </a:r>
          </a:p>
          <a:p>
            <a:r>
              <a:rPr lang="en-US" dirty="0"/>
              <a:t>Sum= 1+0+1 = 2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34F8599-6D7C-3977-3B9B-2EA7851B5073}"/>
              </a:ext>
            </a:extLst>
          </p:cNvPr>
          <p:cNvSpPr txBox="1"/>
          <p:nvPr/>
        </p:nvSpPr>
        <p:spPr>
          <a:xfrm>
            <a:off x="7042484" y="4465468"/>
            <a:ext cx="3144253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 err="1"/>
              <a:t>Beispiel</a:t>
            </a:r>
            <a:r>
              <a:rPr lang="en-US" b="1" dirty="0"/>
              <a:t>: 7 und [3,4,5]</a:t>
            </a:r>
          </a:p>
          <a:p>
            <a:r>
              <a:rPr lang="en-US" dirty="0"/>
              <a:t>(7-3)**2 = 4**2 = 16</a:t>
            </a:r>
          </a:p>
          <a:p>
            <a:r>
              <a:rPr lang="en-US" dirty="0"/>
              <a:t>(7-4)**2 = 3 **2 = 9</a:t>
            </a:r>
          </a:p>
          <a:p>
            <a:r>
              <a:rPr lang="en-US" dirty="0"/>
              <a:t>(7-5)**2 = (2)**2 = 4</a:t>
            </a:r>
          </a:p>
          <a:p>
            <a:r>
              <a:rPr lang="en-US" dirty="0"/>
              <a:t>Sum= 16+9+4 = 29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A03A9BD-53DA-BD36-5354-09BFAF94C63B}"/>
              </a:ext>
            </a:extLst>
          </p:cNvPr>
          <p:cNvSpPr txBox="1"/>
          <p:nvPr/>
        </p:nvSpPr>
        <p:spPr>
          <a:xfrm>
            <a:off x="4276299" y="6041190"/>
            <a:ext cx="506930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de-DE" b="1" dirty="0"/>
              <a:t>4 ist repräsentativer als 7.</a:t>
            </a:r>
          </a:p>
        </p:txBody>
      </p:sp>
    </p:spTree>
    <p:extLst>
      <p:ext uri="{BB962C8B-B14F-4D97-AF65-F5344CB8AC3E}">
        <p14:creationId xmlns:p14="http://schemas.microsoft.com/office/powerpoint/2010/main" val="351621046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DB4242-0FB4-61D2-A2FE-D8564A820A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D8098266-5FB2-953B-3702-EDCC87301E19}"/>
              </a:ext>
            </a:extLst>
          </p:cNvPr>
          <p:cNvSpPr/>
          <p:nvPr/>
        </p:nvSpPr>
        <p:spPr>
          <a:xfrm>
            <a:off x="883072" y="1126671"/>
            <a:ext cx="2067374" cy="4833257"/>
          </a:xfrm>
          <a:prstGeom prst="roundRect">
            <a:avLst/>
          </a:prstGeom>
          <a:solidFill>
            <a:srgbClr val="9999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pic>
        <p:nvPicPr>
          <p:cNvPr id="3" name="Graphic 2" descr="Research">
            <a:extLst>
              <a:ext uri="{FF2B5EF4-FFF2-40B4-BE49-F238E27FC236}">
                <a16:creationId xmlns:a16="http://schemas.microsoft.com/office/drawing/2014/main" id="{9FE6D9F3-DA03-73AB-8175-7D93E7C7390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459559" y="1570063"/>
            <a:ext cx="914400" cy="9144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78E6F037-78BF-82A2-9DF1-E0963B7577FF}"/>
              </a:ext>
            </a:extLst>
          </p:cNvPr>
          <p:cNvSpPr txBox="1"/>
          <p:nvPr/>
        </p:nvSpPr>
        <p:spPr>
          <a:xfrm>
            <a:off x="914334" y="2626630"/>
            <a:ext cx="2004850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2400" b="1" dirty="0">
                <a:solidFill>
                  <a:srgbClr val="FF9933"/>
                </a:solidFill>
              </a:rPr>
              <a:t>Analyse</a:t>
            </a:r>
          </a:p>
          <a:p>
            <a:pPr algn="ctr"/>
            <a:endParaRPr lang="de-DE" sz="1400" dirty="0"/>
          </a:p>
          <a:p>
            <a:pPr algn="ctr"/>
            <a:r>
              <a:rPr lang="en-US" sz="1400" dirty="0" err="1"/>
              <a:t>Statistische</a:t>
            </a:r>
            <a:r>
              <a:rPr lang="en-US" sz="1400" dirty="0"/>
              <a:t> </a:t>
            </a:r>
            <a:r>
              <a:rPr lang="en-US" sz="1400" dirty="0" err="1"/>
              <a:t>Auswertung</a:t>
            </a:r>
            <a:r>
              <a:rPr lang="en-US" sz="1400" dirty="0"/>
              <a:t> </a:t>
            </a:r>
          </a:p>
          <a:p>
            <a:pPr algn="ctr"/>
            <a:endParaRPr lang="de-DE" sz="1400" dirty="0"/>
          </a:p>
          <a:p>
            <a:pPr algn="ctr"/>
            <a:endParaRPr lang="LID4096" sz="1400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790F769F-68EB-9D5E-4C97-E3CA2CF3F8F5}"/>
                  </a:ext>
                </a:extLst>
              </p:cNvPr>
              <p:cNvSpPr txBox="1"/>
              <p:nvPr/>
            </p:nvSpPr>
            <p:spPr>
              <a:xfrm>
                <a:off x="4245037" y="1272413"/>
                <a:ext cx="7032629" cy="550381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b="1" dirty="0"/>
                  <a:t>Lageparameter (</a:t>
                </a:r>
                <a:r>
                  <a:rPr lang="en-US" b="1" dirty="0" err="1"/>
                  <a:t>Maße</a:t>
                </a:r>
                <a:r>
                  <a:rPr lang="en-US" b="1" dirty="0"/>
                  <a:t> der </a:t>
                </a:r>
                <a:r>
                  <a:rPr lang="en-US" b="1" dirty="0" err="1"/>
                  <a:t>zentralen</a:t>
                </a:r>
                <a:r>
                  <a:rPr lang="en-US" b="1" dirty="0"/>
                  <a:t> Tendenz)</a:t>
                </a:r>
              </a:p>
              <a:p>
                <a:endParaRPr lang="en-US" b="1" dirty="0"/>
              </a:p>
              <a:p>
                <a:r>
                  <a:rPr lang="en-US" dirty="0"/>
                  <a:t>Formula: </a:t>
                </a:r>
                <a14:m>
                  <m:oMath xmlns:m="http://schemas.openxmlformats.org/officeDocument/2006/math">
                    <m:limUpp>
                      <m:limUppPr>
                        <m:ctrlPr>
                          <a:rPr lang="fa-IR" i="1">
                            <a:latin typeface="Cambria Math" panose="02040503050406030204" pitchFamily="18" charset="0"/>
                          </a:rPr>
                        </m:ctrlPr>
                      </m:limUppPr>
                      <m:e>
                        <m:r>
                          <a:rPr lang="fa-IR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lim>
                        <m:r>
                          <a:rPr lang="fa-IR">
                            <a:latin typeface="Cambria Math" panose="02040503050406030204" pitchFamily="18" charset="0"/>
                          </a:rPr>
                          <m:t>ˉ</m:t>
                        </m:r>
                      </m:lim>
                    </m:limUpp>
                    <m:r>
                      <a:rPr lang="fa-IR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fa-I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nary>
                          <m:naryPr>
                            <m:chr m:val="∑"/>
                            <m:grow m:val="on"/>
                            <m:subHide m:val="on"/>
                            <m:supHide m:val="on"/>
                            <m:ctrlPr>
                              <a:rPr lang="fa-IR" i="1">
                                <a:latin typeface="Cambria Math" panose="02040503050406030204" pitchFamily="18" charset="0"/>
                              </a:rPr>
                            </m:ctrlPr>
                          </m:naryPr>
                          <m:sub/>
                          <m:sup/>
                          <m:e>
                            <m:r>
                              <a:rPr lang="fa-IR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</m:nary>
                      </m:num>
                      <m:den>
                        <m:r>
                          <a:rPr lang="fa-IR" i="1">
                            <a:latin typeface="Cambria Math" panose="02040503050406030204" pitchFamily="18" charset="0"/>
                          </a:rPr>
                          <m:t>𝑛</m:t>
                        </m:r>
                      </m:den>
                    </m:f>
                  </m:oMath>
                </a14:m>
                <a:endParaRPr lang="en-US" dirty="0"/>
              </a:p>
              <a:p>
                <a:br>
                  <a:rPr lang="en-US" dirty="0"/>
                </a:br>
                <a:r>
                  <a:rPr lang="en-US" b="1" dirty="0" err="1"/>
                  <a:t>Mittelwert</a:t>
                </a:r>
                <a:r>
                  <a:rPr lang="en-US" b="1" dirty="0"/>
                  <a:t> (</a:t>
                </a:r>
                <a:r>
                  <a:rPr lang="en-US" b="1" dirty="0" err="1"/>
                  <a:t>arithmetisches</a:t>
                </a:r>
                <a:r>
                  <a:rPr lang="en-US" b="1" dirty="0"/>
                  <a:t> Mittel)</a:t>
                </a:r>
                <a:endParaRPr lang="en-US" dirty="0"/>
              </a:p>
              <a:p>
                <a:r>
                  <a:rPr lang="en-US" dirty="0"/>
                  <a:t>Summe </a:t>
                </a:r>
                <a:r>
                  <a:rPr lang="en-US" dirty="0" err="1"/>
                  <a:t>aller</a:t>
                </a:r>
                <a:r>
                  <a:rPr lang="en-US" dirty="0"/>
                  <a:t> </a:t>
                </a:r>
                <a:r>
                  <a:rPr lang="en-US" dirty="0" err="1"/>
                  <a:t>Werte</a:t>
                </a:r>
                <a:r>
                  <a:rPr lang="en-US" dirty="0"/>
                  <a:t> ÷ </a:t>
                </a:r>
                <a:r>
                  <a:rPr lang="en-US" dirty="0" err="1"/>
                  <a:t>Anzahl</a:t>
                </a:r>
                <a:r>
                  <a:rPr lang="en-US" dirty="0"/>
                  <a:t> der </a:t>
                </a:r>
                <a:r>
                  <a:rPr lang="en-US" dirty="0" err="1"/>
                  <a:t>Werte</a:t>
                </a:r>
                <a:endParaRPr lang="en-US" dirty="0"/>
              </a:p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fa-IR"/>
                          </m:ctrlPr>
                        </m:dPr>
                        <m:e>
                          <m:r>
                            <a:rPr lang="fa-IR"/>
                            <m:t>2</m:t>
                          </m:r>
                          <m:r>
                            <a:rPr lang="fa-IR"/>
                            <m:t>+</m:t>
                          </m:r>
                          <m:r>
                            <a:rPr lang="fa-IR"/>
                            <m:t>4</m:t>
                          </m:r>
                          <m:r>
                            <a:rPr lang="fa-IR"/>
                            <m:t>+</m:t>
                          </m:r>
                          <m:r>
                            <a:rPr lang="fa-IR"/>
                            <m:t>4</m:t>
                          </m:r>
                          <m:r>
                            <a:rPr lang="fa-IR"/>
                            <m:t>+</m:t>
                          </m:r>
                          <m:r>
                            <a:rPr lang="fa-IR"/>
                            <m:t>6</m:t>
                          </m:r>
                          <m:r>
                            <a:rPr lang="fa-IR"/>
                            <m:t>+</m:t>
                          </m:r>
                          <m:r>
                            <a:rPr lang="fa-IR"/>
                            <m:t>8</m:t>
                          </m:r>
                        </m:e>
                      </m:d>
                      <m:r>
                        <a:rPr lang="fa-IR"/>
                        <m:t>/</m:t>
                      </m:r>
                      <m:r>
                        <a:rPr lang="fa-IR"/>
                        <m:t>5</m:t>
                      </m:r>
                      <m:r>
                        <a:rPr lang="fa-IR"/>
                        <m:t>=</m:t>
                      </m:r>
                      <m:r>
                        <a:rPr lang="fa-IR"/>
                        <m:t>4</m:t>
                      </m:r>
                      <m:r>
                        <a:rPr lang="fa-IR"/>
                        <m:t>,</m:t>
                      </m:r>
                      <m:r>
                        <a:rPr lang="fa-IR"/>
                        <m:t>8</m:t>
                      </m:r>
                    </m:oMath>
                  </m:oMathPara>
                </a14:m>
                <a:endParaRPr lang="fa-IR" dirty="0"/>
              </a:p>
              <a:p>
                <a:r>
                  <a:rPr lang="fa-IR" dirty="0"/>
                  <a:t>→ </a:t>
                </a:r>
                <a:r>
                  <a:rPr lang="en-US" b="1" dirty="0" err="1"/>
                  <a:t>Mittelwert</a:t>
                </a:r>
                <a:r>
                  <a:rPr lang="en-US" b="1" dirty="0"/>
                  <a:t> = 4,8</a:t>
                </a:r>
                <a:endParaRPr lang="en-US" dirty="0"/>
              </a:p>
              <a:p>
                <a:r>
                  <a:rPr lang="en-US" dirty="0" err="1"/>
                  <a:t>Empfindlich</a:t>
                </a:r>
                <a:r>
                  <a:rPr lang="en-US" dirty="0"/>
                  <a:t> </a:t>
                </a:r>
                <a:r>
                  <a:rPr lang="en-US" dirty="0" err="1"/>
                  <a:t>gegenüber</a:t>
                </a:r>
                <a:r>
                  <a:rPr lang="en-US" dirty="0"/>
                  <a:t> </a:t>
                </a:r>
                <a:r>
                  <a:rPr lang="en-US" dirty="0" err="1"/>
                  <a:t>Ausreißern</a:t>
                </a:r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  <a:p>
                <a:r>
                  <a:rPr lang="de-DE" dirty="0"/>
                  <a:t>daten = [10, 12, 11, 13, 12, 14, 100]  # 100 ist ein extremer Ausreißer</a:t>
                </a:r>
              </a:p>
              <a:p>
                <a:r>
                  <a:rPr lang="de-DE" dirty="0" err="1"/>
                  <a:t>mittelwert</a:t>
                </a:r>
                <a:r>
                  <a:rPr lang="de-DE" dirty="0"/>
                  <a:t> = </a:t>
                </a:r>
                <a:r>
                  <a:rPr lang="de-DE" dirty="0" err="1"/>
                  <a:t>sum</a:t>
                </a:r>
                <a:r>
                  <a:rPr lang="de-DE" dirty="0"/>
                  <a:t>(daten)/</a:t>
                </a:r>
                <a:r>
                  <a:rPr lang="de-DE" dirty="0" err="1"/>
                  <a:t>len</a:t>
                </a:r>
                <a:r>
                  <a:rPr lang="de-DE" dirty="0"/>
                  <a:t>(daten)      # Mittelwert = 24,57 → stark verzerrt</a:t>
                </a:r>
              </a:p>
              <a:p>
                <a:r>
                  <a:rPr lang="de-DE" dirty="0"/>
                  <a:t>bereinigt = [10, 12, 11, 13, 12, 14]</a:t>
                </a:r>
              </a:p>
              <a:p>
                <a:r>
                  <a:rPr lang="de-DE" dirty="0" err="1"/>
                  <a:t>mittelwert</a:t>
                </a:r>
                <a:r>
                  <a:rPr lang="de-DE" dirty="0"/>
                  <a:t> = </a:t>
                </a:r>
                <a:r>
                  <a:rPr lang="de-DE" dirty="0" err="1"/>
                  <a:t>sum</a:t>
                </a:r>
                <a:r>
                  <a:rPr lang="de-DE" dirty="0"/>
                  <a:t>(bereinigt)/</a:t>
                </a:r>
                <a:r>
                  <a:rPr lang="de-DE" dirty="0" err="1"/>
                  <a:t>len</a:t>
                </a:r>
                <a:r>
                  <a:rPr lang="de-DE" dirty="0"/>
                  <a:t>(bereinigt)  # Mittelwert = 12 → realistischer</a:t>
                </a:r>
                <a:endParaRPr lang="en-US" dirty="0"/>
              </a:p>
              <a:p>
                <a:br>
                  <a:rPr lang="en-US" dirty="0"/>
                </a:br>
                <a:endParaRPr lang="en-US" dirty="0"/>
              </a:p>
            </p:txBody>
          </p:sp>
        </mc:Choice>
        <mc:Fallback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790F769F-68EB-9D5E-4C97-E3CA2CF3F8F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45037" y="1272413"/>
                <a:ext cx="7032629" cy="5503814"/>
              </a:xfrm>
              <a:prstGeom prst="rect">
                <a:avLst/>
              </a:prstGeom>
              <a:blipFill>
                <a:blip r:embed="rId5"/>
                <a:stretch>
                  <a:fillRect l="-780" t="-664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98873212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DE97D6-D89A-8F38-C773-D7F79A45F7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F26F7124-0357-2237-9B78-E4AF1C03D27E}"/>
              </a:ext>
            </a:extLst>
          </p:cNvPr>
          <p:cNvSpPr/>
          <p:nvPr/>
        </p:nvSpPr>
        <p:spPr>
          <a:xfrm>
            <a:off x="883072" y="1126671"/>
            <a:ext cx="2067374" cy="4833257"/>
          </a:xfrm>
          <a:prstGeom prst="roundRect">
            <a:avLst/>
          </a:prstGeom>
          <a:solidFill>
            <a:srgbClr val="9999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pic>
        <p:nvPicPr>
          <p:cNvPr id="3" name="Graphic 2" descr="Research">
            <a:extLst>
              <a:ext uri="{FF2B5EF4-FFF2-40B4-BE49-F238E27FC236}">
                <a16:creationId xmlns:a16="http://schemas.microsoft.com/office/drawing/2014/main" id="{7D4A72CC-B92E-AD56-F5AA-8AD80789334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459559" y="1570063"/>
            <a:ext cx="914400" cy="9144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5C434995-4B2D-53DB-507A-34C5CE635F9C}"/>
              </a:ext>
            </a:extLst>
          </p:cNvPr>
          <p:cNvSpPr txBox="1"/>
          <p:nvPr/>
        </p:nvSpPr>
        <p:spPr>
          <a:xfrm>
            <a:off x="914334" y="2626630"/>
            <a:ext cx="2004850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2400" b="1" dirty="0">
                <a:solidFill>
                  <a:srgbClr val="FF9933"/>
                </a:solidFill>
              </a:rPr>
              <a:t>Analyse</a:t>
            </a:r>
          </a:p>
          <a:p>
            <a:pPr algn="ctr"/>
            <a:endParaRPr lang="de-DE" sz="1400" dirty="0"/>
          </a:p>
          <a:p>
            <a:pPr algn="ctr"/>
            <a:r>
              <a:rPr lang="en-US" sz="1400" dirty="0" err="1"/>
              <a:t>Statistische</a:t>
            </a:r>
            <a:r>
              <a:rPr lang="en-US" sz="1400" dirty="0"/>
              <a:t> </a:t>
            </a:r>
            <a:r>
              <a:rPr lang="en-US" sz="1400" dirty="0" err="1"/>
              <a:t>Auswertung</a:t>
            </a:r>
            <a:r>
              <a:rPr lang="en-US" sz="1400" dirty="0"/>
              <a:t> </a:t>
            </a:r>
          </a:p>
          <a:p>
            <a:pPr algn="ctr"/>
            <a:endParaRPr lang="de-DE" sz="1400" dirty="0"/>
          </a:p>
          <a:p>
            <a:pPr algn="ctr"/>
            <a:endParaRPr lang="LID4096" sz="14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15088DE-14B7-D50E-DEF5-9FB412E4E9AA}"/>
              </a:ext>
            </a:extLst>
          </p:cNvPr>
          <p:cNvSpPr txBox="1"/>
          <p:nvPr/>
        </p:nvSpPr>
        <p:spPr>
          <a:xfrm>
            <a:off x="4276299" y="1829724"/>
            <a:ext cx="7032629" cy="40626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 err="1"/>
              <a:t>Lageparameter</a:t>
            </a:r>
            <a:r>
              <a:rPr lang="en-US" b="1" dirty="0"/>
              <a:t> (</a:t>
            </a:r>
            <a:r>
              <a:rPr lang="en-US" b="1" dirty="0" err="1"/>
              <a:t>Maße</a:t>
            </a:r>
            <a:r>
              <a:rPr lang="en-US" b="1" dirty="0"/>
              <a:t> der </a:t>
            </a:r>
            <a:r>
              <a:rPr lang="en-US" b="1" dirty="0" err="1"/>
              <a:t>zentralen</a:t>
            </a:r>
            <a:r>
              <a:rPr lang="en-US" b="1" dirty="0"/>
              <a:t> Tendenz)</a:t>
            </a:r>
          </a:p>
          <a:p>
            <a:r>
              <a:rPr lang="en-US" b="1" dirty="0" err="1"/>
              <a:t>Beispieldaten</a:t>
            </a:r>
            <a:r>
              <a:rPr lang="en-US" b="1" dirty="0"/>
              <a:t>:</a:t>
            </a:r>
            <a:r>
              <a:rPr lang="en-US" dirty="0"/>
              <a:t> 2, 4, 4, 6, 8</a:t>
            </a:r>
          </a:p>
          <a:p>
            <a:br>
              <a:rPr lang="en-US" dirty="0"/>
            </a:br>
            <a:endParaRPr lang="en-US" dirty="0"/>
          </a:p>
          <a:p>
            <a:r>
              <a:rPr lang="en-US" b="1" dirty="0"/>
              <a:t>Median (</a:t>
            </a:r>
            <a:r>
              <a:rPr lang="en-US" b="1" dirty="0" err="1"/>
              <a:t>Zentralwert</a:t>
            </a:r>
            <a:r>
              <a:rPr lang="en-US" b="1" dirty="0"/>
              <a:t>)</a:t>
            </a:r>
            <a:endParaRPr lang="en-US" dirty="0"/>
          </a:p>
          <a:p>
            <a:r>
              <a:rPr lang="en-US" dirty="0" err="1"/>
              <a:t>Mittlerer</a:t>
            </a:r>
            <a:r>
              <a:rPr lang="en-US" dirty="0"/>
              <a:t> Wert der </a:t>
            </a:r>
            <a:r>
              <a:rPr lang="en-US" dirty="0" err="1"/>
              <a:t>sortierten</a:t>
            </a:r>
            <a:r>
              <a:rPr lang="en-US" dirty="0"/>
              <a:t> Daten</a:t>
            </a:r>
          </a:p>
          <a:p>
            <a:r>
              <a:rPr lang="en-US" dirty="0" err="1"/>
              <a:t>Sortiert</a:t>
            </a:r>
            <a:r>
              <a:rPr lang="en-US" dirty="0"/>
              <a:t>: 2, 4, </a:t>
            </a:r>
            <a:r>
              <a:rPr lang="en-US" b="1" dirty="0"/>
              <a:t>4</a:t>
            </a:r>
            <a:r>
              <a:rPr lang="en-US" dirty="0"/>
              <a:t>, 6, 8</a:t>
            </a:r>
          </a:p>
          <a:p>
            <a:r>
              <a:rPr lang="en-US" dirty="0"/>
              <a:t>→ </a:t>
            </a:r>
            <a:r>
              <a:rPr lang="en-US" b="1" dirty="0"/>
              <a:t>Median = 4</a:t>
            </a:r>
            <a:endParaRPr lang="en-US" dirty="0"/>
          </a:p>
          <a:p>
            <a:r>
              <a:rPr lang="en-US" dirty="0"/>
              <a:t>Robust </a:t>
            </a:r>
            <a:r>
              <a:rPr lang="en-US" dirty="0" err="1"/>
              <a:t>gegenüber</a:t>
            </a:r>
            <a:r>
              <a:rPr lang="en-US" dirty="0"/>
              <a:t> </a:t>
            </a:r>
            <a:r>
              <a:rPr lang="en-US" dirty="0" err="1"/>
              <a:t>Ausreißern</a:t>
            </a:r>
            <a:endParaRPr lang="en-US" dirty="0"/>
          </a:p>
          <a:p>
            <a:endParaRPr lang="en-US" dirty="0"/>
          </a:p>
          <a:p>
            <a:r>
              <a:rPr lang="en-US" dirty="0" err="1"/>
              <a:t>Sortiert</a:t>
            </a:r>
            <a:r>
              <a:rPr lang="en-US" dirty="0"/>
              <a:t>: 2, 4, </a:t>
            </a:r>
            <a:r>
              <a:rPr lang="en-US" sz="2400" b="1" dirty="0"/>
              <a:t>4, 6</a:t>
            </a:r>
            <a:r>
              <a:rPr lang="en-US" dirty="0"/>
              <a:t>, 8, 100</a:t>
            </a:r>
          </a:p>
          <a:p>
            <a:r>
              <a:rPr lang="en-US" dirty="0"/>
              <a:t>→ </a:t>
            </a:r>
            <a:r>
              <a:rPr lang="en-US" b="1" dirty="0"/>
              <a:t>Median = (4+6)/2 = 5</a:t>
            </a:r>
            <a:endParaRPr lang="en-US" dirty="0"/>
          </a:p>
          <a:p>
            <a:r>
              <a:rPr lang="en-US" dirty="0"/>
              <a:t>Robust </a:t>
            </a:r>
            <a:r>
              <a:rPr lang="en-US" dirty="0" err="1"/>
              <a:t>gegenüber</a:t>
            </a:r>
            <a:r>
              <a:rPr lang="en-US" dirty="0"/>
              <a:t> </a:t>
            </a:r>
            <a:r>
              <a:rPr lang="en-US" dirty="0" err="1"/>
              <a:t>Ausreißern</a:t>
            </a: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7238224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803C23-898D-F704-5BDD-2CD402C2CF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34F6C127-2D48-AEC2-DB17-2290E29993BD}"/>
              </a:ext>
            </a:extLst>
          </p:cNvPr>
          <p:cNvSpPr/>
          <p:nvPr/>
        </p:nvSpPr>
        <p:spPr>
          <a:xfrm>
            <a:off x="883072" y="1126671"/>
            <a:ext cx="2067374" cy="4833257"/>
          </a:xfrm>
          <a:prstGeom prst="roundRect">
            <a:avLst/>
          </a:prstGeom>
          <a:solidFill>
            <a:srgbClr val="9999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pic>
        <p:nvPicPr>
          <p:cNvPr id="3" name="Graphic 2" descr="Research">
            <a:extLst>
              <a:ext uri="{FF2B5EF4-FFF2-40B4-BE49-F238E27FC236}">
                <a16:creationId xmlns:a16="http://schemas.microsoft.com/office/drawing/2014/main" id="{45EC3A64-71A8-A608-D610-CBC66D04F12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459559" y="1570063"/>
            <a:ext cx="914400" cy="9144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B1584D58-C06C-68FF-7FEF-EB2A64CC76E8}"/>
              </a:ext>
            </a:extLst>
          </p:cNvPr>
          <p:cNvSpPr txBox="1"/>
          <p:nvPr/>
        </p:nvSpPr>
        <p:spPr>
          <a:xfrm>
            <a:off x="914334" y="2626630"/>
            <a:ext cx="2004850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2400" b="1" dirty="0">
                <a:solidFill>
                  <a:srgbClr val="FF9933"/>
                </a:solidFill>
              </a:rPr>
              <a:t>Analyse</a:t>
            </a:r>
          </a:p>
          <a:p>
            <a:pPr algn="ctr"/>
            <a:endParaRPr lang="de-DE" sz="1400" dirty="0"/>
          </a:p>
          <a:p>
            <a:pPr algn="ctr"/>
            <a:r>
              <a:rPr lang="en-US" sz="1400" dirty="0" err="1"/>
              <a:t>Statistische</a:t>
            </a:r>
            <a:r>
              <a:rPr lang="en-US" sz="1400" dirty="0"/>
              <a:t> </a:t>
            </a:r>
            <a:r>
              <a:rPr lang="en-US" sz="1400" dirty="0" err="1"/>
              <a:t>Auswertung</a:t>
            </a:r>
            <a:r>
              <a:rPr lang="en-US" sz="1400" dirty="0"/>
              <a:t> </a:t>
            </a:r>
          </a:p>
          <a:p>
            <a:pPr algn="ctr"/>
            <a:endParaRPr lang="de-DE" sz="1400" dirty="0"/>
          </a:p>
          <a:p>
            <a:pPr algn="ctr"/>
            <a:endParaRPr lang="LID4096" sz="14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6EFB669-7032-2B7B-9BB2-4DD9912D778C}"/>
              </a:ext>
            </a:extLst>
          </p:cNvPr>
          <p:cNvSpPr txBox="1"/>
          <p:nvPr/>
        </p:nvSpPr>
        <p:spPr>
          <a:xfrm>
            <a:off x="4276299" y="1829724"/>
            <a:ext cx="7032629" cy="28623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b="1" dirty="0"/>
              <a:t>Modus (Modalwert)</a:t>
            </a:r>
          </a:p>
          <a:p>
            <a:r>
              <a:rPr lang="de-DE" dirty="0"/>
              <a:t>Wert mit höchster Häufigkeit</a:t>
            </a:r>
          </a:p>
          <a:p>
            <a:endParaRPr lang="de-DE" b="1" dirty="0"/>
          </a:p>
          <a:p>
            <a:r>
              <a:rPr lang="de-DE" b="1" dirty="0"/>
              <a:t>Beispiel: [2, 4, 4, 6, 8] </a:t>
            </a:r>
          </a:p>
          <a:p>
            <a:r>
              <a:rPr lang="de-DE" b="1" dirty="0"/>
              <a:t>Modus = 4</a:t>
            </a:r>
          </a:p>
          <a:p>
            <a:endParaRPr lang="de-DE" b="1" dirty="0"/>
          </a:p>
          <a:p>
            <a:endParaRPr lang="de-DE" b="1" dirty="0"/>
          </a:p>
          <a:p>
            <a:endParaRPr lang="de-DE" b="1" dirty="0"/>
          </a:p>
          <a:p>
            <a:r>
              <a:rPr lang="de-DE" b="1" dirty="0"/>
              <a:t>Beispiel:  [“</a:t>
            </a:r>
            <a:r>
              <a:rPr lang="de-DE" b="1" dirty="0" err="1"/>
              <a:t>apple</a:t>
            </a:r>
            <a:r>
              <a:rPr lang="de-DE" b="1" dirty="0"/>
              <a:t>“,“orange“,“</a:t>
            </a:r>
            <a:r>
              <a:rPr lang="de-DE" b="1" dirty="0" err="1"/>
              <a:t>banana</a:t>
            </a:r>
            <a:r>
              <a:rPr lang="de-DE" b="1" dirty="0"/>
              <a:t>“,“</a:t>
            </a:r>
            <a:r>
              <a:rPr lang="de-DE" b="1" dirty="0" err="1"/>
              <a:t>apple</a:t>
            </a:r>
            <a:r>
              <a:rPr lang="de-DE" b="1" dirty="0"/>
              <a:t>“,“</a:t>
            </a:r>
            <a:r>
              <a:rPr lang="de-DE" b="1" dirty="0" err="1"/>
              <a:t>apple</a:t>
            </a:r>
            <a:r>
              <a:rPr lang="de-DE" b="1" dirty="0"/>
              <a:t>“]</a:t>
            </a:r>
          </a:p>
          <a:p>
            <a:r>
              <a:rPr lang="de-DE" b="1" dirty="0"/>
              <a:t>Apple : 3   </a:t>
            </a:r>
            <a:r>
              <a:rPr lang="de-DE" b="1" dirty="0" err="1"/>
              <a:t>modus</a:t>
            </a:r>
            <a:endParaRPr lang="de-DE" b="1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83DCA11-5874-7230-8926-54ACCF119769}"/>
              </a:ext>
            </a:extLst>
          </p:cNvPr>
          <p:cNvSpPr txBox="1"/>
          <p:nvPr/>
        </p:nvSpPr>
        <p:spPr>
          <a:xfrm>
            <a:off x="4276299" y="5349860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b="1" dirty="0"/>
              <a:t>Kategoriale Daten und numerische Daten</a:t>
            </a:r>
            <a:endParaRPr lang="LID4096" b="1" dirty="0"/>
          </a:p>
        </p:txBody>
      </p:sp>
    </p:spTree>
    <p:extLst>
      <p:ext uri="{BB962C8B-B14F-4D97-AF65-F5344CB8AC3E}">
        <p14:creationId xmlns:p14="http://schemas.microsoft.com/office/powerpoint/2010/main" val="160577007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D508F6-9129-BB6F-D460-CED42DBAC0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59CD4DDF-8CB7-D73B-C912-1E35C81B2AA9}"/>
              </a:ext>
            </a:extLst>
          </p:cNvPr>
          <p:cNvSpPr/>
          <p:nvPr/>
        </p:nvSpPr>
        <p:spPr>
          <a:xfrm>
            <a:off x="883072" y="1126671"/>
            <a:ext cx="2067374" cy="4833257"/>
          </a:xfrm>
          <a:prstGeom prst="roundRect">
            <a:avLst/>
          </a:prstGeom>
          <a:solidFill>
            <a:srgbClr val="9999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pic>
        <p:nvPicPr>
          <p:cNvPr id="3" name="Graphic 2" descr="Research">
            <a:extLst>
              <a:ext uri="{FF2B5EF4-FFF2-40B4-BE49-F238E27FC236}">
                <a16:creationId xmlns:a16="http://schemas.microsoft.com/office/drawing/2014/main" id="{C07361D0-0F7F-EDD4-6532-E49B82DC5E3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459559" y="1570063"/>
            <a:ext cx="914400" cy="9144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CB6A8635-E321-1D87-B214-BFBC3362DCEE}"/>
              </a:ext>
            </a:extLst>
          </p:cNvPr>
          <p:cNvSpPr txBox="1"/>
          <p:nvPr/>
        </p:nvSpPr>
        <p:spPr>
          <a:xfrm>
            <a:off x="914334" y="2626630"/>
            <a:ext cx="2004850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2400" b="1" dirty="0">
                <a:solidFill>
                  <a:srgbClr val="FF9933"/>
                </a:solidFill>
              </a:rPr>
              <a:t>Analyse</a:t>
            </a:r>
          </a:p>
          <a:p>
            <a:pPr algn="ctr"/>
            <a:endParaRPr lang="de-DE" sz="1400" dirty="0"/>
          </a:p>
          <a:p>
            <a:pPr algn="ctr"/>
            <a:r>
              <a:rPr lang="en-US" sz="1400" dirty="0" err="1"/>
              <a:t>Statistische</a:t>
            </a:r>
            <a:r>
              <a:rPr lang="en-US" sz="1400" dirty="0"/>
              <a:t> </a:t>
            </a:r>
            <a:r>
              <a:rPr lang="en-US" sz="1400" dirty="0" err="1"/>
              <a:t>Auswertung</a:t>
            </a:r>
            <a:r>
              <a:rPr lang="en-US" sz="1400" dirty="0"/>
              <a:t> </a:t>
            </a:r>
          </a:p>
          <a:p>
            <a:pPr algn="ctr"/>
            <a:endParaRPr lang="de-DE" sz="1400" dirty="0"/>
          </a:p>
          <a:p>
            <a:pPr algn="ctr"/>
            <a:endParaRPr lang="LID4096" sz="1400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33103675-7004-40EB-29A2-F075FDA2E7F6}"/>
                  </a:ext>
                </a:extLst>
              </p:cNvPr>
              <p:cNvSpPr txBox="1"/>
              <p:nvPr/>
            </p:nvSpPr>
            <p:spPr>
              <a:xfrm>
                <a:off x="4432300" y="1284292"/>
                <a:ext cx="6096000" cy="494981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buNone/>
                </a:pPr>
                <a:r>
                  <a:rPr lang="en-US" b="1" dirty="0"/>
                  <a:t>Measures of Central Tendency</a:t>
                </a:r>
              </a:p>
              <a:p>
                <a:pPr>
                  <a:buNone/>
                </a:pPr>
                <a:r>
                  <a:rPr lang="en-US" b="1" dirty="0"/>
                  <a:t>Mean (Average)</a:t>
                </a:r>
                <a:endParaRPr lang="en-US" dirty="0"/>
              </a:p>
              <a:p>
                <a:pPr>
                  <a:buFont typeface="Arial" panose="020B0604020202020204" pitchFamily="34" charset="0"/>
                  <a:buChar char="•"/>
                </a:pPr>
                <a:r>
                  <a:rPr lang="en-US" dirty="0"/>
                  <a:t>Sum of all values divided by number of values</a:t>
                </a:r>
              </a:p>
              <a:p>
                <a:pPr>
                  <a:buFont typeface="Arial" panose="020B0604020202020204" pitchFamily="34" charset="0"/>
                  <a:buChar char="•"/>
                </a:pPr>
                <a:r>
                  <a:rPr lang="en-US" dirty="0"/>
                  <a:t>Formula: </a:t>
                </a:r>
                <a14:m>
                  <m:oMath xmlns:m="http://schemas.openxmlformats.org/officeDocument/2006/math">
                    <m:limUpp>
                      <m:limUppPr>
                        <m:ctrlPr>
                          <a:rPr lang="fa-IR" i="1">
                            <a:latin typeface="Cambria Math" panose="02040503050406030204" pitchFamily="18" charset="0"/>
                          </a:rPr>
                        </m:ctrlPr>
                      </m:limUppPr>
                      <m:e>
                        <m:r>
                          <a:rPr lang="fa-IR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lim>
                        <m:r>
                          <a:rPr lang="fa-IR" i="0">
                            <a:latin typeface="Cambria Math" panose="02040503050406030204" pitchFamily="18" charset="0"/>
                          </a:rPr>
                          <m:t>ˉ</m:t>
                        </m:r>
                      </m:lim>
                    </m:limUpp>
                    <m:r>
                      <a:rPr lang="fa-IR" i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fa-I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nary>
                          <m:naryPr>
                            <m:chr m:val="∑"/>
                            <m:grow m:val="on"/>
                            <m:subHide m:val="on"/>
                            <m:supHide m:val="on"/>
                            <m:ctrlPr>
                              <a:rPr lang="fa-IR" i="1">
                                <a:latin typeface="Cambria Math" panose="02040503050406030204" pitchFamily="18" charset="0"/>
                              </a:rPr>
                            </m:ctrlPr>
                          </m:naryPr>
                          <m:sub/>
                          <m:sup/>
                          <m:e>
                            <m:r>
                              <a:rPr lang="fa-IR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</m:nary>
                      </m:num>
                      <m:den>
                        <m:r>
                          <a:rPr lang="fa-IR" i="1">
                            <a:latin typeface="Cambria Math" panose="02040503050406030204" pitchFamily="18" charset="0"/>
                          </a:rPr>
                          <m:t>𝑛</m:t>
                        </m:r>
                      </m:den>
                    </m:f>
                  </m:oMath>
                </a14:m>
                <a:endParaRPr lang="fa-IR" dirty="0"/>
              </a:p>
              <a:p>
                <a:pPr>
                  <a:buFont typeface="Arial" panose="020B0604020202020204" pitchFamily="34" charset="0"/>
                  <a:buChar char="•"/>
                </a:pPr>
                <a:r>
                  <a:rPr lang="en-US" dirty="0"/>
                  <a:t>Sensitive to outliers</a:t>
                </a:r>
              </a:p>
              <a:p>
                <a:pPr>
                  <a:buNone/>
                </a:pPr>
                <a:br>
                  <a:rPr lang="en-US" dirty="0"/>
                </a:br>
                <a:endParaRPr lang="en-US" dirty="0"/>
              </a:p>
              <a:p>
                <a:pPr>
                  <a:buNone/>
                </a:pPr>
                <a:r>
                  <a:rPr lang="en-US" b="1" dirty="0"/>
                  <a:t>Median</a:t>
                </a:r>
                <a:endParaRPr lang="en-US" dirty="0"/>
              </a:p>
              <a:p>
                <a:pPr>
                  <a:buFont typeface="Arial" panose="020B0604020202020204" pitchFamily="34" charset="0"/>
                  <a:buChar char="•"/>
                </a:pPr>
                <a:r>
                  <a:rPr lang="en-US" dirty="0"/>
                  <a:t>Middle value in a sorted dataset</a:t>
                </a:r>
              </a:p>
              <a:p>
                <a:pPr>
                  <a:buFont typeface="Arial" panose="020B0604020202020204" pitchFamily="34" charset="0"/>
                  <a:buChar char="•"/>
                </a:pPr>
                <a:r>
                  <a:rPr lang="en-US" dirty="0"/>
                  <a:t>If even number of values → average of two middle values</a:t>
                </a:r>
              </a:p>
              <a:p>
                <a:pPr>
                  <a:buFont typeface="Arial" panose="020B0604020202020204" pitchFamily="34" charset="0"/>
                  <a:buChar char="•"/>
                </a:pPr>
                <a:r>
                  <a:rPr lang="en-US" dirty="0"/>
                  <a:t>Robust against outliers</a:t>
                </a:r>
              </a:p>
              <a:p>
                <a:pPr>
                  <a:buNone/>
                </a:pPr>
                <a:br>
                  <a:rPr lang="en-US" dirty="0"/>
                </a:br>
                <a:endParaRPr lang="en-US" dirty="0"/>
              </a:p>
              <a:p>
                <a:pPr>
                  <a:buNone/>
                </a:pPr>
                <a:r>
                  <a:rPr lang="en-US" b="1" dirty="0"/>
                  <a:t>Mode</a:t>
                </a:r>
                <a:endParaRPr lang="en-US" dirty="0"/>
              </a:p>
              <a:p>
                <a:pPr>
                  <a:buFont typeface="Arial" panose="020B0604020202020204" pitchFamily="34" charset="0"/>
                  <a:buChar char="•"/>
                </a:pPr>
                <a:r>
                  <a:rPr lang="en-US" dirty="0"/>
                  <a:t>Most frequently occurring value</a:t>
                </a:r>
              </a:p>
              <a:p>
                <a:pPr>
                  <a:buFont typeface="Arial" panose="020B0604020202020204" pitchFamily="34" charset="0"/>
                  <a:buChar char="•"/>
                </a:pPr>
                <a:r>
                  <a:rPr lang="en-US" dirty="0"/>
                  <a:t>Can be unimodal, bimodal, or multimodal</a:t>
                </a:r>
              </a:p>
              <a:p>
                <a:pPr>
                  <a:buFont typeface="Arial" panose="020B0604020202020204" pitchFamily="34" charset="0"/>
                  <a:buChar char="•"/>
                </a:pPr>
                <a:r>
                  <a:rPr lang="en-US" dirty="0"/>
                  <a:t>Useful for categorical data</a:t>
                </a:r>
              </a:p>
            </p:txBody>
          </p:sp>
        </mc:Choice>
        <mc:Fallback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33103675-7004-40EB-29A2-F075FDA2E7F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32300" y="1284292"/>
                <a:ext cx="6096000" cy="4949817"/>
              </a:xfrm>
              <a:prstGeom prst="rect">
                <a:avLst/>
              </a:prstGeom>
              <a:blipFill>
                <a:blip r:embed="rId5"/>
                <a:stretch>
                  <a:fillRect l="-800" t="-739" b="-985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05563919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9805</TotalTime>
  <Words>1307</Words>
  <Application>Microsoft Office PowerPoint</Application>
  <PresentationFormat>Widescreen</PresentationFormat>
  <Paragraphs>260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5" baseType="lpstr">
      <vt:lpstr>Arial</vt:lpstr>
      <vt:lpstr>Calibri</vt:lpstr>
      <vt:lpstr>Calibri Light</vt:lpstr>
      <vt:lpstr>Cambria Math</vt:lpstr>
      <vt:lpstr>Office Theme</vt:lpstr>
      <vt:lpstr>Datenanalyse Data Analysis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ali zolfagharian</dc:creator>
  <cp:lastModifiedBy>ali zolfagharian</cp:lastModifiedBy>
  <cp:revision>40</cp:revision>
  <dcterms:created xsi:type="dcterms:W3CDTF">2026-02-20T09:06:58Z</dcterms:created>
  <dcterms:modified xsi:type="dcterms:W3CDTF">2026-03-02T09:29:12Z</dcterms:modified>
</cp:coreProperties>
</file>