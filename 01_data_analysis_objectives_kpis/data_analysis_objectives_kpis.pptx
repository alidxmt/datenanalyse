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1" r:id="rId2"/>
    <p:sldId id="259" r:id="rId3"/>
    <p:sldId id="260" r:id="rId4"/>
    <p:sldId id="264" r:id="rId5"/>
    <p:sldId id="265" r:id="rId6"/>
    <p:sldId id="262" r:id="rId7"/>
    <p:sldId id="266" r:id="rId8"/>
    <p:sldId id="268" r:id="rId9"/>
    <p:sldId id="267" r:id="rId10"/>
    <p:sldId id="269" r:id="rId11"/>
    <p:sldId id="270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99"/>
    <a:srgbClr val="336699"/>
    <a:srgbClr val="FF9933"/>
    <a:srgbClr val="FFC000"/>
    <a:srgbClr val="993300"/>
    <a:srgbClr val="339966"/>
    <a:srgbClr val="3366CC"/>
    <a:srgbClr val="0066CC"/>
    <a:srgbClr val="CC99FF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6192" autoAdjust="0"/>
  </p:normalViewPr>
  <p:slideViewPr>
    <p:cSldViewPr snapToGrid="0">
      <p:cViewPr varScale="1">
        <p:scale>
          <a:sx n="75" d="100"/>
          <a:sy n="75" d="100"/>
        </p:scale>
        <p:origin x="61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EF45C-B4A1-4048-BF7F-D1617E8131E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2D7CD-EEF3-4145-A484-A9D67FF727B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9142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1429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86407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8453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0741A-758B-58F3-9547-075B3114E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A989-6CC3-9A30-67EF-C7AE67952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54EED0-94D8-B606-57B5-3AB1ECD84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18964-E0E9-3EB6-75FC-8AC710386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9720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E74A6-B0CD-AA79-2AB7-C2BA292D1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641149-267E-43A7-95EB-9F2B7D4DE1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A398A-57E5-9743-70B4-7905C3661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6B592-B189-B14D-17DB-ABBDE3ACCD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322327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F8E1-3F98-2D4A-A187-71A87BABC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79535-D580-53FC-AF97-E3C06BE411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6D207-9405-7961-89E3-DF8DAFBA2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CA030-4A91-82F2-0663-BBAB7286E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946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E1ED1-A938-04A3-02D1-6B28B0DEB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59066-E6FA-A513-9386-BC755270F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E641F9-2082-02F5-E861-E5D925D6E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92C15-F7C2-6F8B-A4CE-C8CEA8B43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73592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3679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The 4 Types of Data Analysis Questions</a:t>
            </a:r>
          </a:p>
          <a:p>
            <a:endParaRPr lang="en-US" dirty="0"/>
          </a:p>
          <a:p>
            <a:r>
              <a:rPr lang="en-US" dirty="0"/>
              <a:t>Descriptive	"What happened?"	Dashboards, reporting, data aggregation</a:t>
            </a:r>
          </a:p>
          <a:p>
            <a:r>
              <a:rPr lang="en-US" dirty="0"/>
              <a:t>Diagnostic	"Why did it happen?"	Root cause analysis</a:t>
            </a:r>
          </a:p>
          <a:p>
            <a:r>
              <a:rPr lang="en-US" dirty="0"/>
              <a:t>Predictive	"What is likely to happen?"	Forecasting</a:t>
            </a:r>
          </a:p>
          <a:p>
            <a:r>
              <a:rPr lang="en-US" dirty="0"/>
              <a:t>Prescriptive	"What should we do?"	Recommends specific actions to achieve a desired outcome</a:t>
            </a:r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00127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4F69-9143-1CBC-50CF-BC9CF93CF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6383A6-C73A-DD9C-44A7-CA8483ABBF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79761F-38CD-55FE-765B-FEA5A9C5E8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The 4 Types of Data Analysis Questions</a:t>
            </a:r>
          </a:p>
          <a:p>
            <a:endParaRPr lang="en-US" dirty="0"/>
          </a:p>
          <a:p>
            <a:r>
              <a:rPr lang="en-US" dirty="0"/>
              <a:t>Descriptive	"What happened?"	Dashboards, reporting, data aggregation</a:t>
            </a:r>
          </a:p>
          <a:p>
            <a:r>
              <a:rPr lang="en-US" dirty="0"/>
              <a:t>Diagnostic	"Why did it happen?"	Root cause analysis</a:t>
            </a:r>
          </a:p>
          <a:p>
            <a:r>
              <a:rPr lang="en-US" dirty="0"/>
              <a:t>Predictive	"What is likely to happen?"	Forecasting</a:t>
            </a:r>
          </a:p>
          <a:p>
            <a:r>
              <a:rPr lang="en-US" dirty="0"/>
              <a:t>Prescriptive	"What should we do?"	Recommends specific actions to achieve a desired outcome</a:t>
            </a:r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F78A2-FDD2-DDCB-ADEE-7C34076174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58402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9595-AE29-8F78-6250-FE6DBB183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FB830E-06C9-E616-457D-0469587FD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EFBF3-5437-9432-6F3C-E9696BAED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8D0A7-A4B8-8D6A-B20D-D4EED41F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5C235-37A2-169F-89F1-6CEEDE74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38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B3155-3098-3396-23EF-4D00FB95E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B2B4-2744-4FA6-1DCE-04083BE85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AA7CE-1D79-8F9E-2161-29793B3B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907A2-F4AA-C22D-91E7-6BACD48B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D31A0-F851-DC6F-6FAE-179D6AAB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898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2BBF6-43C8-1202-C842-3AEB0A792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E51AA-9DDF-9B9E-C7A3-804260F61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6152C-741A-690F-95E2-4CEEA150F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A4312-5CEF-0E6E-F0FC-2158396D8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B96-F2F1-AD45-314A-F5DA6562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20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8164-1E83-B846-266B-64E7E034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46D78-13A3-57B9-A9E6-4C101CB19A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8BB16-6D83-DE01-79A2-554AB22A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EB16E-8897-8C72-0C20-5DC3F49B6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38E4E-E4C2-594D-0EE2-5C3B7396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E9FD8-C8E1-4BD4-A517-B0ADD51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20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6434-7761-D029-FB66-4F80A49D2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CFE8E-4227-8C0A-BD8C-41F2C2A45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8F3CFA-B49D-50D6-2E0E-49392FCB2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E9783-D65C-C0F6-AABC-EF1ECF7CC0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FE071-5FD8-2DB5-E332-AC4CDBA99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2764CB-223F-2456-6217-BD105CBD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3798B-ECD3-32E9-9B74-6D761E3AA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E2443F-87BD-CFD1-8A4C-CA0D911E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1713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7B514-5C0F-91C8-9086-96E98E2B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467521-6441-49DD-657C-A9F9ECCE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29684F-ADC5-40EE-29F5-352B32B7C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7310E-84BC-1668-4738-8C6506C2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2730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B1DE42-EFFF-52A5-9069-2558A060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6EE09-01B8-5E7D-A9AC-ECED3892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83AEB-9C93-CF86-D334-CE30895D0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140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63A1B-8068-C274-CEAF-492A5CC6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DB75-B5C7-6302-3091-FF9573490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3D8E1-0759-B964-DB0B-A80FF1603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68116D-4DFE-FAC6-4C4B-A53BD3CFD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CF31FB-ED89-D4B0-A7DA-C57424FE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EBD40-61C2-7E15-336F-F34935FD7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0479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610F3-140C-EFEB-F2FA-739E5E7D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E401B-004D-0780-B8E4-3F1FB20EAB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3150E9-B00B-0542-A850-0B34BE69F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C802-98E2-7466-6330-337163929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EB337-7B9A-EE26-F59D-F3FBC68BD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4C702-6F8D-DDAE-83A4-E9A2ADCE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0385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0964-B1E6-1C1B-491D-8D87B530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A3D5C-B633-CC1B-AA44-E499C1CBE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A48F7-B899-0EA5-94AE-D4B3533A6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3F8E2-1843-33D6-C8C9-6A5720DF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F2A81-7DFE-29D5-C375-A137C2555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63602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90F015-E7EA-2A69-6323-A3EB90C82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3ACB86-CF84-A074-9A1F-2F408DD4E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30080-38B2-3A79-5209-5EEE297B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CF3C8-BDA0-EBA1-09D5-D77B02FE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075F-0BE7-8E63-5582-D8F0FED4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5657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C28348-1E0F-4158-DFB4-4EF9E0692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52730-C780-711F-8EC9-A46588BC7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E76EE-5EE3-0069-FE21-07534E8C3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A3FF9-0028-4556-8BB5-EE36D45F941B}" type="datetimeFigureOut">
              <a:rPr lang="LID4096" smtClean="0"/>
              <a:t>02/23/2026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AFFDE-209F-EABB-F557-E838A5D21E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54F25-00E5-EC11-F2EE-A05BD6D65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94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98E5-5A49-760C-EC35-E81E4300A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7685-C07F-EFB7-72F1-1422DCA0C0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000" b="1" dirty="0" err="1">
                <a:solidFill>
                  <a:schemeClr val="accent1">
                    <a:lumMod val="75000"/>
                  </a:schemeClr>
                </a:solidFill>
              </a:rPr>
              <a:t>Datenanalyse</a:t>
            </a:r>
            <a:br>
              <a:rPr lang="en-US" sz="8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b="1" dirty="0"/>
              <a:t>Data Analysis</a:t>
            </a:r>
            <a:endParaRPr lang="LID4096" sz="8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98E596-E0F4-E60F-E73A-05489C07A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9213"/>
          </a:xfrm>
        </p:spPr>
        <p:txBody>
          <a:bodyPr>
            <a:normAutofit fontScale="47500" lnSpcReduction="20000"/>
          </a:bodyPr>
          <a:lstStyle/>
          <a:p>
            <a:br>
              <a:rPr lang="en-US" sz="3600" b="1" dirty="0"/>
            </a:br>
            <a:r>
              <a:rPr lang="en-US" sz="12600" b="1" dirty="0" err="1"/>
              <a:t>Grundlagen</a:t>
            </a:r>
            <a:endParaRPr lang="LID4096" sz="3600" b="1" dirty="0"/>
          </a:p>
        </p:txBody>
      </p:sp>
    </p:spTree>
    <p:extLst>
      <p:ext uri="{BB962C8B-B14F-4D97-AF65-F5344CB8AC3E}">
        <p14:creationId xmlns:p14="http://schemas.microsoft.com/office/powerpoint/2010/main" val="2112175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43AF4DC-A281-4750-7689-04550908EEE8}"/>
              </a:ext>
            </a:extLst>
          </p:cNvPr>
          <p:cNvSpPr/>
          <p:nvPr/>
        </p:nvSpPr>
        <p:spPr>
          <a:xfrm>
            <a:off x="496213" y="1024616"/>
            <a:ext cx="2067374" cy="483325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Graphic 6" descr="Question mark">
            <a:extLst>
              <a:ext uri="{FF2B5EF4-FFF2-40B4-BE49-F238E27FC236}">
                <a16:creationId xmlns:a16="http://schemas.microsoft.com/office/drawing/2014/main" id="{3CD82926-BF69-61BA-A2B8-AE13D07699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700" y="1455763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F748B9C-7513-93B1-01D3-D7DFFC032034}"/>
              </a:ext>
            </a:extLst>
          </p:cNvPr>
          <p:cNvSpPr txBox="1"/>
          <p:nvPr/>
        </p:nvSpPr>
        <p:spPr>
          <a:xfrm>
            <a:off x="776675" y="2512330"/>
            <a:ext cx="150645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/>
              <a:t>Fragestellung</a:t>
            </a:r>
            <a:endParaRPr lang="en-US" sz="1600" b="1" dirty="0"/>
          </a:p>
          <a:p>
            <a:endParaRPr lang="en-US" sz="1600" dirty="0"/>
          </a:p>
          <a:p>
            <a:pPr algn="ctr"/>
            <a:r>
              <a:rPr lang="de-DE" sz="1400" dirty="0"/>
              <a:t>Festlegung des Problems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Bestimmung</a:t>
            </a:r>
            <a:r>
              <a:rPr lang="en-US" sz="1400" dirty="0"/>
              <a:t> der </a:t>
            </a:r>
            <a:r>
              <a:rPr lang="en-US" sz="1400" dirty="0" err="1"/>
              <a:t>relevanten</a:t>
            </a:r>
            <a:r>
              <a:rPr lang="en-US" sz="1400" dirty="0"/>
              <a:t> </a:t>
            </a:r>
            <a:r>
              <a:rPr lang="en-US" sz="1400" dirty="0" err="1"/>
              <a:t>Kennzahlen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Was </a:t>
            </a:r>
            <a:r>
              <a:rPr lang="en-US" sz="1400" dirty="0" err="1"/>
              <a:t>treibt</a:t>
            </a:r>
            <a:r>
              <a:rPr lang="en-US" sz="1400" dirty="0"/>
              <a:t> die Kunden </a:t>
            </a:r>
            <a:r>
              <a:rPr lang="en-US" sz="1400" dirty="0" err="1"/>
              <a:t>zufriedenheit</a:t>
            </a:r>
            <a:r>
              <a:rPr lang="en-US" sz="1400" dirty="0"/>
              <a:t>?</a:t>
            </a:r>
            <a:endParaRPr lang="LID4096" sz="14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2E64AC7-D27B-6A45-ACD8-B06D8517723B}"/>
              </a:ext>
            </a:extLst>
          </p:cNvPr>
          <p:cNvSpPr/>
          <p:nvPr/>
        </p:nvSpPr>
        <p:spPr>
          <a:xfrm>
            <a:off x="2771466" y="1024616"/>
            <a:ext cx="2067374" cy="483325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0F39061-D5C5-812E-6950-4B8E8B63B5CD}"/>
              </a:ext>
            </a:extLst>
          </p:cNvPr>
          <p:cNvGrpSpPr/>
          <p:nvPr/>
        </p:nvGrpSpPr>
        <p:grpSpPr>
          <a:xfrm>
            <a:off x="2802728" y="1455763"/>
            <a:ext cx="2004850" cy="3118670"/>
            <a:chOff x="2521648" y="1455763"/>
            <a:chExt cx="2004850" cy="3118670"/>
          </a:xfrm>
        </p:grpSpPr>
        <p:pic>
          <p:nvPicPr>
            <p:cNvPr id="9" name="Graphic 8" descr="Database">
              <a:extLst>
                <a:ext uri="{FF2B5EF4-FFF2-40B4-BE49-F238E27FC236}">
                  <a16:creationId xmlns:a16="http://schemas.microsoft.com/office/drawing/2014/main" id="{476B54AC-BFD5-F800-D135-AD5B57514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66873" y="1455763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8DFA633-3341-86B8-27F8-C87ACA044166}"/>
                </a:ext>
              </a:extLst>
            </p:cNvPr>
            <p:cNvSpPr txBox="1"/>
            <p:nvPr/>
          </p:nvSpPr>
          <p:spPr>
            <a:xfrm>
              <a:off x="2521648" y="2512330"/>
              <a:ext cx="200485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/>
                <a:t>Erhebung</a:t>
              </a:r>
            </a:p>
            <a:p>
              <a:pPr algn="ctr"/>
              <a:endParaRPr lang="de-DE" sz="1400" dirty="0"/>
            </a:p>
            <a:p>
              <a:pPr algn="ctr"/>
              <a:r>
                <a:rPr lang="de-DE" sz="1400" dirty="0"/>
                <a:t>Sammlung von Daten</a:t>
              </a:r>
            </a:p>
            <a:p>
              <a:pPr algn="ctr"/>
              <a:r>
                <a:rPr lang="de-DE" sz="1400" dirty="0"/>
                <a:t>Datenbanken, APIs, Web </a:t>
              </a:r>
              <a:r>
                <a:rPr lang="de-DE" sz="1400" dirty="0" err="1"/>
                <a:t>Scraping</a:t>
              </a:r>
              <a:endParaRPr lang="de-DE" sz="1400" dirty="0"/>
            </a:p>
            <a:p>
              <a:pPr algn="ctr"/>
              <a:endParaRPr lang="de-DE" sz="1400" dirty="0"/>
            </a:p>
            <a:p>
              <a:pPr algn="ctr"/>
              <a:r>
                <a:rPr lang="en-US" sz="1400" dirty="0" err="1"/>
                <a:t>Produktbewertungen</a:t>
              </a:r>
              <a:endParaRPr lang="en-US" sz="1400" dirty="0"/>
            </a:p>
            <a:p>
              <a:pPr algn="ctr"/>
              <a:r>
                <a:rPr lang="en-US" sz="1400" dirty="0" err="1"/>
                <a:t>Lieferzeiten</a:t>
              </a:r>
              <a:endParaRPr lang="en-US" sz="1400" dirty="0"/>
            </a:p>
            <a:p>
              <a:pPr algn="ctr"/>
              <a:r>
                <a:rPr lang="en-US" sz="1400" dirty="0" err="1"/>
                <a:t>Preise</a:t>
              </a:r>
              <a:r>
                <a:rPr lang="en-US" sz="1400" dirty="0"/>
                <a:t> &amp; </a:t>
              </a:r>
              <a:r>
                <a:rPr lang="en-US" sz="1400" dirty="0" err="1"/>
                <a:t>Rabatte</a:t>
              </a:r>
              <a:endParaRPr lang="en-US" sz="14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1494EC8-C6E2-9439-105B-EAC73E3DA858}"/>
              </a:ext>
            </a:extLst>
          </p:cNvPr>
          <p:cNvSpPr/>
          <p:nvPr/>
        </p:nvSpPr>
        <p:spPr>
          <a:xfrm>
            <a:off x="5046719" y="1024616"/>
            <a:ext cx="2067374" cy="48332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9" name="Graphic 18" descr="Checklist">
            <a:extLst>
              <a:ext uri="{FF2B5EF4-FFF2-40B4-BE49-F238E27FC236}">
                <a16:creationId xmlns:a16="http://schemas.microsoft.com/office/drawing/2014/main" id="{5674ACFB-94AF-E452-F96B-AA1A76DC1C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23206" y="145576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E7AF935-C9DA-A1C8-F302-67A8ABEAB3C3}"/>
              </a:ext>
            </a:extLst>
          </p:cNvPr>
          <p:cNvSpPr txBox="1"/>
          <p:nvPr/>
        </p:nvSpPr>
        <p:spPr>
          <a:xfrm>
            <a:off x="5077981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Vorbereitung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Bereinigung Fehlende Werte oder unvollständiger 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Transformation und </a:t>
            </a:r>
            <a:r>
              <a:rPr lang="de-DE" sz="1400" dirty="0" err="1"/>
              <a:t>strukturierung</a:t>
            </a:r>
            <a:r>
              <a:rPr lang="de-DE" sz="1400" dirty="0"/>
              <a:t> der Rohdaten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 err="1"/>
              <a:t>Z.b.</a:t>
            </a:r>
            <a:r>
              <a:rPr lang="de-DE" sz="1400" dirty="0"/>
              <a:t> EUR, USD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98568F5-E42F-8BB3-A490-D5BE0EF78F44}"/>
              </a:ext>
            </a:extLst>
          </p:cNvPr>
          <p:cNvSpPr/>
          <p:nvPr/>
        </p:nvSpPr>
        <p:spPr>
          <a:xfrm>
            <a:off x="7321972" y="10123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3" name="Graphic 12" descr="Research">
            <a:extLst>
              <a:ext uri="{FF2B5EF4-FFF2-40B4-BE49-F238E27FC236}">
                <a16:creationId xmlns:a16="http://schemas.microsoft.com/office/drawing/2014/main" id="{A19EC08F-EE9E-EEC3-70FF-6AA50E2E51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98459" y="1455763"/>
            <a:ext cx="914400" cy="9144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87E938B-C533-53F6-0B07-680FA385DE68}"/>
              </a:ext>
            </a:extLst>
          </p:cNvPr>
          <p:cNvSpPr txBox="1"/>
          <p:nvPr/>
        </p:nvSpPr>
        <p:spPr>
          <a:xfrm>
            <a:off x="7353234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Korrelationen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Mustererkennung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Anwendung von Modellen zur</a:t>
            </a:r>
          </a:p>
          <a:p>
            <a:pPr algn="ctr"/>
            <a:r>
              <a:rPr lang="de-DE" sz="1400" dirty="0"/>
              <a:t>Erkenntnisgewinnung</a:t>
            </a:r>
            <a:endParaRPr lang="LID4096" sz="140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C62606D-036F-F460-EAC8-BF67CF336768}"/>
              </a:ext>
            </a:extLst>
          </p:cNvPr>
          <p:cNvSpPr/>
          <p:nvPr/>
        </p:nvSpPr>
        <p:spPr>
          <a:xfrm>
            <a:off x="9597223" y="1024616"/>
            <a:ext cx="2067374" cy="483325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15" name="Graphic 14" descr="Share">
            <a:extLst>
              <a:ext uri="{FF2B5EF4-FFF2-40B4-BE49-F238E27FC236}">
                <a16:creationId xmlns:a16="http://schemas.microsoft.com/office/drawing/2014/main" id="{FF895700-3132-0648-A450-8F1704B896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73710" y="1455763"/>
            <a:ext cx="914400" cy="9144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007D182-B808-E93F-8C23-74CEF8A12818}"/>
              </a:ext>
            </a:extLst>
          </p:cNvPr>
          <p:cNvSpPr txBox="1"/>
          <p:nvPr/>
        </p:nvSpPr>
        <p:spPr>
          <a:xfrm>
            <a:off x="9628485" y="2512330"/>
            <a:ext cx="2004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Teilen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Berichte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Präsentationen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/>
              <a:t>Storytelling </a:t>
            </a:r>
            <a:r>
              <a:rPr lang="en-US" sz="1400" dirty="0" err="1"/>
              <a:t>mit</a:t>
            </a:r>
            <a:r>
              <a:rPr lang="en-US" sz="1400" dirty="0"/>
              <a:t> Daten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Klare </a:t>
            </a:r>
            <a:r>
              <a:rPr lang="en-US" sz="1400" dirty="0" err="1"/>
              <a:t>Empfehlungen</a:t>
            </a:r>
            <a:r>
              <a:rPr lang="en-US" sz="1400" dirty="0"/>
              <a:t> </a:t>
            </a:r>
            <a:r>
              <a:rPr lang="en-US" sz="1400" dirty="0" err="1"/>
              <a:t>geben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387338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524F6DF1-AF8B-B5EC-EC2F-2A121854376C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Python, </a:t>
            </a:r>
            <a:r>
              <a:rPr lang="de-DE" sz="1400" dirty="0" err="1"/>
              <a:t>Jupyter</a:t>
            </a:r>
            <a:r>
              <a:rPr lang="de-DE" sz="1400" dirty="0"/>
              <a:t> Notebook, Bibliotheken installieren, </a:t>
            </a:r>
            <a:r>
              <a:rPr lang="de-DE" sz="1400" dirty="0" err="1"/>
              <a:t>VSCode</a:t>
            </a:r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Arbeiten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Jupyter</a:t>
            </a:r>
            <a:r>
              <a:rPr lang="en-US" sz="1400" dirty="0"/>
              <a:t> | </a:t>
            </a:r>
            <a:r>
              <a:rPr lang="de-DE" sz="1400" dirty="0"/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BAAF1-C0D6-B182-1588-C698583090A2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Daten in </a:t>
            </a:r>
            <a:r>
              <a:rPr lang="en-US" sz="1400" dirty="0" err="1"/>
              <a:t>Tabellen</a:t>
            </a:r>
            <a:r>
              <a:rPr lang="en-US" sz="1400" dirty="0"/>
              <a:t> &amp; </a:t>
            </a:r>
            <a:r>
              <a:rPr lang="en-US" sz="1400" dirty="0" err="1"/>
              <a:t>Beziehungen</a:t>
            </a:r>
            <a:r>
              <a:rPr lang="en-US" sz="1400" dirty="0"/>
              <a:t> </a:t>
            </a:r>
            <a:r>
              <a:rPr lang="en-US" sz="1400" dirty="0" err="1"/>
              <a:t>organisieren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Feature Engineering &amp; </a:t>
            </a:r>
            <a:r>
              <a:rPr lang="en-US" sz="1400" dirty="0" err="1"/>
              <a:t>Aggregationen</a:t>
            </a:r>
            <a:r>
              <a:rPr lang="en-US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5A6950-109D-6924-5D77-32AA072B8DCF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94054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06911-A5E2-6F03-201D-9F3FC9B1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0AAC8A20-FCDD-73E8-BA54-E9DE3D1863F8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056EDA-F70E-5862-5364-54C75A7BDA07}"/>
              </a:ext>
            </a:extLst>
          </p:cNvPr>
          <p:cNvSpPr txBox="1"/>
          <p:nvPr/>
        </p:nvSpPr>
        <p:spPr>
          <a:xfrm>
            <a:off x="10803467" y="47193"/>
            <a:ext cx="1299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process</a:t>
            </a:r>
            <a:endParaRPr lang="LID4096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01BBE8A-38DE-BEAC-0233-05229AC7506A}"/>
              </a:ext>
            </a:extLst>
          </p:cNvPr>
          <p:cNvSpPr/>
          <p:nvPr/>
        </p:nvSpPr>
        <p:spPr>
          <a:xfrm>
            <a:off x="496213" y="1024616"/>
            <a:ext cx="2067374" cy="483325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1" name="Graphic 30" descr="Question mark">
            <a:extLst>
              <a:ext uri="{FF2B5EF4-FFF2-40B4-BE49-F238E27FC236}">
                <a16:creationId xmlns:a16="http://schemas.microsoft.com/office/drawing/2014/main" id="{70393C53-2048-FE4C-CE55-054342C613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700" y="1455763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7A8AEF-C94D-DFBC-0EEC-8A5BF4A02607}"/>
              </a:ext>
            </a:extLst>
          </p:cNvPr>
          <p:cNvSpPr txBox="1"/>
          <p:nvPr/>
        </p:nvSpPr>
        <p:spPr>
          <a:xfrm>
            <a:off x="776675" y="2512330"/>
            <a:ext cx="150645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/>
              <a:t>Fragestellung</a:t>
            </a:r>
            <a:endParaRPr lang="en-US" sz="1600" b="1" dirty="0"/>
          </a:p>
          <a:p>
            <a:endParaRPr lang="en-US" sz="1600" dirty="0"/>
          </a:p>
          <a:p>
            <a:pPr algn="ctr"/>
            <a:r>
              <a:rPr lang="de-DE" sz="1400" dirty="0"/>
              <a:t>Festlegung des Problems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Bestimmung</a:t>
            </a:r>
            <a:r>
              <a:rPr lang="en-US" sz="1400" dirty="0"/>
              <a:t> der </a:t>
            </a:r>
            <a:r>
              <a:rPr lang="en-US" sz="1400" dirty="0" err="1"/>
              <a:t>relevanten</a:t>
            </a:r>
            <a:r>
              <a:rPr lang="en-US" sz="1400" dirty="0"/>
              <a:t> </a:t>
            </a:r>
            <a:r>
              <a:rPr lang="en-US" sz="1400" dirty="0" err="1"/>
              <a:t>Kennzahlen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Was </a:t>
            </a:r>
            <a:r>
              <a:rPr lang="en-US" sz="1400" dirty="0" err="1"/>
              <a:t>treibt</a:t>
            </a:r>
            <a:r>
              <a:rPr lang="en-US" sz="1400" dirty="0"/>
              <a:t> die Kunden </a:t>
            </a:r>
            <a:r>
              <a:rPr lang="en-US" sz="1400" dirty="0" err="1"/>
              <a:t>zufriedenheit</a:t>
            </a:r>
            <a:r>
              <a:rPr lang="en-US" sz="1400" dirty="0"/>
              <a:t>?</a:t>
            </a:r>
            <a:endParaRPr lang="LID4096" sz="14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4294CBF-CC7D-A6AD-1FA6-99B8EDA354E3}"/>
              </a:ext>
            </a:extLst>
          </p:cNvPr>
          <p:cNvSpPr/>
          <p:nvPr/>
        </p:nvSpPr>
        <p:spPr>
          <a:xfrm>
            <a:off x="2771466" y="1024616"/>
            <a:ext cx="2067374" cy="483325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DCB6697-0643-8D84-F464-D9CF5FBF1E6D}"/>
              </a:ext>
            </a:extLst>
          </p:cNvPr>
          <p:cNvGrpSpPr/>
          <p:nvPr/>
        </p:nvGrpSpPr>
        <p:grpSpPr>
          <a:xfrm>
            <a:off x="2802728" y="1455763"/>
            <a:ext cx="2004850" cy="3118670"/>
            <a:chOff x="2521648" y="1455763"/>
            <a:chExt cx="2004850" cy="3118670"/>
          </a:xfrm>
        </p:grpSpPr>
        <p:pic>
          <p:nvPicPr>
            <p:cNvPr id="35" name="Graphic 34" descr="Database">
              <a:extLst>
                <a:ext uri="{FF2B5EF4-FFF2-40B4-BE49-F238E27FC236}">
                  <a16:creationId xmlns:a16="http://schemas.microsoft.com/office/drawing/2014/main" id="{377AE0B0-9940-D905-D8CF-6929A0FB9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66873" y="1455763"/>
              <a:ext cx="914400" cy="9144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BB8D6E9-DBC5-4B58-5AE5-3D747D84E715}"/>
                </a:ext>
              </a:extLst>
            </p:cNvPr>
            <p:cNvSpPr txBox="1"/>
            <p:nvPr/>
          </p:nvSpPr>
          <p:spPr>
            <a:xfrm>
              <a:off x="2521648" y="2512330"/>
              <a:ext cx="200485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/>
                <a:t>Erhebung</a:t>
              </a:r>
            </a:p>
            <a:p>
              <a:pPr algn="ctr"/>
              <a:endParaRPr lang="de-DE" sz="1400" dirty="0"/>
            </a:p>
            <a:p>
              <a:pPr algn="ctr"/>
              <a:r>
                <a:rPr lang="de-DE" sz="1400" dirty="0"/>
                <a:t>Sammlung von Daten</a:t>
              </a:r>
            </a:p>
            <a:p>
              <a:pPr algn="ctr"/>
              <a:r>
                <a:rPr lang="de-DE" sz="1400" dirty="0"/>
                <a:t>Datenbanken, APIs, Web </a:t>
              </a:r>
              <a:r>
                <a:rPr lang="de-DE" sz="1400" dirty="0" err="1"/>
                <a:t>Scraping</a:t>
              </a:r>
              <a:endParaRPr lang="de-DE" sz="1400" dirty="0"/>
            </a:p>
            <a:p>
              <a:pPr algn="ctr"/>
              <a:endParaRPr lang="de-DE" sz="1400" dirty="0"/>
            </a:p>
            <a:p>
              <a:pPr algn="ctr"/>
              <a:r>
                <a:rPr lang="en-US" sz="1400" dirty="0" err="1"/>
                <a:t>Produktbewertungen</a:t>
              </a:r>
              <a:endParaRPr lang="en-US" sz="1400" dirty="0"/>
            </a:p>
            <a:p>
              <a:pPr algn="ctr"/>
              <a:r>
                <a:rPr lang="en-US" sz="1400" dirty="0" err="1"/>
                <a:t>Lieferzeiten</a:t>
              </a:r>
              <a:endParaRPr lang="en-US" sz="1400" dirty="0"/>
            </a:p>
            <a:p>
              <a:pPr algn="ctr"/>
              <a:r>
                <a:rPr lang="en-US" sz="1400" dirty="0" err="1"/>
                <a:t>Preise</a:t>
              </a:r>
              <a:r>
                <a:rPr lang="en-US" sz="1400" dirty="0"/>
                <a:t> &amp; </a:t>
              </a:r>
              <a:r>
                <a:rPr lang="en-US" sz="1400" dirty="0" err="1"/>
                <a:t>Rabatte</a:t>
              </a:r>
              <a:endParaRPr lang="en-US" sz="14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C560BAA-B555-E917-2DD2-B086E3B94B85}"/>
              </a:ext>
            </a:extLst>
          </p:cNvPr>
          <p:cNvSpPr/>
          <p:nvPr/>
        </p:nvSpPr>
        <p:spPr>
          <a:xfrm>
            <a:off x="5046719" y="1024616"/>
            <a:ext cx="2067374" cy="48332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8" name="Graphic 37" descr="Checklist">
            <a:extLst>
              <a:ext uri="{FF2B5EF4-FFF2-40B4-BE49-F238E27FC236}">
                <a16:creationId xmlns:a16="http://schemas.microsoft.com/office/drawing/2014/main" id="{79C85BAC-7E8F-C2D3-D0F2-2AC9C669E9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23206" y="1455763"/>
            <a:ext cx="914400" cy="914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865E7A7-88CE-7122-773F-13AD1D10BABF}"/>
              </a:ext>
            </a:extLst>
          </p:cNvPr>
          <p:cNvSpPr txBox="1"/>
          <p:nvPr/>
        </p:nvSpPr>
        <p:spPr>
          <a:xfrm>
            <a:off x="5077981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Vorbereitung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Bereinigung Fehlende Werte oder unvollständiger 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Transformation und </a:t>
            </a:r>
            <a:r>
              <a:rPr lang="de-DE" sz="1400" dirty="0" err="1"/>
              <a:t>strukturierung</a:t>
            </a:r>
            <a:r>
              <a:rPr lang="de-DE" sz="1400" dirty="0"/>
              <a:t> der Rohdaten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 err="1"/>
              <a:t>Z.b.</a:t>
            </a:r>
            <a:r>
              <a:rPr lang="de-DE" sz="1400" dirty="0"/>
              <a:t> EUR, USD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EA26673D-789D-538C-7ECF-BD249C0457C8}"/>
              </a:ext>
            </a:extLst>
          </p:cNvPr>
          <p:cNvSpPr/>
          <p:nvPr/>
        </p:nvSpPr>
        <p:spPr>
          <a:xfrm>
            <a:off x="7321972" y="10123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1" name="Graphic 40" descr="Research">
            <a:extLst>
              <a:ext uri="{FF2B5EF4-FFF2-40B4-BE49-F238E27FC236}">
                <a16:creationId xmlns:a16="http://schemas.microsoft.com/office/drawing/2014/main" id="{4C8FF617-5522-CDB4-5692-99C9F3C2E4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98459" y="1455763"/>
            <a:ext cx="914400" cy="9144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E527BC7-284B-088A-B0F0-AA3F210C7BC0}"/>
              </a:ext>
            </a:extLst>
          </p:cNvPr>
          <p:cNvSpPr txBox="1"/>
          <p:nvPr/>
        </p:nvSpPr>
        <p:spPr>
          <a:xfrm>
            <a:off x="7353234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Korrelationen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Mustererkennung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Anwendung von Modellen zur</a:t>
            </a:r>
          </a:p>
          <a:p>
            <a:pPr algn="ctr"/>
            <a:r>
              <a:rPr lang="de-DE" sz="1400" dirty="0"/>
              <a:t>Erkenntnisgewinnung</a:t>
            </a:r>
            <a:endParaRPr lang="LID4096" sz="1400" dirty="0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FDBEC20-9558-8F71-ED61-2146B97FF8FF}"/>
              </a:ext>
            </a:extLst>
          </p:cNvPr>
          <p:cNvSpPr/>
          <p:nvPr/>
        </p:nvSpPr>
        <p:spPr>
          <a:xfrm>
            <a:off x="9597223" y="1024616"/>
            <a:ext cx="2067374" cy="483325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4" name="Graphic 43" descr="Share">
            <a:extLst>
              <a:ext uri="{FF2B5EF4-FFF2-40B4-BE49-F238E27FC236}">
                <a16:creationId xmlns:a16="http://schemas.microsoft.com/office/drawing/2014/main" id="{0598B757-8FCB-68A3-4E22-C1A5B19FC18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73710" y="1455763"/>
            <a:ext cx="914400" cy="9144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59A93B4-76D7-0305-9872-2FCEBF929737}"/>
              </a:ext>
            </a:extLst>
          </p:cNvPr>
          <p:cNvSpPr txBox="1"/>
          <p:nvPr/>
        </p:nvSpPr>
        <p:spPr>
          <a:xfrm>
            <a:off x="9628485" y="2512330"/>
            <a:ext cx="2004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Teilen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Berichte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Präsentationen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/>
              <a:t>Storytelling </a:t>
            </a:r>
            <a:r>
              <a:rPr lang="en-US" sz="1400" dirty="0" err="1"/>
              <a:t>mit</a:t>
            </a:r>
            <a:r>
              <a:rPr lang="en-US" sz="1400" dirty="0"/>
              <a:t> Daten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Klare </a:t>
            </a:r>
            <a:r>
              <a:rPr lang="en-US" sz="1400" dirty="0" err="1"/>
              <a:t>Empfehlungen</a:t>
            </a:r>
            <a:r>
              <a:rPr lang="en-US" sz="1400" dirty="0"/>
              <a:t> </a:t>
            </a:r>
            <a:r>
              <a:rPr lang="en-US" sz="1400" dirty="0" err="1"/>
              <a:t>geben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3836150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B9973-BC5B-FA71-43C5-AF2438BA5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12DC098-EACB-1995-20D5-7BBE37C27506}"/>
              </a:ext>
            </a:extLst>
          </p:cNvPr>
          <p:cNvSpPr/>
          <p:nvPr/>
        </p:nvSpPr>
        <p:spPr>
          <a:xfrm>
            <a:off x="626533" y="5020734"/>
            <a:ext cx="5587835" cy="982133"/>
          </a:xfrm>
          <a:prstGeom prst="roundRect">
            <a:avLst/>
          </a:prstGeom>
          <a:solidFill>
            <a:srgbClr val="FF99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sz="1400" dirty="0"/>
              <a:t>Ich </a:t>
            </a:r>
            <a:r>
              <a:rPr lang="en-US" sz="1400" dirty="0" err="1"/>
              <a:t>habe</a:t>
            </a:r>
            <a:r>
              <a:rPr lang="en-US" sz="1400" dirty="0"/>
              <a:t> Daten, </a:t>
            </a:r>
            <a:r>
              <a:rPr lang="en-US" sz="1400" dirty="0" err="1"/>
              <a:t>dass</a:t>
            </a:r>
            <a:r>
              <a:rPr lang="en-US" sz="1400" dirty="0"/>
              <a:t> …</a:t>
            </a:r>
            <a:endParaRPr lang="LID4096" sz="1400" dirty="0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54C9E918-8A8B-CB31-B998-88DBA3524D73}"/>
              </a:ext>
            </a:extLst>
          </p:cNvPr>
          <p:cNvSpPr/>
          <p:nvPr/>
        </p:nvSpPr>
        <p:spPr>
          <a:xfrm>
            <a:off x="1235906" y="3945468"/>
            <a:ext cx="4369090" cy="982133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Information</a:t>
            </a:r>
          </a:p>
          <a:p>
            <a:pPr algn="ctr"/>
            <a:r>
              <a:rPr lang="en-US" sz="1400" dirty="0"/>
              <a:t>Ich bin </a:t>
            </a:r>
            <a:r>
              <a:rPr lang="en-US" sz="1400" dirty="0" err="1"/>
              <a:t>informiert</a:t>
            </a:r>
            <a:r>
              <a:rPr lang="en-US" sz="1400" dirty="0"/>
              <a:t>, </a:t>
            </a:r>
            <a:r>
              <a:rPr lang="en-US" sz="1400" dirty="0" err="1"/>
              <a:t>dass</a:t>
            </a:r>
            <a:r>
              <a:rPr lang="en-US" sz="1400" dirty="0"/>
              <a:t>…</a:t>
            </a:r>
            <a:endParaRPr lang="LID4096" sz="1400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0414C4A2-327B-A0D9-8402-58009C07C89C}"/>
              </a:ext>
            </a:extLst>
          </p:cNvPr>
          <p:cNvSpPr/>
          <p:nvPr/>
        </p:nvSpPr>
        <p:spPr>
          <a:xfrm>
            <a:off x="1865400" y="2879271"/>
            <a:ext cx="3110101" cy="982133"/>
          </a:xfrm>
          <a:prstGeom prst="roundRect">
            <a:avLst/>
          </a:prstGeom>
          <a:solidFill>
            <a:srgbClr val="3366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Knowledge</a:t>
            </a:r>
          </a:p>
          <a:p>
            <a:pPr algn="ctr"/>
            <a:r>
              <a:rPr lang="en-US" sz="1400" dirty="0"/>
              <a:t>Ich Weiss, </a:t>
            </a:r>
            <a:r>
              <a:rPr lang="en-US" sz="1400" dirty="0" err="1"/>
              <a:t>dass</a:t>
            </a:r>
            <a:r>
              <a:rPr lang="en-US" sz="1400" dirty="0"/>
              <a:t>…</a:t>
            </a:r>
            <a:endParaRPr lang="LID4096" sz="140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B603EC1-0E67-DCEF-A78A-78EBEBF5E793}"/>
              </a:ext>
            </a:extLst>
          </p:cNvPr>
          <p:cNvSpPr/>
          <p:nvPr/>
        </p:nvSpPr>
        <p:spPr>
          <a:xfrm>
            <a:off x="2489144" y="1804004"/>
            <a:ext cx="1862612" cy="982133"/>
          </a:xfrm>
          <a:prstGeom prst="roundRect">
            <a:avLst/>
          </a:prstGeom>
          <a:solidFill>
            <a:srgbClr val="009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Wisdom</a:t>
            </a:r>
          </a:p>
          <a:p>
            <a:pPr algn="ctr"/>
            <a:r>
              <a:rPr lang="en-US" sz="1400" dirty="0"/>
              <a:t>Ich </a:t>
            </a:r>
            <a:r>
              <a:rPr lang="en-US" sz="1400" dirty="0" err="1"/>
              <a:t>entscheide</a:t>
            </a:r>
            <a:r>
              <a:rPr lang="en-US" sz="1400" dirty="0"/>
              <a:t> …</a:t>
            </a:r>
            <a:endParaRPr lang="LID4096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13F800-6C02-4352-EAA9-924AEE69B424}"/>
              </a:ext>
            </a:extLst>
          </p:cNvPr>
          <p:cNvSpPr txBox="1"/>
          <p:nvPr/>
        </p:nvSpPr>
        <p:spPr>
          <a:xfrm>
            <a:off x="6641977" y="5096302"/>
            <a:ext cx="51382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Schlafstunden pro Nacht, Anzahl der Aufwachmomente, </a:t>
            </a:r>
          </a:p>
          <a:p>
            <a:r>
              <a:rPr lang="de-DE" sz="1600" dirty="0"/>
              <a:t>Handynutzung vor dem Schlaf.</a:t>
            </a:r>
          </a:p>
          <a:p>
            <a:r>
              <a:rPr lang="en-US" sz="1600" dirty="0"/>
              <a:t>Hours slept, bedtime, wake-up time, phone use before bed.</a:t>
            </a:r>
            <a:endParaRPr lang="LID4096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E5DC87-D9C9-DE65-1031-2A9CD00CECEC}"/>
              </a:ext>
            </a:extLst>
          </p:cNvPr>
          <p:cNvSpPr txBox="1"/>
          <p:nvPr/>
        </p:nvSpPr>
        <p:spPr>
          <a:xfrm>
            <a:off x="6641977" y="4021036"/>
            <a:ext cx="52543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Handynutzung vor dem Schlaf </a:t>
            </a:r>
            <a:r>
              <a:rPr lang="de-DE" sz="1600" b="1" dirty="0"/>
              <a:t>korreliert</a:t>
            </a:r>
            <a:r>
              <a:rPr lang="de-DE" sz="1600" dirty="0"/>
              <a:t> mit </a:t>
            </a:r>
          </a:p>
          <a:p>
            <a:r>
              <a:rPr lang="de-DE" sz="1600" dirty="0"/>
              <a:t>häufigeren Aufwachmomenten</a:t>
            </a:r>
          </a:p>
          <a:p>
            <a:r>
              <a:rPr lang="en-US" sz="1600" dirty="0"/>
              <a:t>Late-night phone use correlates with more night awakenings </a:t>
            </a:r>
            <a:endParaRPr lang="LID4096" sz="16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FD97502-8100-4804-A9EF-60DA8EE3218E}"/>
              </a:ext>
            </a:extLst>
          </p:cNvPr>
          <p:cNvSpPr txBox="1"/>
          <p:nvPr/>
        </p:nvSpPr>
        <p:spPr>
          <a:xfrm>
            <a:off x="6641977" y="2939450"/>
            <a:ext cx="49522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dirty="0"/>
              <a:t>Späte Handynutzung verschlechtert die Schlafqualität</a:t>
            </a:r>
          </a:p>
          <a:p>
            <a:r>
              <a:rPr lang="de-DE" sz="1600" b="1" dirty="0"/>
              <a:t>Kausalität</a:t>
            </a:r>
          </a:p>
          <a:p>
            <a:r>
              <a:rPr lang="de-DE" sz="1600" dirty="0"/>
              <a:t>Late screen time </a:t>
            </a:r>
            <a:r>
              <a:rPr lang="de-DE" sz="1600" dirty="0" err="1"/>
              <a:t>reduce</a:t>
            </a:r>
            <a:r>
              <a:rPr lang="de-DE" sz="1600" dirty="0"/>
              <a:t> </a:t>
            </a:r>
            <a:r>
              <a:rPr lang="de-DE" sz="1600" dirty="0" err="1"/>
              <a:t>sleep</a:t>
            </a:r>
            <a:r>
              <a:rPr lang="de-DE" sz="1600" dirty="0"/>
              <a:t> </a:t>
            </a:r>
            <a:r>
              <a:rPr lang="de-DE" sz="1600" dirty="0" err="1"/>
              <a:t>quality</a:t>
            </a:r>
            <a:endParaRPr lang="de-DE" sz="16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5112BB-3F0C-D9B1-C5C0-F0214C954757}"/>
              </a:ext>
            </a:extLst>
          </p:cNvPr>
          <p:cNvSpPr txBox="1"/>
          <p:nvPr/>
        </p:nvSpPr>
        <p:spPr>
          <a:xfrm>
            <a:off x="6641977" y="2002683"/>
            <a:ext cx="42113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dirty="0"/>
              <a:t>Bildschirme vor dem Schlaf vermeiden</a:t>
            </a:r>
          </a:p>
          <a:p>
            <a:r>
              <a:rPr lang="en-US" sz="1600" dirty="0"/>
              <a:t>Avoid screens before bed </a:t>
            </a:r>
            <a:endParaRPr lang="de-DE" sz="16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B73195-5574-9812-F5BF-7C423140B7E2}"/>
              </a:ext>
            </a:extLst>
          </p:cNvPr>
          <p:cNvSpPr txBox="1"/>
          <p:nvPr/>
        </p:nvSpPr>
        <p:spPr>
          <a:xfrm>
            <a:off x="543997" y="593523"/>
            <a:ext cx="26428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/>
              <a:t>DIKW pyramid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A96A46D-B367-E7FC-4722-94D408C3DB51}"/>
              </a:ext>
            </a:extLst>
          </p:cNvPr>
          <p:cNvCxnSpPr>
            <a:stCxn id="45" idx="3"/>
            <a:endCxn id="53" idx="1"/>
          </p:cNvCxnSpPr>
          <p:nvPr/>
        </p:nvCxnSpPr>
        <p:spPr>
          <a:xfrm>
            <a:off x="4351756" y="2295071"/>
            <a:ext cx="2290221" cy="0"/>
          </a:xfrm>
          <a:prstGeom prst="line">
            <a:avLst/>
          </a:prstGeom>
          <a:ln w="28575">
            <a:solidFill>
              <a:srgbClr val="0099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5690561-5C55-1B9A-0DD9-92DCCD9FBDAB}"/>
              </a:ext>
            </a:extLst>
          </p:cNvPr>
          <p:cNvCxnSpPr>
            <a:cxnSpLocks/>
            <a:stCxn id="44" idx="3"/>
            <a:endCxn id="51" idx="1"/>
          </p:cNvCxnSpPr>
          <p:nvPr/>
        </p:nvCxnSpPr>
        <p:spPr>
          <a:xfrm flipV="1">
            <a:off x="4975501" y="3370337"/>
            <a:ext cx="1666476" cy="1"/>
          </a:xfrm>
          <a:prstGeom prst="line">
            <a:avLst/>
          </a:prstGeom>
          <a:ln w="28575">
            <a:solidFill>
              <a:srgbClr val="3366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1E9F883-4084-1AC4-663B-890B59FB0142}"/>
              </a:ext>
            </a:extLst>
          </p:cNvPr>
          <p:cNvCxnSpPr>
            <a:stCxn id="43" idx="3"/>
            <a:endCxn id="49" idx="1"/>
          </p:cNvCxnSpPr>
          <p:nvPr/>
        </p:nvCxnSpPr>
        <p:spPr>
          <a:xfrm>
            <a:off x="5604996" y="4436535"/>
            <a:ext cx="1036981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6315506-4DDA-9F27-F2F3-B2394068BB9D}"/>
              </a:ext>
            </a:extLst>
          </p:cNvPr>
          <p:cNvCxnSpPr>
            <a:stCxn id="42" idx="3"/>
            <a:endCxn id="48" idx="1"/>
          </p:cNvCxnSpPr>
          <p:nvPr/>
        </p:nvCxnSpPr>
        <p:spPr>
          <a:xfrm>
            <a:off x="6214368" y="5511801"/>
            <a:ext cx="427609" cy="0"/>
          </a:xfrm>
          <a:prstGeom prst="line">
            <a:avLst/>
          </a:prstGeom>
          <a:ln w="28575">
            <a:solidFill>
              <a:srgbClr val="FF99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0A1CC8B-19EF-5724-E413-E9595B5424B0}"/>
              </a:ext>
            </a:extLst>
          </p:cNvPr>
          <p:cNvSpPr txBox="1"/>
          <p:nvPr/>
        </p:nvSpPr>
        <p:spPr>
          <a:xfrm>
            <a:off x="10803467" y="47193"/>
            <a:ext cx="10885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value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781781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156AC-30C4-2912-C852-F8A9E4A74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7AE1D1E8-BB27-9F07-6D1A-519FABFBAFBE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Python, </a:t>
            </a:r>
            <a:r>
              <a:rPr lang="de-DE" sz="1400" b="1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 Notebook, Bibliotheken installieren, </a:t>
            </a:r>
            <a:r>
              <a:rPr lang="de-DE" sz="1400" b="1" dirty="0" err="1">
                <a:solidFill>
                  <a:schemeClr val="accent6">
                    <a:lumMod val="75000"/>
                  </a:schemeClr>
                </a:solidFill>
              </a:rPr>
              <a:t>VSCode</a:t>
            </a:r>
            <a:endParaRPr lang="de-DE" sz="1400" b="1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chemeClr val="accent6">
                    <a:lumMod val="75000"/>
                  </a:schemeClr>
                </a:solidFill>
              </a:rPr>
              <a:t>Arbeiten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6">
                    <a:lumMod val="75000"/>
                  </a:schemeClr>
                </a:solidFill>
              </a:rPr>
              <a:t>mit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 | </a:t>
            </a: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600" b="1" dirty="0">
                <a:solidFill>
                  <a:srgbClr val="FF9933"/>
                </a:solidFill>
              </a:rPr>
              <a:t>Analyseziele &amp; KPIs definieren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bg2">
                    <a:lumMod val="50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bg2">
                    <a:lumMod val="50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8B5D11-0392-D029-394E-0E2E29F38FDB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 &amp; Aggregation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Daten in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Tabellen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&amp;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Beziehungen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organisieren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Feature Engineering &amp;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Aggregationen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 &amp; KPIs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Mittelwert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Median, Modus,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Standardabweichung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Spannweite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Korrelationen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&amp;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Kreuztabellen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Klassische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Diagramme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Balkendiagramm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Histogramm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Boxplot,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Liniendiagramm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Streudiagramm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Interaktive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Mini-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Fallbeispiele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mit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allen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vorherigen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Schritten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Ergebnisse präsentieren &amp; diskutieren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11F9C1-4711-A265-C578-3AF4BAD66930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F27597A-65BE-0742-AA12-965AEC469016}"/>
              </a:ext>
            </a:extLst>
          </p:cNvPr>
          <p:cNvSpPr/>
          <p:nvPr/>
        </p:nvSpPr>
        <p:spPr>
          <a:xfrm>
            <a:off x="358375" y="2451100"/>
            <a:ext cx="4823225" cy="977900"/>
          </a:xfrm>
          <a:prstGeom prst="roundRect">
            <a:avLst/>
          </a:prstGeom>
          <a:noFill/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52529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37EAC-2717-EDE7-32AE-5A5C3A85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624C9CA-EA15-CFAC-EFAB-E7E9AF62EA27}"/>
              </a:ext>
            </a:extLst>
          </p:cNvPr>
          <p:cNvSpPr/>
          <p:nvPr/>
        </p:nvSpPr>
        <p:spPr>
          <a:xfrm>
            <a:off x="0" y="0"/>
            <a:ext cx="12192000" cy="6845300"/>
          </a:xfrm>
          <a:prstGeom prst="rect">
            <a:avLst/>
          </a:prstGeom>
          <a:gradFill flip="none" rotWithShape="1">
            <a:gsLst>
              <a:gs pos="0">
                <a:srgbClr val="CC99FF"/>
              </a:gs>
              <a:gs pos="53000">
                <a:schemeClr val="bg1"/>
              </a:gs>
              <a:gs pos="31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>
                <a:solidFill>
                  <a:schemeClr val="bg1">
                    <a:lumMod val="95000"/>
                  </a:schemeClr>
                </a:solidFill>
              </a:ln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55B7D9-6FFA-4968-71A8-E57FD2F59CCE}"/>
              </a:ext>
            </a:extLst>
          </p:cNvPr>
          <p:cNvSpPr txBox="1"/>
          <p:nvPr/>
        </p:nvSpPr>
        <p:spPr>
          <a:xfrm>
            <a:off x="2978808" y="172323"/>
            <a:ext cx="65377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600" b="1" dirty="0">
                <a:solidFill>
                  <a:srgbClr val="FF9933"/>
                </a:solidFill>
              </a:rPr>
              <a:t>Analyseziele &amp; KPIs</a:t>
            </a:r>
          </a:p>
          <a:p>
            <a:r>
              <a:rPr lang="de-DE" sz="1400" b="1" dirty="0"/>
              <a:t>Analysefragen &amp; Ziele identifizieren | KPIs</a:t>
            </a:r>
          </a:p>
          <a:p>
            <a:endParaRPr lang="de-DE" sz="1400" dirty="0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8BF2996-375C-C23A-FD0F-DCF788ED3CA1}"/>
              </a:ext>
            </a:extLst>
          </p:cNvPr>
          <p:cNvSpPr/>
          <p:nvPr/>
        </p:nvSpPr>
        <p:spPr>
          <a:xfrm>
            <a:off x="496213" y="1024616"/>
            <a:ext cx="2067374" cy="483325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5" name="Graphic 54" descr="Question mark">
            <a:extLst>
              <a:ext uri="{FF2B5EF4-FFF2-40B4-BE49-F238E27FC236}">
                <a16:creationId xmlns:a16="http://schemas.microsoft.com/office/drawing/2014/main" id="{7E1DE76B-A1E3-5525-E3EF-596C783A1B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700" y="1455763"/>
            <a:ext cx="914400" cy="91440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48831D7-9348-D929-C398-81871A364313}"/>
              </a:ext>
            </a:extLst>
          </p:cNvPr>
          <p:cNvSpPr txBox="1"/>
          <p:nvPr/>
        </p:nvSpPr>
        <p:spPr>
          <a:xfrm>
            <a:off x="776675" y="2512330"/>
            <a:ext cx="150645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/>
              <a:t>Fragestellung</a:t>
            </a:r>
            <a:endParaRPr lang="en-US" sz="1600" b="1" dirty="0"/>
          </a:p>
          <a:p>
            <a:endParaRPr lang="en-US" sz="1600" dirty="0"/>
          </a:p>
          <a:p>
            <a:pPr algn="ctr"/>
            <a:r>
              <a:rPr lang="de-DE" sz="1400" dirty="0"/>
              <a:t>Festlegung des Problems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Bestimmung</a:t>
            </a:r>
            <a:r>
              <a:rPr lang="en-US" sz="1400" dirty="0"/>
              <a:t> der </a:t>
            </a:r>
            <a:r>
              <a:rPr lang="en-US" sz="1400" dirty="0" err="1"/>
              <a:t>relevanten</a:t>
            </a:r>
            <a:r>
              <a:rPr lang="en-US" sz="1400" dirty="0"/>
              <a:t> </a:t>
            </a:r>
            <a:r>
              <a:rPr lang="en-US" sz="1400" dirty="0" err="1"/>
              <a:t>Kennzahlen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Was </a:t>
            </a:r>
            <a:r>
              <a:rPr lang="en-US" sz="1400" dirty="0" err="1"/>
              <a:t>treibt</a:t>
            </a:r>
            <a:r>
              <a:rPr lang="en-US" sz="1400" dirty="0"/>
              <a:t> die Kunden </a:t>
            </a:r>
            <a:r>
              <a:rPr lang="en-US" sz="1400" dirty="0" err="1"/>
              <a:t>zufriedenheit</a:t>
            </a:r>
            <a:r>
              <a:rPr lang="en-US" sz="1400" dirty="0"/>
              <a:t>?</a:t>
            </a:r>
            <a:endParaRPr lang="LID4096" sz="1400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6858C7C-49CE-82E1-AE2E-44036F7C00F9}"/>
              </a:ext>
            </a:extLst>
          </p:cNvPr>
          <p:cNvSpPr/>
          <p:nvPr/>
        </p:nvSpPr>
        <p:spPr>
          <a:xfrm>
            <a:off x="2771466" y="1024616"/>
            <a:ext cx="2067374" cy="483325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8E7511C-5884-66B6-9DF7-BA76E567E3BD}"/>
              </a:ext>
            </a:extLst>
          </p:cNvPr>
          <p:cNvGrpSpPr/>
          <p:nvPr/>
        </p:nvGrpSpPr>
        <p:grpSpPr>
          <a:xfrm>
            <a:off x="2802728" y="1455763"/>
            <a:ext cx="2004850" cy="3118670"/>
            <a:chOff x="2521648" y="1455763"/>
            <a:chExt cx="2004850" cy="3118670"/>
          </a:xfrm>
        </p:grpSpPr>
        <p:pic>
          <p:nvPicPr>
            <p:cNvPr id="59" name="Graphic 58" descr="Database">
              <a:extLst>
                <a:ext uri="{FF2B5EF4-FFF2-40B4-BE49-F238E27FC236}">
                  <a16:creationId xmlns:a16="http://schemas.microsoft.com/office/drawing/2014/main" id="{92E4C5FC-A9E4-0446-9032-8E3348519E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66873" y="1455763"/>
              <a:ext cx="914400" cy="914400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9543AF9-A5D5-5836-25DF-9BF1AEB3784B}"/>
                </a:ext>
              </a:extLst>
            </p:cNvPr>
            <p:cNvSpPr txBox="1"/>
            <p:nvPr/>
          </p:nvSpPr>
          <p:spPr>
            <a:xfrm>
              <a:off x="2521648" y="2512330"/>
              <a:ext cx="200485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/>
                <a:t>Erhebung</a:t>
              </a:r>
            </a:p>
            <a:p>
              <a:pPr algn="ctr"/>
              <a:endParaRPr lang="de-DE" sz="1400" dirty="0"/>
            </a:p>
            <a:p>
              <a:pPr algn="ctr"/>
              <a:r>
                <a:rPr lang="de-DE" sz="1400" dirty="0"/>
                <a:t>Sammlung von Daten</a:t>
              </a:r>
            </a:p>
            <a:p>
              <a:pPr algn="ctr"/>
              <a:r>
                <a:rPr lang="de-DE" sz="1400" dirty="0"/>
                <a:t>Datenbanken, APIs, Web </a:t>
              </a:r>
              <a:r>
                <a:rPr lang="de-DE" sz="1400" dirty="0" err="1"/>
                <a:t>Scraping</a:t>
              </a:r>
              <a:endParaRPr lang="de-DE" sz="1400" dirty="0"/>
            </a:p>
            <a:p>
              <a:pPr algn="ctr"/>
              <a:endParaRPr lang="de-DE" sz="1400" dirty="0"/>
            </a:p>
            <a:p>
              <a:pPr algn="ctr"/>
              <a:r>
                <a:rPr lang="en-US" sz="1400" dirty="0" err="1"/>
                <a:t>Produktbewertungen</a:t>
              </a:r>
              <a:endParaRPr lang="en-US" sz="1400" dirty="0"/>
            </a:p>
            <a:p>
              <a:pPr algn="ctr"/>
              <a:r>
                <a:rPr lang="en-US" sz="1400" dirty="0" err="1"/>
                <a:t>Lieferzeiten</a:t>
              </a:r>
              <a:endParaRPr lang="en-US" sz="1400" dirty="0"/>
            </a:p>
            <a:p>
              <a:pPr algn="ctr"/>
              <a:r>
                <a:rPr lang="en-US" sz="1400" dirty="0" err="1"/>
                <a:t>Preise</a:t>
              </a:r>
              <a:r>
                <a:rPr lang="en-US" sz="1400" dirty="0"/>
                <a:t> &amp; </a:t>
              </a:r>
              <a:r>
                <a:rPr lang="en-US" sz="1400" dirty="0" err="1"/>
                <a:t>Rabatte</a:t>
              </a:r>
              <a:endParaRPr lang="en-US" sz="1400" dirty="0"/>
            </a:p>
          </p:txBody>
        </p:sp>
      </p:grp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2BAF7FF2-B808-3BD4-D840-D0BAA3FB33D6}"/>
              </a:ext>
            </a:extLst>
          </p:cNvPr>
          <p:cNvSpPr/>
          <p:nvPr/>
        </p:nvSpPr>
        <p:spPr>
          <a:xfrm>
            <a:off x="5046719" y="1024616"/>
            <a:ext cx="2067374" cy="48332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62" name="Graphic 61" descr="Checklist">
            <a:extLst>
              <a:ext uri="{FF2B5EF4-FFF2-40B4-BE49-F238E27FC236}">
                <a16:creationId xmlns:a16="http://schemas.microsoft.com/office/drawing/2014/main" id="{591F1030-D020-6F0D-BCF4-3F459933CC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23206" y="1455763"/>
            <a:ext cx="914400" cy="914400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C16D5378-8663-19BA-0120-BE5E01C428EF}"/>
              </a:ext>
            </a:extLst>
          </p:cNvPr>
          <p:cNvSpPr txBox="1"/>
          <p:nvPr/>
        </p:nvSpPr>
        <p:spPr>
          <a:xfrm>
            <a:off x="5077981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Vorbereitung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Bereinigung Fehlende Werte oder unvollständiger 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Transformation und </a:t>
            </a:r>
            <a:r>
              <a:rPr lang="de-DE" sz="1400" dirty="0" err="1"/>
              <a:t>strukturierung</a:t>
            </a:r>
            <a:r>
              <a:rPr lang="de-DE" sz="1400" dirty="0"/>
              <a:t> der Rohdaten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 err="1"/>
              <a:t>Z.b.</a:t>
            </a:r>
            <a:r>
              <a:rPr lang="de-DE" sz="1400" dirty="0"/>
              <a:t> EUR, USD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AE3DD4B-1056-5FD2-0B10-0CD639229C09}"/>
              </a:ext>
            </a:extLst>
          </p:cNvPr>
          <p:cNvSpPr/>
          <p:nvPr/>
        </p:nvSpPr>
        <p:spPr>
          <a:xfrm>
            <a:off x="7321972" y="10123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65" name="Graphic 64" descr="Research">
            <a:extLst>
              <a:ext uri="{FF2B5EF4-FFF2-40B4-BE49-F238E27FC236}">
                <a16:creationId xmlns:a16="http://schemas.microsoft.com/office/drawing/2014/main" id="{DF6B25CC-ACA5-42E1-625E-D7066EE526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98459" y="1455763"/>
            <a:ext cx="914400" cy="9144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BD31907-9152-8859-041A-188D15841886}"/>
              </a:ext>
            </a:extLst>
          </p:cNvPr>
          <p:cNvSpPr txBox="1"/>
          <p:nvPr/>
        </p:nvSpPr>
        <p:spPr>
          <a:xfrm>
            <a:off x="7353234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Korrelationen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Mustererkennung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Anwendung von Modellen zur</a:t>
            </a:r>
          </a:p>
          <a:p>
            <a:pPr algn="ctr"/>
            <a:r>
              <a:rPr lang="de-DE" sz="1400" dirty="0"/>
              <a:t>Erkenntnisgewinnung</a:t>
            </a:r>
            <a:endParaRPr lang="LID4096" sz="1400" dirty="0"/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59075B9-0139-7EDD-C76D-D530B4BB2125}"/>
              </a:ext>
            </a:extLst>
          </p:cNvPr>
          <p:cNvSpPr/>
          <p:nvPr/>
        </p:nvSpPr>
        <p:spPr>
          <a:xfrm>
            <a:off x="9597223" y="1024616"/>
            <a:ext cx="2067374" cy="483325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68" name="Graphic 67" descr="Share">
            <a:extLst>
              <a:ext uri="{FF2B5EF4-FFF2-40B4-BE49-F238E27FC236}">
                <a16:creationId xmlns:a16="http://schemas.microsoft.com/office/drawing/2014/main" id="{B9EEC583-F138-9303-DC34-6E1F7BEF166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73710" y="1455763"/>
            <a:ext cx="914400" cy="9144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706C7-FB7D-C863-FE03-BC346D152CCA}"/>
              </a:ext>
            </a:extLst>
          </p:cNvPr>
          <p:cNvSpPr txBox="1"/>
          <p:nvPr/>
        </p:nvSpPr>
        <p:spPr>
          <a:xfrm>
            <a:off x="9628485" y="2512330"/>
            <a:ext cx="2004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Teilen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Berichte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Präsentationen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/>
              <a:t>Storytelling </a:t>
            </a:r>
            <a:r>
              <a:rPr lang="en-US" sz="1400" dirty="0" err="1"/>
              <a:t>mit</a:t>
            </a:r>
            <a:r>
              <a:rPr lang="en-US" sz="1400" dirty="0"/>
              <a:t> Daten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Klare </a:t>
            </a:r>
            <a:r>
              <a:rPr lang="en-US" sz="1400" dirty="0" err="1"/>
              <a:t>Empfehlungen</a:t>
            </a:r>
            <a:r>
              <a:rPr lang="en-US" sz="1400" dirty="0"/>
              <a:t> </a:t>
            </a:r>
            <a:r>
              <a:rPr lang="en-US" sz="1400" dirty="0" err="1"/>
              <a:t>geben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2759885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D8CCA3-94C0-6DDA-0AF2-2050703B3D8C}"/>
              </a:ext>
            </a:extLst>
          </p:cNvPr>
          <p:cNvSpPr txBox="1"/>
          <p:nvPr/>
        </p:nvSpPr>
        <p:spPr>
          <a:xfrm>
            <a:off x="2091267" y="1142998"/>
            <a:ext cx="6519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0" b="1" dirty="0"/>
              <a:t>S</a:t>
            </a:r>
            <a:endParaRPr lang="LID4096" sz="1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C79E16-9D94-391E-1C3E-167EA6674D3F}"/>
              </a:ext>
            </a:extLst>
          </p:cNvPr>
          <p:cNvSpPr txBox="1"/>
          <p:nvPr/>
        </p:nvSpPr>
        <p:spPr>
          <a:xfrm>
            <a:off x="3923241" y="1142998"/>
            <a:ext cx="6519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0" b="1" dirty="0"/>
              <a:t>M</a:t>
            </a:r>
            <a:endParaRPr lang="LID4096" sz="1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F71B89-5149-0C1A-89D5-ACE1D29002C7}"/>
              </a:ext>
            </a:extLst>
          </p:cNvPr>
          <p:cNvSpPr txBox="1"/>
          <p:nvPr/>
        </p:nvSpPr>
        <p:spPr>
          <a:xfrm>
            <a:off x="5692776" y="1142998"/>
            <a:ext cx="6519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0" b="1" dirty="0"/>
              <a:t>A</a:t>
            </a:r>
            <a:endParaRPr lang="LID4096" sz="1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05C288-BCB7-F3A1-4AE1-1EE162FD11F7}"/>
              </a:ext>
            </a:extLst>
          </p:cNvPr>
          <p:cNvSpPr txBox="1"/>
          <p:nvPr/>
        </p:nvSpPr>
        <p:spPr>
          <a:xfrm>
            <a:off x="7580843" y="1142998"/>
            <a:ext cx="6519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0" b="1" dirty="0"/>
              <a:t>R</a:t>
            </a:r>
            <a:endParaRPr lang="LID4096" sz="1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EB9BA4-C1D7-4AC9-FE53-C1BFFA072E1C}"/>
              </a:ext>
            </a:extLst>
          </p:cNvPr>
          <p:cNvSpPr txBox="1"/>
          <p:nvPr/>
        </p:nvSpPr>
        <p:spPr>
          <a:xfrm>
            <a:off x="9138710" y="1142998"/>
            <a:ext cx="65193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0" b="1" dirty="0"/>
              <a:t>T</a:t>
            </a:r>
            <a:endParaRPr lang="LID4096" sz="12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2E4E66-0634-0DE4-291C-8C2B294641AB}"/>
              </a:ext>
            </a:extLst>
          </p:cNvPr>
          <p:cNvSpPr txBox="1"/>
          <p:nvPr/>
        </p:nvSpPr>
        <p:spPr>
          <a:xfrm>
            <a:off x="1439332" y="3014132"/>
            <a:ext cx="204469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Spezifisch</a:t>
            </a:r>
            <a:endParaRPr lang="en-US" sz="2400" b="1" dirty="0"/>
          </a:p>
          <a:p>
            <a:pPr algn="ctr"/>
            <a:r>
              <a:rPr lang="en-US" dirty="0"/>
              <a:t>Specific</a:t>
            </a:r>
            <a:endParaRPr lang="LID4096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7086FF-6985-A933-D220-EE1049F1E7BA}"/>
              </a:ext>
            </a:extLst>
          </p:cNvPr>
          <p:cNvSpPr txBox="1"/>
          <p:nvPr/>
        </p:nvSpPr>
        <p:spPr>
          <a:xfrm>
            <a:off x="3359149" y="3014132"/>
            <a:ext cx="1780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Messbar</a:t>
            </a:r>
            <a:endParaRPr lang="en-US" sz="2400" b="1" dirty="0"/>
          </a:p>
          <a:p>
            <a:pPr algn="ctr"/>
            <a:r>
              <a:rPr lang="en-US" dirty="0"/>
              <a:t>Measurable</a:t>
            </a:r>
            <a:endParaRPr lang="LID4096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14BCA7-5329-0525-6A6F-B64DA89B3823}"/>
              </a:ext>
            </a:extLst>
          </p:cNvPr>
          <p:cNvSpPr txBox="1"/>
          <p:nvPr/>
        </p:nvSpPr>
        <p:spPr>
          <a:xfrm>
            <a:off x="5128684" y="3014132"/>
            <a:ext cx="1780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Erreichbar</a:t>
            </a:r>
            <a:endParaRPr lang="en-US" sz="2400" b="1" dirty="0"/>
          </a:p>
          <a:p>
            <a:pPr algn="ctr"/>
            <a:r>
              <a:rPr lang="en-US" dirty="0"/>
              <a:t>Achievable</a:t>
            </a:r>
            <a:endParaRPr lang="LID4096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5EFAAB-514C-CC00-47B4-7EEAF31AC6B2}"/>
              </a:ext>
            </a:extLst>
          </p:cNvPr>
          <p:cNvSpPr txBox="1"/>
          <p:nvPr/>
        </p:nvSpPr>
        <p:spPr>
          <a:xfrm>
            <a:off x="7016751" y="3014132"/>
            <a:ext cx="1780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Relevant</a:t>
            </a:r>
          </a:p>
          <a:p>
            <a:pPr algn="ctr"/>
            <a:r>
              <a:rPr lang="en-US" dirty="0"/>
              <a:t>Relevant</a:t>
            </a:r>
            <a:endParaRPr lang="LID4096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F41C97-D3C4-5789-87E4-A56055314216}"/>
              </a:ext>
            </a:extLst>
          </p:cNvPr>
          <p:cNvSpPr txBox="1"/>
          <p:nvPr/>
        </p:nvSpPr>
        <p:spPr>
          <a:xfrm>
            <a:off x="8574618" y="3014132"/>
            <a:ext cx="17801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 err="1"/>
              <a:t>Terminiert</a:t>
            </a:r>
            <a:endParaRPr lang="en-US" sz="2400" b="1" dirty="0"/>
          </a:p>
          <a:p>
            <a:pPr algn="ctr"/>
            <a:r>
              <a:rPr lang="en-US" dirty="0"/>
              <a:t>Time-Bound</a:t>
            </a:r>
            <a:endParaRPr lang="LID4096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6CE2E2-80C7-76E5-CD06-DB3315AB4ABF}"/>
              </a:ext>
            </a:extLst>
          </p:cNvPr>
          <p:cNvSpPr txBox="1"/>
          <p:nvPr/>
        </p:nvSpPr>
        <p:spPr>
          <a:xfrm>
            <a:off x="1439332" y="658968"/>
            <a:ext cx="101007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In der Datenanalyse ist es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practice</a:t>
            </a:r>
            <a:r>
              <a:rPr lang="de-DE" dirty="0"/>
              <a:t>, Fragen nach den SMART-Kriterien zu formulieren, damit sie klar und praktisch nutzbar sind.</a:t>
            </a:r>
            <a:endParaRPr lang="LID4096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0587D4-9954-59C6-57B4-D2FD2D9631D8}"/>
              </a:ext>
            </a:extLst>
          </p:cNvPr>
          <p:cNvSpPr txBox="1"/>
          <p:nvPr/>
        </p:nvSpPr>
        <p:spPr>
          <a:xfrm>
            <a:off x="1916643" y="5312263"/>
            <a:ext cx="65838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993300"/>
                </a:solidFill>
              </a:rPr>
              <a:t>Warum ändern sich die Verkaufszahlen?“ — zu vage, nicht messbar.</a:t>
            </a:r>
          </a:p>
          <a:p>
            <a:r>
              <a:rPr lang="en-US" b="1" dirty="0" err="1">
                <a:solidFill>
                  <a:srgbClr val="993300"/>
                </a:solidFill>
              </a:rPr>
              <a:t>Verbessert</a:t>
            </a:r>
            <a:r>
              <a:rPr lang="en-US" b="1" dirty="0">
                <a:solidFill>
                  <a:srgbClr val="993300"/>
                </a:solidFill>
              </a:rPr>
              <a:t> Gehen die Gesundheit?</a:t>
            </a:r>
            <a:endParaRPr lang="LID4096" b="1" dirty="0">
              <a:solidFill>
                <a:srgbClr val="9933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BB0AE-57CD-1C62-2F37-D3CEEF5B7E11}"/>
              </a:ext>
            </a:extLst>
          </p:cNvPr>
          <p:cNvSpPr txBox="1"/>
          <p:nvPr/>
        </p:nvSpPr>
        <p:spPr>
          <a:xfrm>
            <a:off x="1916642" y="4470524"/>
            <a:ext cx="80401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>
                <a:solidFill>
                  <a:srgbClr val="339966"/>
                </a:solidFill>
              </a:rPr>
              <a:t>Wie beeinflusst eine 10 % Preiserhöhung die Verkaufszahlen im nächsten Monat?</a:t>
            </a:r>
          </a:p>
          <a:p>
            <a:r>
              <a:rPr lang="de-DE" b="1" dirty="0">
                <a:solidFill>
                  <a:srgbClr val="339966"/>
                </a:solidFill>
              </a:rPr>
              <a:t>Führt 30 Minuten tägliches Gehen in 4 Wochen zu niedrigeren Blutdruckwerten?</a:t>
            </a:r>
            <a:endParaRPr lang="LID4096" b="1" dirty="0">
              <a:solidFill>
                <a:srgbClr val="339966"/>
              </a:solidFill>
            </a:endParaRPr>
          </a:p>
        </p:txBody>
      </p:sp>
      <p:pic>
        <p:nvPicPr>
          <p:cNvPr id="23" name="Graphic 22" descr="Devil face with no fill">
            <a:extLst>
              <a:ext uri="{FF2B5EF4-FFF2-40B4-BE49-F238E27FC236}">
                <a16:creationId xmlns:a16="http://schemas.microsoft.com/office/drawing/2014/main" id="{2EBFB49D-D52B-CF72-73F5-C57AE004B3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8001" y="5447731"/>
            <a:ext cx="369332" cy="369332"/>
          </a:xfrm>
          <a:prstGeom prst="rect">
            <a:avLst/>
          </a:prstGeom>
        </p:spPr>
      </p:pic>
      <p:pic>
        <p:nvPicPr>
          <p:cNvPr id="31" name="Graphic 30" descr="Smiling face with no fill">
            <a:extLst>
              <a:ext uri="{FF2B5EF4-FFF2-40B4-BE49-F238E27FC236}">
                <a16:creationId xmlns:a16="http://schemas.microsoft.com/office/drawing/2014/main" id="{3FD5160E-8CFA-E4BA-5022-F4202E211A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22942" y="4565272"/>
            <a:ext cx="432858" cy="4328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5A6DDDD-2A9B-63CA-341E-701591131FF2}"/>
              </a:ext>
            </a:extLst>
          </p:cNvPr>
          <p:cNvSpPr txBox="1"/>
          <p:nvPr/>
        </p:nvSpPr>
        <p:spPr>
          <a:xfrm>
            <a:off x="9406466" y="47193"/>
            <a:ext cx="2783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ask a good question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91117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00146E1-70EE-D12F-2EE2-9BDA7509E645}"/>
              </a:ext>
            </a:extLst>
          </p:cNvPr>
          <p:cNvSpPr/>
          <p:nvPr/>
        </p:nvSpPr>
        <p:spPr>
          <a:xfrm>
            <a:off x="1807714" y="4162595"/>
            <a:ext cx="3912617" cy="2331338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chemeClr val="tx1"/>
                </a:solidFill>
              </a:rPr>
              <a:t>Prädiktiv</a:t>
            </a:r>
            <a:r>
              <a:rPr lang="en-US" sz="2000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Was </a:t>
            </a:r>
            <a:r>
              <a:rPr lang="en-US" sz="1600" dirty="0" err="1">
                <a:solidFill>
                  <a:schemeClr val="tx1"/>
                </a:solidFill>
              </a:rPr>
              <a:t>wird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wahrscheinlich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passieren</a:t>
            </a:r>
            <a:r>
              <a:rPr lang="en-US" sz="16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Prognosen</a:t>
            </a:r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What would be the price of </a:t>
            </a:r>
            <a:r>
              <a:rPr lang="en-US" sz="1400" dirty="0" err="1">
                <a:solidFill>
                  <a:schemeClr val="tx1"/>
                </a:solidFill>
              </a:rPr>
              <a:t>Simense</a:t>
            </a:r>
            <a:r>
              <a:rPr lang="en-US" sz="1400" dirty="0">
                <a:solidFill>
                  <a:schemeClr val="tx1"/>
                </a:solidFill>
              </a:rPr>
              <a:t> tomorrow?</a:t>
            </a:r>
            <a:endParaRPr lang="LID4096" sz="14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18ACE8F-9FB9-30E6-3B7F-CF3C8B70A225}"/>
              </a:ext>
            </a:extLst>
          </p:cNvPr>
          <p:cNvSpPr/>
          <p:nvPr/>
        </p:nvSpPr>
        <p:spPr>
          <a:xfrm>
            <a:off x="6289716" y="4162595"/>
            <a:ext cx="3912617" cy="233133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</a:rPr>
              <a:t>Präskriptiv</a:t>
            </a:r>
            <a:r>
              <a:rPr lang="en-US" sz="2000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Was </a:t>
            </a:r>
            <a:r>
              <a:rPr lang="en-US" sz="1600" dirty="0" err="1">
                <a:solidFill>
                  <a:schemeClr val="tx1"/>
                </a:solidFill>
              </a:rPr>
              <a:t>sollen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wir</a:t>
            </a:r>
            <a:r>
              <a:rPr lang="en-US" sz="1600" dirty="0">
                <a:solidFill>
                  <a:schemeClr val="tx1"/>
                </a:solidFill>
              </a:rPr>
              <a:t> tun?</a:t>
            </a: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Handlungsempfehlungen</a:t>
            </a:r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Should we increase price by 5 % next month?</a:t>
            </a:r>
            <a:endParaRPr lang="LID4096" sz="14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F2E4B6-E2C4-7ACE-7BD5-DC59163F358B}"/>
              </a:ext>
            </a:extLst>
          </p:cNvPr>
          <p:cNvSpPr/>
          <p:nvPr/>
        </p:nvSpPr>
        <p:spPr>
          <a:xfrm>
            <a:off x="1807714" y="1498600"/>
            <a:ext cx="3912617" cy="233133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chemeClr val="tx1"/>
                </a:solidFill>
              </a:rPr>
              <a:t>Deskriptiv</a:t>
            </a:r>
            <a:r>
              <a:rPr lang="en-US" sz="2400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Was </a:t>
            </a:r>
            <a:r>
              <a:rPr lang="en-US" sz="1600" dirty="0" err="1">
                <a:solidFill>
                  <a:schemeClr val="tx1"/>
                </a:solidFill>
              </a:rPr>
              <a:t>ist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passiert</a:t>
            </a:r>
            <a:r>
              <a:rPr lang="en-US" sz="16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Dashboard, </a:t>
            </a:r>
            <a:r>
              <a:rPr lang="en-US" sz="1600" dirty="0" err="1">
                <a:solidFill>
                  <a:schemeClr val="tx1"/>
                </a:solidFill>
              </a:rPr>
              <a:t>daten</a:t>
            </a:r>
            <a:r>
              <a:rPr lang="en-US" sz="1600" dirty="0">
                <a:solidFill>
                  <a:schemeClr val="tx1"/>
                </a:solidFill>
              </a:rPr>
              <a:t> aggregation</a:t>
            </a: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was the average test score last month?</a:t>
            </a:r>
            <a:endParaRPr lang="LID4096" sz="12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6159EF-A6A7-347F-3C69-AE7DABB41881}"/>
              </a:ext>
            </a:extLst>
          </p:cNvPr>
          <p:cNvSpPr/>
          <p:nvPr/>
        </p:nvSpPr>
        <p:spPr>
          <a:xfrm>
            <a:off x="6289716" y="1498600"/>
            <a:ext cx="3912617" cy="233133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>
                <a:solidFill>
                  <a:schemeClr val="tx1"/>
                </a:solidFill>
              </a:rPr>
              <a:t>Diagnostisch</a:t>
            </a:r>
            <a:r>
              <a:rPr lang="en-US" sz="2000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Warum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ist</a:t>
            </a:r>
            <a:r>
              <a:rPr lang="en-US" sz="1600" dirty="0">
                <a:solidFill>
                  <a:schemeClr val="tx1"/>
                </a:solidFill>
              </a:rPr>
              <a:t> es </a:t>
            </a:r>
            <a:r>
              <a:rPr lang="en-US" sz="1600" dirty="0" err="1">
                <a:solidFill>
                  <a:schemeClr val="tx1"/>
                </a:solidFill>
              </a:rPr>
              <a:t>passiert</a:t>
            </a:r>
            <a:r>
              <a:rPr lang="en-US" sz="16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Ursachen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analyse</a:t>
            </a:r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Why did sales drop last week?</a:t>
            </a:r>
            <a:endParaRPr lang="LID4096" sz="16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FFC87-2D58-84DE-2689-3C29BC65C67D}"/>
              </a:ext>
            </a:extLst>
          </p:cNvPr>
          <p:cNvSpPr txBox="1"/>
          <p:nvPr/>
        </p:nvSpPr>
        <p:spPr>
          <a:xfrm>
            <a:off x="543998" y="593523"/>
            <a:ext cx="59668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1"/>
              <a:t>Die 4 Arten von Datenanalyse-Fragen</a:t>
            </a:r>
            <a:endParaRPr lang="de-DE" sz="28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3A0D74-9104-6C4F-865C-0B98DE4D379E}"/>
              </a:ext>
            </a:extLst>
          </p:cNvPr>
          <p:cNvSpPr txBox="1"/>
          <p:nvPr/>
        </p:nvSpPr>
        <p:spPr>
          <a:xfrm>
            <a:off x="10244668" y="47193"/>
            <a:ext cx="192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Types of questions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74050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4C6B1-33B9-2DBC-AC58-93D5A7CAC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84F80A2-E69A-EE92-0461-010F2F7DE6F7}"/>
              </a:ext>
            </a:extLst>
          </p:cNvPr>
          <p:cNvSpPr/>
          <p:nvPr/>
        </p:nvSpPr>
        <p:spPr>
          <a:xfrm>
            <a:off x="2679778" y="4506364"/>
            <a:ext cx="2724811" cy="2046835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solidFill>
                  <a:schemeClr val="tx1"/>
                </a:solidFill>
              </a:rPr>
              <a:t>Prädiktiv</a:t>
            </a:r>
            <a:r>
              <a:rPr lang="en-US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Was </a:t>
            </a:r>
            <a:r>
              <a:rPr lang="en-US" sz="1400" dirty="0" err="1">
                <a:solidFill>
                  <a:schemeClr val="tx1"/>
                </a:solidFill>
              </a:rPr>
              <a:t>wird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wahrscheinlich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passieren</a:t>
            </a:r>
            <a:r>
              <a:rPr lang="en-US" sz="14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Prognosen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What would be the price of </a:t>
            </a:r>
            <a:r>
              <a:rPr lang="en-US" sz="1200" dirty="0" err="1">
                <a:solidFill>
                  <a:schemeClr val="tx1"/>
                </a:solidFill>
              </a:rPr>
              <a:t>Simense</a:t>
            </a:r>
            <a:r>
              <a:rPr lang="en-US" sz="1200" dirty="0">
                <a:solidFill>
                  <a:schemeClr val="tx1"/>
                </a:solidFill>
              </a:rPr>
              <a:t> tomorrow?</a:t>
            </a:r>
            <a:endParaRPr lang="LID4096" sz="1200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71A0FD-5076-CC95-7983-54F469C4EBF2}"/>
              </a:ext>
            </a:extLst>
          </p:cNvPr>
          <p:cNvSpPr/>
          <p:nvPr/>
        </p:nvSpPr>
        <p:spPr>
          <a:xfrm>
            <a:off x="6359919" y="4506364"/>
            <a:ext cx="2724811" cy="204683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Präskriptiv</a:t>
            </a:r>
            <a:r>
              <a:rPr lang="en-US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Was </a:t>
            </a:r>
            <a:r>
              <a:rPr lang="en-US" sz="1400" dirty="0" err="1">
                <a:solidFill>
                  <a:schemeClr val="tx1"/>
                </a:solidFill>
              </a:rPr>
              <a:t>sollen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wir</a:t>
            </a:r>
            <a:r>
              <a:rPr lang="en-US" sz="1400" dirty="0">
                <a:solidFill>
                  <a:schemeClr val="tx1"/>
                </a:solidFill>
              </a:rPr>
              <a:t> tun?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Handlungsempfehlungen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Should we increase price by 5 % next month?</a:t>
            </a:r>
            <a:endParaRPr lang="LID4096" sz="12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31F4F12-9BCF-8551-6603-E2EE4BD22D04}"/>
              </a:ext>
            </a:extLst>
          </p:cNvPr>
          <p:cNvSpPr/>
          <p:nvPr/>
        </p:nvSpPr>
        <p:spPr>
          <a:xfrm>
            <a:off x="2679779" y="1659467"/>
            <a:ext cx="2724811" cy="204683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solidFill>
                  <a:schemeClr val="tx1"/>
                </a:solidFill>
              </a:rPr>
              <a:t>Deskriptiv</a:t>
            </a:r>
            <a:r>
              <a:rPr lang="en-US" sz="2000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Was </a:t>
            </a:r>
            <a:r>
              <a:rPr lang="en-US" sz="1400" dirty="0" err="1">
                <a:solidFill>
                  <a:schemeClr val="tx1"/>
                </a:solidFill>
              </a:rPr>
              <a:t>ist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passiert</a:t>
            </a:r>
            <a:r>
              <a:rPr lang="en-US" sz="14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Dashboard, </a:t>
            </a:r>
            <a:r>
              <a:rPr lang="en-US" sz="1400" dirty="0" err="1">
                <a:solidFill>
                  <a:schemeClr val="tx1"/>
                </a:solidFill>
              </a:rPr>
              <a:t>daten</a:t>
            </a:r>
            <a:r>
              <a:rPr lang="en-US" sz="1400" dirty="0">
                <a:solidFill>
                  <a:schemeClr val="tx1"/>
                </a:solidFill>
              </a:rPr>
              <a:t> aggregation</a:t>
            </a:r>
          </a:p>
          <a:p>
            <a:pPr algn="ctr"/>
            <a:r>
              <a:rPr lang="en-US" sz="12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was the average test score last month?</a:t>
            </a:r>
            <a:endParaRPr lang="LID4096" sz="1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7173726-AE18-EB65-1992-70251583DB2C}"/>
              </a:ext>
            </a:extLst>
          </p:cNvPr>
          <p:cNvSpPr/>
          <p:nvPr/>
        </p:nvSpPr>
        <p:spPr>
          <a:xfrm>
            <a:off x="6359920" y="1659467"/>
            <a:ext cx="2724811" cy="2046835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solidFill>
                  <a:schemeClr val="tx1"/>
                </a:solidFill>
              </a:rPr>
              <a:t>Diagnostisch</a:t>
            </a:r>
            <a:r>
              <a:rPr lang="en-US" b="1" dirty="0">
                <a:solidFill>
                  <a:schemeClr val="tx1"/>
                </a:solidFill>
              </a:rPr>
              <a:t> 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Warum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ist</a:t>
            </a:r>
            <a:r>
              <a:rPr lang="en-US" sz="1400" dirty="0">
                <a:solidFill>
                  <a:schemeClr val="tx1"/>
                </a:solidFill>
              </a:rPr>
              <a:t> es </a:t>
            </a:r>
            <a:r>
              <a:rPr lang="en-US" sz="1400" dirty="0" err="1">
                <a:solidFill>
                  <a:schemeClr val="tx1"/>
                </a:solidFill>
              </a:rPr>
              <a:t>passiert</a:t>
            </a:r>
            <a:r>
              <a:rPr lang="en-US" sz="1400" dirty="0">
                <a:solidFill>
                  <a:schemeClr val="tx1"/>
                </a:solidFill>
              </a:rPr>
              <a:t>?</a:t>
            </a:r>
          </a:p>
          <a:p>
            <a:pPr algn="ctr"/>
            <a:r>
              <a:rPr lang="en-US" sz="1400" dirty="0" err="1">
                <a:solidFill>
                  <a:schemeClr val="tx1"/>
                </a:solidFill>
              </a:rPr>
              <a:t>Ursachen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analyse</a:t>
            </a:r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Why did sales drop last week?</a:t>
            </a:r>
            <a:endParaRPr lang="LID4096" sz="1400" dirty="0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2F213E-ABFB-684F-098E-9FB8F1F6B320}"/>
              </a:ext>
            </a:extLst>
          </p:cNvPr>
          <p:cNvSpPr txBox="1"/>
          <p:nvPr/>
        </p:nvSpPr>
        <p:spPr>
          <a:xfrm>
            <a:off x="543998" y="593523"/>
            <a:ext cx="59668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1"/>
              <a:t>Die 4 Arten von Datenanalyse-Fragen</a:t>
            </a:r>
            <a:endParaRPr lang="de-DE" sz="28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BC9C7A-79F2-8071-3325-28541661B27C}"/>
              </a:ext>
            </a:extLst>
          </p:cNvPr>
          <p:cNvSpPr txBox="1"/>
          <p:nvPr/>
        </p:nvSpPr>
        <p:spPr>
          <a:xfrm>
            <a:off x="10244668" y="47193"/>
            <a:ext cx="192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Types of questions</a:t>
            </a:r>
            <a:endParaRPr lang="LID4096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1FDF87-0196-5D30-43A5-57C441EC1778}"/>
              </a:ext>
            </a:extLst>
          </p:cNvPr>
          <p:cNvSpPr txBox="1"/>
          <p:nvPr/>
        </p:nvSpPr>
        <p:spPr>
          <a:xfrm>
            <a:off x="626924" y="2359719"/>
            <a:ext cx="1937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Descriptive Statistics</a:t>
            </a:r>
          </a:p>
          <a:p>
            <a:pPr algn="r"/>
            <a:r>
              <a:rPr lang="en-US" sz="1600" b="1" dirty="0"/>
              <a:t>Data Visualization</a:t>
            </a:r>
            <a:endParaRPr lang="LID4096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AD942C-8FD8-D60A-3073-1850358CD9AB}"/>
              </a:ext>
            </a:extLst>
          </p:cNvPr>
          <p:cNvSpPr txBox="1"/>
          <p:nvPr/>
        </p:nvSpPr>
        <p:spPr>
          <a:xfrm>
            <a:off x="863031" y="5206616"/>
            <a:ext cx="17043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b="1" dirty="0"/>
              <a:t>Statistical Models</a:t>
            </a:r>
          </a:p>
          <a:p>
            <a:pPr algn="r"/>
            <a:r>
              <a:rPr lang="en-US" sz="1600" b="1" dirty="0"/>
              <a:t>Machine Learning</a:t>
            </a:r>
            <a:endParaRPr lang="LID4096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E0182F-C8DA-D523-76A6-C6F6B484F738}"/>
              </a:ext>
            </a:extLst>
          </p:cNvPr>
          <p:cNvSpPr txBox="1"/>
          <p:nvPr/>
        </p:nvSpPr>
        <p:spPr>
          <a:xfrm>
            <a:off x="9177860" y="2359719"/>
            <a:ext cx="14802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Correlation</a:t>
            </a:r>
          </a:p>
          <a:p>
            <a:r>
              <a:rPr lang="en-US" sz="1600" b="1" dirty="0"/>
              <a:t>Causal Analysis</a:t>
            </a:r>
            <a:endParaRPr lang="LID4096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A80A53-B08D-145C-7923-F30376ABA6A6}"/>
              </a:ext>
            </a:extLst>
          </p:cNvPr>
          <p:cNvSpPr txBox="1"/>
          <p:nvPr/>
        </p:nvSpPr>
        <p:spPr>
          <a:xfrm>
            <a:off x="9177863" y="5206616"/>
            <a:ext cx="1290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Optimization</a:t>
            </a:r>
          </a:p>
          <a:p>
            <a:r>
              <a:rPr lang="en-US" sz="1600" b="1" dirty="0"/>
              <a:t>Simulation</a:t>
            </a:r>
            <a:endParaRPr lang="LID4096" sz="1600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002193A-84CB-700C-5867-C5B2E81AF05A}"/>
              </a:ext>
            </a:extLst>
          </p:cNvPr>
          <p:cNvSpPr/>
          <p:nvPr/>
        </p:nvSpPr>
        <p:spPr>
          <a:xfrm>
            <a:off x="6359920" y="1659467"/>
            <a:ext cx="4790677" cy="2046835"/>
          </a:xfrm>
          <a:prstGeom prst="round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477360A-A6CA-8090-D9B6-2F77EE651BB4}"/>
              </a:ext>
            </a:extLst>
          </p:cNvPr>
          <p:cNvSpPr/>
          <p:nvPr/>
        </p:nvSpPr>
        <p:spPr>
          <a:xfrm>
            <a:off x="6359918" y="4506364"/>
            <a:ext cx="4790677" cy="2046835"/>
          </a:xfrm>
          <a:prstGeom prst="round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9E85107-94D1-05C9-6C9A-0E850790520B}"/>
              </a:ext>
            </a:extLst>
          </p:cNvPr>
          <p:cNvSpPr/>
          <p:nvPr/>
        </p:nvSpPr>
        <p:spPr>
          <a:xfrm>
            <a:off x="613912" y="4506364"/>
            <a:ext cx="4790677" cy="2046835"/>
          </a:xfrm>
          <a:prstGeom prst="round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3717B85-EE2E-262B-C0F0-4AAA39343A5B}"/>
              </a:ext>
            </a:extLst>
          </p:cNvPr>
          <p:cNvSpPr/>
          <p:nvPr/>
        </p:nvSpPr>
        <p:spPr>
          <a:xfrm>
            <a:off x="613912" y="1659466"/>
            <a:ext cx="4790677" cy="2046835"/>
          </a:xfrm>
          <a:prstGeom prst="round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0244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0635FE-7EF6-A91D-661B-8B7914DCB04E}"/>
              </a:ext>
            </a:extLst>
          </p:cNvPr>
          <p:cNvSpPr txBox="1"/>
          <p:nvPr/>
        </p:nvSpPr>
        <p:spPr>
          <a:xfrm>
            <a:off x="702732" y="404969"/>
            <a:ext cx="109812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KPI</a:t>
            </a:r>
            <a:r>
              <a:rPr lang="de-DE" dirty="0"/>
              <a:t>s: Messbarer Wert, der anzeigt, wie effektiv </a:t>
            </a:r>
            <a:r>
              <a:rPr lang="de-DE" b="1" dirty="0"/>
              <a:t>Ziele erreicht werden</a:t>
            </a:r>
            <a:r>
              <a:rPr lang="de-DE" dirty="0"/>
              <a:t>.</a:t>
            </a:r>
          </a:p>
          <a:p>
            <a:endParaRPr lang="en-US" b="1" dirty="0"/>
          </a:p>
          <a:p>
            <a:r>
              <a:rPr lang="en-US" b="1" dirty="0"/>
              <a:t>KPI</a:t>
            </a:r>
            <a:r>
              <a:rPr lang="en-US" dirty="0"/>
              <a:t>s (</a:t>
            </a:r>
            <a:r>
              <a:rPr lang="en-US" b="1" dirty="0"/>
              <a:t>Key Performance Indicator</a:t>
            </a:r>
            <a:r>
              <a:rPr lang="en-US" dirty="0"/>
              <a:t>) : measurable value that indicates how effectively </a:t>
            </a:r>
            <a:r>
              <a:rPr lang="en-US" b="1" dirty="0"/>
              <a:t>objectives are being achieved</a:t>
            </a:r>
            <a:r>
              <a:rPr lang="en-US" dirty="0"/>
              <a:t>.</a:t>
            </a:r>
            <a:endParaRPr lang="LID4096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5AD822E-9E79-E5A5-2415-2D812064DB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358433"/>
              </p:ext>
            </p:extLst>
          </p:nvPr>
        </p:nvGraphicFramePr>
        <p:xfrm>
          <a:off x="618064" y="2180011"/>
          <a:ext cx="10981266" cy="3975257"/>
        </p:xfrm>
        <a:graphic>
          <a:graphicData uri="http://schemas.openxmlformats.org/drawingml/2006/table">
            <a:tbl>
              <a:tblPr/>
              <a:tblGrid>
                <a:gridCol w="2446869">
                  <a:extLst>
                    <a:ext uri="{9D8B030D-6E8A-4147-A177-3AD203B41FA5}">
                      <a16:colId xmlns:a16="http://schemas.microsoft.com/office/drawing/2014/main" val="3500172258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583597240"/>
                    </a:ext>
                  </a:extLst>
                </a:gridCol>
                <a:gridCol w="5333997">
                  <a:extLst>
                    <a:ext uri="{9D8B030D-6E8A-4147-A177-3AD203B41FA5}">
                      <a16:colId xmlns:a16="http://schemas.microsoft.com/office/drawing/2014/main" val="263180350"/>
                    </a:ext>
                  </a:extLst>
                </a:gridCol>
              </a:tblGrid>
              <a:tr h="4372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Type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Not KPI (Problem)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Good KPI (Solution / Goal-linked)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187023"/>
                  </a:ext>
                </a:extLst>
              </a:tr>
              <a:tr h="7552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Raw data → Goal-linked KPI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Total number of emails sent (not linked to objective)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Percentage of emails opened or clicked → measures </a:t>
                      </a:r>
                      <a:r>
                        <a:rPr lang="en-US" sz="1600" b="1" dirty="0"/>
                        <a:t>email campaign effectiveness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820509"/>
                  </a:ext>
                </a:extLst>
              </a:tr>
              <a:tr h="1391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Vanity metric → Actionable KPI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Number of social media followers alone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Engagement rate (likes + shares + comments ÷ total followers) → measures </a:t>
                      </a:r>
                      <a:r>
                        <a:rPr lang="en-US" sz="1600" b="1" dirty="0"/>
                        <a:t>audience interaction and content effectiveness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1459102"/>
                  </a:ext>
                </a:extLst>
              </a:tr>
              <a:tr h="13913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Irrelevant measurement → Performance KPI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Office temperature or number of chairs in a meeting room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Average time to resolve office maintenance issues or employee comfort satisfaction score → measures </a:t>
                      </a:r>
                      <a:r>
                        <a:rPr lang="en-US" sz="1600" b="1" dirty="0"/>
                        <a:t>workplace efficiency and employee well-being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8083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8560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4244</TotalTime>
  <Words>1145</Words>
  <Application>Microsoft Office PowerPoint</Application>
  <PresentationFormat>Widescreen</PresentationFormat>
  <Paragraphs>346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Datenanalyse Data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zolfagharian</dc:creator>
  <cp:lastModifiedBy>ali zolfagharian</cp:lastModifiedBy>
  <cp:revision>35</cp:revision>
  <dcterms:created xsi:type="dcterms:W3CDTF">2026-02-20T09:06:58Z</dcterms:created>
  <dcterms:modified xsi:type="dcterms:W3CDTF">2026-02-24T00:16:06Z</dcterms:modified>
</cp:coreProperties>
</file>