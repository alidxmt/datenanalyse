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4" r:id="rId3"/>
    <p:sldId id="260" r:id="rId4"/>
    <p:sldId id="262" r:id="rId5"/>
    <p:sldId id="265" r:id="rId6"/>
    <p:sldId id="266" r:id="rId7"/>
    <p:sldId id="268" r:id="rId8"/>
    <p:sldId id="267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336699"/>
    <a:srgbClr val="FF9933"/>
    <a:srgbClr val="FFC000"/>
    <a:srgbClr val="993300"/>
    <a:srgbClr val="339966"/>
    <a:srgbClr val="3366CC"/>
    <a:srgbClr val="0066CC"/>
    <a:srgbClr val="CC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6192" autoAdjust="0"/>
  </p:normalViewPr>
  <p:slideViewPr>
    <p:cSldViewPr snapToGrid="0">
      <p:cViewPr varScale="1">
        <p:scale>
          <a:sx n="109" d="100"/>
          <a:sy n="109" d="100"/>
        </p:scale>
        <p:origin x="22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74A6-B0CD-AA79-2AB7-C2BA292D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41149-267E-43A7-95EB-9F2B7D4DE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A398A-57E5-9743-70B4-7905C3661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6B592-B189-B14D-17DB-ABBDE3ACC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2232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1ED1-A938-04A3-02D1-6B28B0DE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59066-E6FA-A513-9386-BC755270F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641F9-2082-02F5-E861-E5D925D6E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92C15-F7C2-6F8B-A4CE-C8CEA8B43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3592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3679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4 Types of Data Analysis Questions</a:t>
            </a:r>
          </a:p>
          <a:p>
            <a:endParaRPr lang="en-US" dirty="0"/>
          </a:p>
          <a:p>
            <a:r>
              <a:rPr lang="en-US" dirty="0"/>
              <a:t>Descriptive	"What happened?"	Dashboards, reporting, data aggregation</a:t>
            </a:r>
          </a:p>
          <a:p>
            <a:r>
              <a:rPr lang="en-US" dirty="0"/>
              <a:t>Diagnostic	"Why did it happen?"	Root cause analysis</a:t>
            </a:r>
          </a:p>
          <a:p>
            <a:r>
              <a:rPr lang="en-US" dirty="0"/>
              <a:t>Predictive	"What is likely to happen?"	Forecasting</a:t>
            </a:r>
          </a:p>
          <a:p>
            <a:r>
              <a:rPr lang="en-US" dirty="0"/>
              <a:t>Prescriptive	"What should we do?"	Recommends specific actions to achieve a desired outcome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012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4F69-9143-1CBC-50CF-BC9CF93C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383A6-C73A-DD9C-44A7-CA8483ABB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9761F-38CD-55FE-765B-FEA5A9C5E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4 Types of Data Analysis Questions</a:t>
            </a:r>
          </a:p>
          <a:p>
            <a:endParaRPr lang="en-US" dirty="0"/>
          </a:p>
          <a:p>
            <a:r>
              <a:rPr lang="en-US" dirty="0"/>
              <a:t>Descriptive	"What happened?"	Dashboards, reporting, data aggregation</a:t>
            </a:r>
          </a:p>
          <a:p>
            <a:r>
              <a:rPr lang="en-US" dirty="0"/>
              <a:t>Diagnostic	"Why did it happen?"	Root cause analysis</a:t>
            </a:r>
          </a:p>
          <a:p>
            <a:r>
              <a:rPr lang="en-US" dirty="0"/>
              <a:t>Predictive	"What is likely to happen?"	Forecasting</a:t>
            </a:r>
          </a:p>
          <a:p>
            <a:r>
              <a:rPr lang="en-US" dirty="0"/>
              <a:t>Prescriptive	"What should we do?"	Recommends specific actions to achieve a desired outcome</a:t>
            </a:r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F78A2-FDD2-DDCB-ADEE-7C3407617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8402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A83A-101A-3D79-DE0B-37092F9C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954FE-18F4-71D9-6C7E-B73DD9633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C3DBE-B06D-FEFE-27CA-4B54F9EB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859B8-602E-F263-845A-86DA1D8E1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7777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872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9973-BC5B-FA71-43C5-AF2438BA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12DC098-EACB-1995-20D5-7BBE37C27506}"/>
              </a:ext>
            </a:extLst>
          </p:cNvPr>
          <p:cNvSpPr/>
          <p:nvPr/>
        </p:nvSpPr>
        <p:spPr>
          <a:xfrm>
            <a:off x="626533" y="5020734"/>
            <a:ext cx="5587835" cy="982133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sz="1400" dirty="0"/>
              <a:t>Ich </a:t>
            </a:r>
            <a:r>
              <a:rPr lang="en-US" sz="1400" dirty="0" err="1"/>
              <a:t>habe</a:t>
            </a:r>
            <a:r>
              <a:rPr lang="en-US" sz="1400" dirty="0"/>
              <a:t> Daten, </a:t>
            </a:r>
            <a:r>
              <a:rPr lang="en-US" sz="1400" dirty="0" err="1"/>
              <a:t>dass</a:t>
            </a:r>
            <a:r>
              <a:rPr lang="en-US" sz="1400" dirty="0"/>
              <a:t> …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4C9E918-8A8B-CB31-B998-88DBA3524D73}"/>
              </a:ext>
            </a:extLst>
          </p:cNvPr>
          <p:cNvSpPr/>
          <p:nvPr/>
        </p:nvSpPr>
        <p:spPr>
          <a:xfrm>
            <a:off x="1235906" y="3945468"/>
            <a:ext cx="4369090" cy="98213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</a:t>
            </a:r>
          </a:p>
          <a:p>
            <a:pPr algn="ctr"/>
            <a:r>
              <a:rPr lang="en-US" sz="1400" dirty="0"/>
              <a:t>Ich bin </a:t>
            </a:r>
            <a:r>
              <a:rPr lang="en-US" sz="1400" dirty="0" err="1"/>
              <a:t>informiert</a:t>
            </a:r>
            <a:r>
              <a:rPr lang="en-US" sz="1400" dirty="0"/>
              <a:t>, </a:t>
            </a:r>
            <a:r>
              <a:rPr lang="en-US" sz="1400" dirty="0" err="1"/>
              <a:t>dass</a:t>
            </a:r>
            <a:r>
              <a:rPr lang="en-US" sz="1400" dirty="0"/>
              <a:t>…</a:t>
            </a:r>
            <a:endParaRPr lang="LID4096" sz="1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414C4A2-327B-A0D9-8402-58009C07C89C}"/>
              </a:ext>
            </a:extLst>
          </p:cNvPr>
          <p:cNvSpPr/>
          <p:nvPr/>
        </p:nvSpPr>
        <p:spPr>
          <a:xfrm>
            <a:off x="1865400" y="2879271"/>
            <a:ext cx="3110101" cy="982133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Knowledge</a:t>
            </a:r>
          </a:p>
          <a:p>
            <a:pPr algn="ctr"/>
            <a:r>
              <a:rPr lang="en-US" sz="1400" dirty="0"/>
              <a:t>Ich Weiss, </a:t>
            </a:r>
            <a:r>
              <a:rPr lang="en-US" sz="1400" dirty="0" err="1"/>
              <a:t>dass</a:t>
            </a:r>
            <a:r>
              <a:rPr lang="en-US" sz="1400" dirty="0"/>
              <a:t>…</a:t>
            </a:r>
            <a:endParaRPr lang="LID4096" sz="14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B603EC1-0E67-DCEF-A78A-78EBEBF5E793}"/>
              </a:ext>
            </a:extLst>
          </p:cNvPr>
          <p:cNvSpPr/>
          <p:nvPr/>
        </p:nvSpPr>
        <p:spPr>
          <a:xfrm>
            <a:off x="2489144" y="1804004"/>
            <a:ext cx="1862612" cy="982133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Wisdom</a:t>
            </a:r>
          </a:p>
          <a:p>
            <a:pPr algn="ctr"/>
            <a:r>
              <a:rPr lang="en-US" sz="1400" dirty="0"/>
              <a:t>Ich </a:t>
            </a:r>
            <a:r>
              <a:rPr lang="en-US" sz="1400" dirty="0" err="1"/>
              <a:t>entscheide</a:t>
            </a:r>
            <a:r>
              <a:rPr lang="en-US" sz="1400" dirty="0"/>
              <a:t> …</a:t>
            </a:r>
            <a:endParaRPr lang="LID4096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13F800-6C02-4352-EAA9-924AEE69B424}"/>
              </a:ext>
            </a:extLst>
          </p:cNvPr>
          <p:cNvSpPr txBox="1"/>
          <p:nvPr/>
        </p:nvSpPr>
        <p:spPr>
          <a:xfrm>
            <a:off x="6641977" y="5096302"/>
            <a:ext cx="5138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Schlafstunden pro Nacht, Anzahl der Aufwachmomente, </a:t>
            </a:r>
          </a:p>
          <a:p>
            <a:r>
              <a:rPr lang="de-DE" sz="1600" dirty="0"/>
              <a:t>Handynutzung vor dem Schlaf.</a:t>
            </a:r>
          </a:p>
          <a:p>
            <a:r>
              <a:rPr lang="en-US" sz="1600" dirty="0"/>
              <a:t>Hours slept, bedtime, wake-up time, phone use before bed.</a:t>
            </a:r>
            <a:endParaRPr lang="LID4096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E5DC87-D9C9-DE65-1031-2A9CD00CECEC}"/>
              </a:ext>
            </a:extLst>
          </p:cNvPr>
          <p:cNvSpPr txBox="1"/>
          <p:nvPr/>
        </p:nvSpPr>
        <p:spPr>
          <a:xfrm>
            <a:off x="6641977" y="4021036"/>
            <a:ext cx="52543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Handynutzung vor dem Schlaf </a:t>
            </a:r>
            <a:r>
              <a:rPr lang="de-DE" sz="1600" b="1" dirty="0"/>
              <a:t>korreliert</a:t>
            </a:r>
            <a:r>
              <a:rPr lang="de-DE" sz="1600" dirty="0"/>
              <a:t> mit </a:t>
            </a:r>
          </a:p>
          <a:p>
            <a:r>
              <a:rPr lang="de-DE" sz="1600" dirty="0"/>
              <a:t>häufigeren Aufwachmomenten</a:t>
            </a:r>
          </a:p>
          <a:p>
            <a:r>
              <a:rPr lang="en-US" sz="1600" dirty="0"/>
              <a:t>Late-night phone use correlates with more night awakenings </a:t>
            </a:r>
            <a:endParaRPr lang="LID4096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D97502-8100-4804-A9EF-60DA8EE3218E}"/>
              </a:ext>
            </a:extLst>
          </p:cNvPr>
          <p:cNvSpPr txBox="1"/>
          <p:nvPr/>
        </p:nvSpPr>
        <p:spPr>
          <a:xfrm>
            <a:off x="6641977" y="2939450"/>
            <a:ext cx="49522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Späte Handynutzung verschlechtert die Schlafqualität</a:t>
            </a:r>
          </a:p>
          <a:p>
            <a:r>
              <a:rPr lang="de-DE" sz="1600" b="1" dirty="0"/>
              <a:t>Kausalität</a:t>
            </a:r>
          </a:p>
          <a:p>
            <a:r>
              <a:rPr lang="de-DE" sz="1600" dirty="0"/>
              <a:t>Late screen time </a:t>
            </a:r>
            <a:r>
              <a:rPr lang="de-DE" sz="1600" dirty="0" err="1"/>
              <a:t>reduce</a:t>
            </a:r>
            <a:r>
              <a:rPr lang="de-DE" sz="1600" dirty="0"/>
              <a:t> </a:t>
            </a:r>
            <a:r>
              <a:rPr lang="de-DE" sz="1600" dirty="0" err="1"/>
              <a:t>sleep</a:t>
            </a:r>
            <a:r>
              <a:rPr lang="de-DE" sz="1600" dirty="0"/>
              <a:t> </a:t>
            </a:r>
            <a:r>
              <a:rPr lang="de-DE" sz="1600" dirty="0" err="1"/>
              <a:t>quality</a:t>
            </a:r>
            <a:endParaRPr lang="de-DE" sz="16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5112BB-3F0C-D9B1-C5C0-F0214C954757}"/>
              </a:ext>
            </a:extLst>
          </p:cNvPr>
          <p:cNvSpPr txBox="1"/>
          <p:nvPr/>
        </p:nvSpPr>
        <p:spPr>
          <a:xfrm>
            <a:off x="6641977" y="2002683"/>
            <a:ext cx="4211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Bildschirme vor dem Schlaf vermeiden</a:t>
            </a:r>
          </a:p>
          <a:p>
            <a:r>
              <a:rPr lang="en-US" sz="1600" dirty="0"/>
              <a:t>Avoid screens before bed </a:t>
            </a:r>
            <a:endParaRPr lang="de-DE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B73195-5574-9812-F5BF-7C423140B7E2}"/>
              </a:ext>
            </a:extLst>
          </p:cNvPr>
          <p:cNvSpPr txBox="1"/>
          <p:nvPr/>
        </p:nvSpPr>
        <p:spPr>
          <a:xfrm>
            <a:off x="543997" y="593523"/>
            <a:ext cx="2642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DIKW pyramid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A96A46D-B367-E7FC-4722-94D408C3DB51}"/>
              </a:ext>
            </a:extLst>
          </p:cNvPr>
          <p:cNvCxnSpPr>
            <a:stCxn id="45" idx="3"/>
            <a:endCxn id="53" idx="1"/>
          </p:cNvCxnSpPr>
          <p:nvPr/>
        </p:nvCxnSpPr>
        <p:spPr>
          <a:xfrm>
            <a:off x="4351756" y="2295071"/>
            <a:ext cx="2290221" cy="0"/>
          </a:xfrm>
          <a:prstGeom prst="line">
            <a:avLst/>
          </a:prstGeom>
          <a:ln w="28575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5690561-5C55-1B9A-0DD9-92DCCD9FBDAB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>
          <a:xfrm flipV="1">
            <a:off x="4975501" y="3370337"/>
            <a:ext cx="1666476" cy="1"/>
          </a:xfrm>
          <a:prstGeom prst="line">
            <a:avLst/>
          </a:prstGeom>
          <a:ln w="28575"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1E9F883-4084-1AC4-663B-890B59FB0142}"/>
              </a:ext>
            </a:extLst>
          </p:cNvPr>
          <p:cNvCxnSpPr>
            <a:stCxn id="43" idx="3"/>
            <a:endCxn id="49" idx="1"/>
          </p:cNvCxnSpPr>
          <p:nvPr/>
        </p:nvCxnSpPr>
        <p:spPr>
          <a:xfrm>
            <a:off x="5604996" y="4436535"/>
            <a:ext cx="1036981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6315506-4DDA-9F27-F2F3-B2394068BB9D}"/>
              </a:ext>
            </a:extLst>
          </p:cNvPr>
          <p:cNvCxnSpPr>
            <a:stCxn id="42" idx="3"/>
            <a:endCxn id="48" idx="1"/>
          </p:cNvCxnSpPr>
          <p:nvPr/>
        </p:nvCxnSpPr>
        <p:spPr>
          <a:xfrm>
            <a:off x="6214368" y="5511801"/>
            <a:ext cx="427609" cy="0"/>
          </a:xfrm>
          <a:prstGeom prst="line">
            <a:avLst/>
          </a:prstGeom>
          <a:ln w="28575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0A1CC8B-19EF-5724-E413-E9595B5424B0}"/>
              </a:ext>
            </a:extLst>
          </p:cNvPr>
          <p:cNvSpPr txBox="1"/>
          <p:nvPr/>
        </p:nvSpPr>
        <p:spPr>
          <a:xfrm>
            <a:off x="10803467" y="47193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value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81781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37EAC-2717-EDE7-32AE-5A5C3A85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24C9CA-EA15-CFAC-EFAB-E7E9AF62EA27}"/>
              </a:ext>
            </a:extLst>
          </p:cNvPr>
          <p:cNvSpPr/>
          <p:nvPr/>
        </p:nvSpPr>
        <p:spPr>
          <a:xfrm>
            <a:off x="0" y="0"/>
            <a:ext cx="12192000" cy="6845300"/>
          </a:xfrm>
          <a:prstGeom prst="rect">
            <a:avLst/>
          </a:prstGeom>
          <a:gradFill flip="none" rotWithShape="1">
            <a:gsLst>
              <a:gs pos="0">
                <a:srgbClr val="CC99FF"/>
              </a:gs>
              <a:gs pos="53000">
                <a:schemeClr val="bg1"/>
              </a:gs>
              <a:gs pos="3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chemeClr val="bg1">
                    <a:lumMod val="95000"/>
                  </a:schemeClr>
                </a:solidFill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55B7D9-6FFA-4968-71A8-E57FD2F59CCE}"/>
              </a:ext>
            </a:extLst>
          </p:cNvPr>
          <p:cNvSpPr txBox="1"/>
          <p:nvPr/>
        </p:nvSpPr>
        <p:spPr>
          <a:xfrm>
            <a:off x="2978808" y="172323"/>
            <a:ext cx="65377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</a:t>
            </a:r>
          </a:p>
          <a:p>
            <a:r>
              <a:rPr lang="de-DE" sz="1400" b="1" dirty="0"/>
              <a:t>Analysefragen &amp; Ziele identifizieren | KPIs</a:t>
            </a:r>
          </a:p>
          <a:p>
            <a:endParaRPr lang="de-DE" sz="14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8BF2996-375C-C23A-FD0F-DCF788ED3CA1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5" name="Graphic 54" descr="Question mark">
            <a:extLst>
              <a:ext uri="{FF2B5EF4-FFF2-40B4-BE49-F238E27FC236}">
                <a16:creationId xmlns:a16="http://schemas.microsoft.com/office/drawing/2014/main" id="{7E1DE76B-A1E3-5525-E3EF-596C783A1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48831D7-9348-D929-C398-81871A364313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6858C7C-49CE-82E1-AE2E-44036F7C00F9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8E7511C-5884-66B6-9DF7-BA76E567E3B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59" name="Graphic 58" descr="Database">
              <a:extLst>
                <a:ext uri="{FF2B5EF4-FFF2-40B4-BE49-F238E27FC236}">
                  <a16:creationId xmlns:a16="http://schemas.microsoft.com/office/drawing/2014/main" id="{92E4C5FC-A9E4-0446-9032-8E3348519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9543AF9-A5D5-5836-25DF-9BF1AEB3784B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BAF7FF2-B808-3BD4-D840-D0BAA3FB33D6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2" name="Graphic 61" descr="Checklist">
            <a:extLst>
              <a:ext uri="{FF2B5EF4-FFF2-40B4-BE49-F238E27FC236}">
                <a16:creationId xmlns:a16="http://schemas.microsoft.com/office/drawing/2014/main" id="{591F1030-D020-6F0D-BCF4-3F459933C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16D5378-8663-19BA-0120-BE5E01C428E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AE3DD4B-1056-5FD2-0B10-0CD639229C09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5" name="Graphic 64" descr="Research">
            <a:extLst>
              <a:ext uri="{FF2B5EF4-FFF2-40B4-BE49-F238E27FC236}">
                <a16:creationId xmlns:a16="http://schemas.microsoft.com/office/drawing/2014/main" id="{DF6B25CC-ACA5-42E1-625E-D7066EE526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BD31907-9152-8859-041A-188D15841886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59075B9-0139-7EDD-C76D-D530B4BB2125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8" name="Graphic 67" descr="Share">
            <a:extLst>
              <a:ext uri="{FF2B5EF4-FFF2-40B4-BE49-F238E27FC236}">
                <a16:creationId xmlns:a16="http://schemas.microsoft.com/office/drawing/2014/main" id="{B9EEC583-F138-9303-DC34-6E1F7BEF16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C9706C7-FB7D-C863-FE03-BC346D152CCA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75988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D8CCA3-94C0-6DDA-0AF2-2050703B3D8C}"/>
              </a:ext>
            </a:extLst>
          </p:cNvPr>
          <p:cNvSpPr txBox="1"/>
          <p:nvPr/>
        </p:nvSpPr>
        <p:spPr>
          <a:xfrm>
            <a:off x="2091267" y="1142998"/>
            <a:ext cx="6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/>
              <a:t>S</a:t>
            </a:r>
            <a:endParaRPr lang="LID4096" sz="1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79E16-9D94-391E-1C3E-167EA6674D3F}"/>
              </a:ext>
            </a:extLst>
          </p:cNvPr>
          <p:cNvSpPr txBox="1"/>
          <p:nvPr/>
        </p:nvSpPr>
        <p:spPr>
          <a:xfrm>
            <a:off x="3923241" y="1142998"/>
            <a:ext cx="6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/>
              <a:t>M</a:t>
            </a:r>
            <a:endParaRPr lang="LID4096" sz="1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71B89-5149-0C1A-89D5-ACE1D29002C7}"/>
              </a:ext>
            </a:extLst>
          </p:cNvPr>
          <p:cNvSpPr txBox="1"/>
          <p:nvPr/>
        </p:nvSpPr>
        <p:spPr>
          <a:xfrm>
            <a:off x="5692776" y="1142998"/>
            <a:ext cx="6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/>
              <a:t>A</a:t>
            </a:r>
            <a:endParaRPr lang="LID4096" sz="1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5C288-BCB7-F3A1-4AE1-1EE162FD11F7}"/>
              </a:ext>
            </a:extLst>
          </p:cNvPr>
          <p:cNvSpPr txBox="1"/>
          <p:nvPr/>
        </p:nvSpPr>
        <p:spPr>
          <a:xfrm>
            <a:off x="7580843" y="1142998"/>
            <a:ext cx="6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/>
              <a:t>R</a:t>
            </a:r>
            <a:endParaRPr lang="LID4096" sz="1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B9BA4-C1D7-4AC9-FE53-C1BFFA072E1C}"/>
              </a:ext>
            </a:extLst>
          </p:cNvPr>
          <p:cNvSpPr txBox="1"/>
          <p:nvPr/>
        </p:nvSpPr>
        <p:spPr>
          <a:xfrm>
            <a:off x="9138710" y="1142998"/>
            <a:ext cx="6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b="1" dirty="0"/>
              <a:t>T</a:t>
            </a:r>
            <a:endParaRPr lang="LID4096" sz="1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2E4E66-0634-0DE4-291C-8C2B294641AB}"/>
              </a:ext>
            </a:extLst>
          </p:cNvPr>
          <p:cNvSpPr txBox="1"/>
          <p:nvPr/>
        </p:nvSpPr>
        <p:spPr>
          <a:xfrm>
            <a:off x="1439332" y="3014132"/>
            <a:ext cx="20446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Spezifisch</a:t>
            </a:r>
            <a:endParaRPr lang="en-US" sz="2400" b="1" dirty="0"/>
          </a:p>
          <a:p>
            <a:pPr algn="ctr"/>
            <a:r>
              <a:rPr lang="en-US" dirty="0"/>
              <a:t>Specific</a:t>
            </a:r>
            <a:endParaRPr lang="LID4096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086FF-6985-A933-D220-EE1049F1E7BA}"/>
              </a:ext>
            </a:extLst>
          </p:cNvPr>
          <p:cNvSpPr txBox="1"/>
          <p:nvPr/>
        </p:nvSpPr>
        <p:spPr>
          <a:xfrm>
            <a:off x="3359149" y="3014132"/>
            <a:ext cx="1780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Messbar</a:t>
            </a:r>
            <a:endParaRPr lang="en-US" sz="2400" b="1" dirty="0"/>
          </a:p>
          <a:p>
            <a:pPr algn="ctr"/>
            <a:r>
              <a:rPr lang="en-US" dirty="0"/>
              <a:t>Measurable</a:t>
            </a:r>
            <a:endParaRPr lang="LID4096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4BCA7-5329-0525-6A6F-B64DA89B3823}"/>
              </a:ext>
            </a:extLst>
          </p:cNvPr>
          <p:cNvSpPr txBox="1"/>
          <p:nvPr/>
        </p:nvSpPr>
        <p:spPr>
          <a:xfrm>
            <a:off x="5128684" y="3014132"/>
            <a:ext cx="1780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Erreichbar</a:t>
            </a:r>
            <a:endParaRPr lang="en-US" sz="2400" b="1" dirty="0"/>
          </a:p>
          <a:p>
            <a:pPr algn="ctr"/>
            <a:r>
              <a:rPr lang="en-US" dirty="0"/>
              <a:t>Achievable</a:t>
            </a:r>
            <a:endParaRPr lang="LID4096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5EFAAB-514C-CC00-47B4-7EEAF31AC6B2}"/>
              </a:ext>
            </a:extLst>
          </p:cNvPr>
          <p:cNvSpPr txBox="1"/>
          <p:nvPr/>
        </p:nvSpPr>
        <p:spPr>
          <a:xfrm>
            <a:off x="7016751" y="3014132"/>
            <a:ext cx="1780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Relevant</a:t>
            </a:r>
          </a:p>
          <a:p>
            <a:pPr algn="ctr"/>
            <a:r>
              <a:rPr lang="en-US" dirty="0"/>
              <a:t>Relevant</a:t>
            </a:r>
            <a:endParaRPr lang="LID4096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41C97-D3C4-5789-87E4-A56055314216}"/>
              </a:ext>
            </a:extLst>
          </p:cNvPr>
          <p:cNvSpPr txBox="1"/>
          <p:nvPr/>
        </p:nvSpPr>
        <p:spPr>
          <a:xfrm>
            <a:off x="8574618" y="3014132"/>
            <a:ext cx="17801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Terminiert</a:t>
            </a:r>
            <a:endParaRPr lang="en-US" sz="2400" b="1" dirty="0"/>
          </a:p>
          <a:p>
            <a:pPr algn="ctr"/>
            <a:r>
              <a:rPr lang="en-US" dirty="0"/>
              <a:t>Time-Bound</a:t>
            </a:r>
            <a:endParaRPr lang="LID4096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CE2E2-80C7-76E5-CD06-DB3315AB4ABF}"/>
              </a:ext>
            </a:extLst>
          </p:cNvPr>
          <p:cNvSpPr txBox="1"/>
          <p:nvPr/>
        </p:nvSpPr>
        <p:spPr>
          <a:xfrm>
            <a:off x="1439332" y="658968"/>
            <a:ext cx="10100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In der Datenanalyse ist es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practice</a:t>
            </a:r>
            <a:r>
              <a:rPr lang="de-DE" dirty="0"/>
              <a:t>, Fragen nach den SMART-Kriterien zu formulieren, damit sie klar und praktisch nutzbar sind.</a:t>
            </a:r>
            <a:endParaRPr lang="LID4096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587D4-9954-59C6-57B4-D2FD2D9631D8}"/>
              </a:ext>
            </a:extLst>
          </p:cNvPr>
          <p:cNvSpPr txBox="1"/>
          <p:nvPr/>
        </p:nvSpPr>
        <p:spPr>
          <a:xfrm>
            <a:off x="1916643" y="5312263"/>
            <a:ext cx="6583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993300"/>
                </a:solidFill>
              </a:rPr>
              <a:t>Warum ändern sich die Verkaufszahlen?“ — zu vage, nicht messbar.</a:t>
            </a:r>
          </a:p>
          <a:p>
            <a:r>
              <a:rPr lang="en-US" b="1" dirty="0" err="1">
                <a:solidFill>
                  <a:srgbClr val="993300"/>
                </a:solidFill>
              </a:rPr>
              <a:t>Verbessert</a:t>
            </a:r>
            <a:r>
              <a:rPr lang="en-US" b="1" dirty="0">
                <a:solidFill>
                  <a:srgbClr val="993300"/>
                </a:solidFill>
              </a:rPr>
              <a:t> Gehen die Gesundheit?</a:t>
            </a:r>
            <a:endParaRPr lang="LID4096" b="1" dirty="0">
              <a:solidFill>
                <a:srgbClr val="9933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9BB0AE-57CD-1C62-2F37-D3CEEF5B7E11}"/>
              </a:ext>
            </a:extLst>
          </p:cNvPr>
          <p:cNvSpPr txBox="1"/>
          <p:nvPr/>
        </p:nvSpPr>
        <p:spPr>
          <a:xfrm>
            <a:off x="1916642" y="4470524"/>
            <a:ext cx="8040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339966"/>
                </a:solidFill>
              </a:rPr>
              <a:t>Wie beeinflusst eine 10 % Preiserhöhung die Verkaufszahlen im nächsten Monat?</a:t>
            </a:r>
          </a:p>
          <a:p>
            <a:r>
              <a:rPr lang="de-DE" b="1" dirty="0">
                <a:solidFill>
                  <a:srgbClr val="339966"/>
                </a:solidFill>
              </a:rPr>
              <a:t>Führt 30 Minuten tägliches Gehen in 4 Wochen zu niedrigeren Blutdruckwerten?</a:t>
            </a:r>
            <a:endParaRPr lang="LID4096" b="1" dirty="0">
              <a:solidFill>
                <a:srgbClr val="339966"/>
              </a:solidFill>
            </a:endParaRPr>
          </a:p>
        </p:txBody>
      </p:sp>
      <p:pic>
        <p:nvPicPr>
          <p:cNvPr id="23" name="Graphic 22" descr="Devil face with no fill">
            <a:extLst>
              <a:ext uri="{FF2B5EF4-FFF2-40B4-BE49-F238E27FC236}">
                <a16:creationId xmlns:a16="http://schemas.microsoft.com/office/drawing/2014/main" id="{2EBFB49D-D52B-CF72-73F5-C57AE004B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001" y="5447731"/>
            <a:ext cx="369332" cy="369332"/>
          </a:xfrm>
          <a:prstGeom prst="rect">
            <a:avLst/>
          </a:prstGeom>
        </p:spPr>
      </p:pic>
      <p:pic>
        <p:nvPicPr>
          <p:cNvPr id="31" name="Graphic 30" descr="Smiling face with no fill">
            <a:extLst>
              <a:ext uri="{FF2B5EF4-FFF2-40B4-BE49-F238E27FC236}">
                <a16:creationId xmlns:a16="http://schemas.microsoft.com/office/drawing/2014/main" id="{3FD5160E-8CFA-E4BA-5022-F4202E211A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942" y="4565272"/>
            <a:ext cx="432858" cy="4328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A6DDDD-2A9B-63CA-341E-701591131FF2}"/>
              </a:ext>
            </a:extLst>
          </p:cNvPr>
          <p:cNvSpPr txBox="1"/>
          <p:nvPr/>
        </p:nvSpPr>
        <p:spPr>
          <a:xfrm>
            <a:off x="9406466" y="47193"/>
            <a:ext cx="278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ask a good question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9111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0146E1-70EE-D12F-2EE2-9BDA7509E645}"/>
              </a:ext>
            </a:extLst>
          </p:cNvPr>
          <p:cNvSpPr/>
          <p:nvPr/>
        </p:nvSpPr>
        <p:spPr>
          <a:xfrm>
            <a:off x="1807714" y="4162595"/>
            <a:ext cx="3912617" cy="233133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Prädiktiv</a:t>
            </a:r>
            <a:r>
              <a:rPr lang="en-US" sz="2000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Was </a:t>
            </a:r>
            <a:r>
              <a:rPr lang="en-US" sz="1600" dirty="0" err="1">
                <a:solidFill>
                  <a:schemeClr val="tx1"/>
                </a:solidFill>
              </a:rPr>
              <a:t>wird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wahrscheinlich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passieren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Prognosen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What would be the price of </a:t>
            </a:r>
            <a:r>
              <a:rPr lang="en-US" sz="1400" dirty="0" err="1">
                <a:solidFill>
                  <a:schemeClr val="tx1"/>
                </a:solidFill>
              </a:rPr>
              <a:t>Simense</a:t>
            </a:r>
            <a:r>
              <a:rPr lang="en-US" sz="1400" dirty="0">
                <a:solidFill>
                  <a:schemeClr val="tx1"/>
                </a:solidFill>
              </a:rPr>
              <a:t> tomorrow?</a:t>
            </a:r>
            <a:endParaRPr lang="LID4096" sz="14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8ACE8F-9FB9-30E6-3B7F-CF3C8B70A225}"/>
              </a:ext>
            </a:extLst>
          </p:cNvPr>
          <p:cNvSpPr/>
          <p:nvPr/>
        </p:nvSpPr>
        <p:spPr>
          <a:xfrm>
            <a:off x="6289716" y="4162595"/>
            <a:ext cx="3912617" cy="23313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Präskriptiv</a:t>
            </a:r>
            <a:r>
              <a:rPr lang="en-US" sz="2000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Was </a:t>
            </a:r>
            <a:r>
              <a:rPr lang="en-US" sz="1600" dirty="0" err="1">
                <a:solidFill>
                  <a:schemeClr val="tx1"/>
                </a:solidFill>
              </a:rPr>
              <a:t>sollen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wir</a:t>
            </a:r>
            <a:r>
              <a:rPr lang="en-US" sz="1600" dirty="0">
                <a:solidFill>
                  <a:schemeClr val="tx1"/>
                </a:solidFill>
              </a:rPr>
              <a:t> tun?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Handlungsempfehlungen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Should we increase price by 5 % next month?</a:t>
            </a:r>
            <a:endParaRPr lang="LID4096" sz="14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F2E4B6-E2C4-7ACE-7BD5-DC59163F358B}"/>
              </a:ext>
            </a:extLst>
          </p:cNvPr>
          <p:cNvSpPr/>
          <p:nvPr/>
        </p:nvSpPr>
        <p:spPr>
          <a:xfrm>
            <a:off x="1807714" y="1498600"/>
            <a:ext cx="3912617" cy="23313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Deskriptiv</a:t>
            </a:r>
            <a:r>
              <a:rPr lang="en-US" sz="2400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Was </a:t>
            </a:r>
            <a:r>
              <a:rPr lang="en-US" sz="1600" dirty="0" err="1">
                <a:solidFill>
                  <a:schemeClr val="tx1"/>
                </a:solidFill>
              </a:rPr>
              <a:t>ist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passiert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Dashboard, </a:t>
            </a:r>
            <a:r>
              <a:rPr lang="en-US" sz="1600" dirty="0" err="1">
                <a:solidFill>
                  <a:schemeClr val="tx1"/>
                </a:solidFill>
              </a:rPr>
              <a:t>daten</a:t>
            </a:r>
            <a:r>
              <a:rPr lang="en-US" sz="1600" dirty="0">
                <a:solidFill>
                  <a:schemeClr val="tx1"/>
                </a:solidFill>
              </a:rPr>
              <a:t> aggregation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was the average test score last month?</a:t>
            </a:r>
            <a:endParaRPr lang="LID4096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6159EF-A6A7-347F-3C69-AE7DABB41881}"/>
              </a:ext>
            </a:extLst>
          </p:cNvPr>
          <p:cNvSpPr/>
          <p:nvPr/>
        </p:nvSpPr>
        <p:spPr>
          <a:xfrm>
            <a:off x="6289716" y="1498600"/>
            <a:ext cx="3912617" cy="23313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Diagnostisch</a:t>
            </a:r>
            <a:r>
              <a:rPr lang="en-US" sz="2000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Warum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ist</a:t>
            </a:r>
            <a:r>
              <a:rPr lang="en-US" sz="1600" dirty="0">
                <a:solidFill>
                  <a:schemeClr val="tx1"/>
                </a:solidFill>
              </a:rPr>
              <a:t> es </a:t>
            </a:r>
            <a:r>
              <a:rPr lang="en-US" sz="1600" dirty="0" err="1">
                <a:solidFill>
                  <a:schemeClr val="tx1"/>
                </a:solidFill>
              </a:rPr>
              <a:t>passiert</a:t>
            </a:r>
            <a:r>
              <a:rPr lang="en-US" sz="16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Ursachen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Why did sales drop last week?</a:t>
            </a:r>
            <a:endParaRPr lang="LID4096" sz="16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FFC87-2D58-84DE-2689-3C29BC65C67D}"/>
              </a:ext>
            </a:extLst>
          </p:cNvPr>
          <p:cNvSpPr txBox="1"/>
          <p:nvPr/>
        </p:nvSpPr>
        <p:spPr>
          <a:xfrm>
            <a:off x="543998" y="593523"/>
            <a:ext cx="5966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/>
              <a:t>Die 4 Arten von Datenanalyse-Fragen</a:t>
            </a:r>
            <a:endParaRPr lang="de-DE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A0D74-9104-6C4F-865C-0B98DE4D379E}"/>
              </a:ext>
            </a:extLst>
          </p:cNvPr>
          <p:cNvSpPr txBox="1"/>
          <p:nvPr/>
        </p:nvSpPr>
        <p:spPr>
          <a:xfrm>
            <a:off x="10244668" y="47193"/>
            <a:ext cx="192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 of questions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7405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C6B1-33B9-2DBC-AC58-93D5A7CA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4F80A2-E69A-EE92-0461-010F2F7DE6F7}"/>
              </a:ext>
            </a:extLst>
          </p:cNvPr>
          <p:cNvSpPr/>
          <p:nvPr/>
        </p:nvSpPr>
        <p:spPr>
          <a:xfrm>
            <a:off x="2679778" y="4506364"/>
            <a:ext cx="2724811" cy="204683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Prädiktiv</a:t>
            </a:r>
            <a:r>
              <a:rPr lang="en-US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Was </a:t>
            </a:r>
            <a:r>
              <a:rPr lang="en-US" sz="1400" dirty="0" err="1">
                <a:solidFill>
                  <a:schemeClr val="tx1"/>
                </a:solidFill>
              </a:rPr>
              <a:t>wird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wahrscheinlich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passieren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Prognosen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What would be the price of </a:t>
            </a:r>
            <a:r>
              <a:rPr lang="en-US" sz="1200" dirty="0" err="1">
                <a:solidFill>
                  <a:schemeClr val="tx1"/>
                </a:solidFill>
              </a:rPr>
              <a:t>Simense</a:t>
            </a:r>
            <a:r>
              <a:rPr lang="en-US" sz="1200" dirty="0">
                <a:solidFill>
                  <a:schemeClr val="tx1"/>
                </a:solidFill>
              </a:rPr>
              <a:t> tomorrow?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71A0FD-5076-CC95-7983-54F469C4EBF2}"/>
              </a:ext>
            </a:extLst>
          </p:cNvPr>
          <p:cNvSpPr/>
          <p:nvPr/>
        </p:nvSpPr>
        <p:spPr>
          <a:xfrm>
            <a:off x="6359919" y="4506364"/>
            <a:ext cx="2724811" cy="20468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Präskriptiv</a:t>
            </a:r>
            <a:r>
              <a:rPr lang="en-US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Was </a:t>
            </a:r>
            <a:r>
              <a:rPr lang="en-US" sz="1400" dirty="0" err="1">
                <a:solidFill>
                  <a:schemeClr val="tx1"/>
                </a:solidFill>
              </a:rPr>
              <a:t>sollen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wir</a:t>
            </a:r>
            <a:r>
              <a:rPr lang="en-US" sz="1400" dirty="0">
                <a:solidFill>
                  <a:schemeClr val="tx1"/>
                </a:solidFill>
              </a:rPr>
              <a:t> tun?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Handlungsempfehlungen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Should we increase price by 5 % next month?</a:t>
            </a:r>
            <a:endParaRPr lang="LID4096" sz="12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1F4F12-9BCF-8551-6603-E2EE4BD22D04}"/>
              </a:ext>
            </a:extLst>
          </p:cNvPr>
          <p:cNvSpPr/>
          <p:nvPr/>
        </p:nvSpPr>
        <p:spPr>
          <a:xfrm>
            <a:off x="2679779" y="1659467"/>
            <a:ext cx="2724811" cy="20468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Deskriptiv</a:t>
            </a:r>
            <a:r>
              <a:rPr lang="en-US" sz="2000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Was </a:t>
            </a:r>
            <a:r>
              <a:rPr lang="en-US" sz="1400" dirty="0" err="1">
                <a:solidFill>
                  <a:schemeClr val="tx1"/>
                </a:solidFill>
              </a:rPr>
              <a:t>ist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passiert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Dashboard, </a:t>
            </a:r>
            <a:r>
              <a:rPr lang="en-US" sz="1400" dirty="0" err="1">
                <a:solidFill>
                  <a:schemeClr val="tx1"/>
                </a:solidFill>
              </a:rPr>
              <a:t>daten</a:t>
            </a:r>
            <a:r>
              <a:rPr lang="en-US" sz="1400" dirty="0">
                <a:solidFill>
                  <a:schemeClr val="tx1"/>
                </a:solidFill>
              </a:rPr>
              <a:t> aggregation</a:t>
            </a:r>
          </a:p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was the average test score last month?</a:t>
            </a:r>
            <a:endParaRPr lang="LID4096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173726-AE18-EB65-1992-70251583DB2C}"/>
              </a:ext>
            </a:extLst>
          </p:cNvPr>
          <p:cNvSpPr/>
          <p:nvPr/>
        </p:nvSpPr>
        <p:spPr>
          <a:xfrm>
            <a:off x="6359920" y="1659467"/>
            <a:ext cx="2724811" cy="204683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Diagnostisch</a:t>
            </a:r>
            <a:r>
              <a:rPr lang="en-US" b="1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Warum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ist</a:t>
            </a:r>
            <a:r>
              <a:rPr lang="en-US" sz="1400" dirty="0">
                <a:solidFill>
                  <a:schemeClr val="tx1"/>
                </a:solidFill>
              </a:rPr>
              <a:t> es </a:t>
            </a:r>
            <a:r>
              <a:rPr lang="en-US" sz="1400" dirty="0" err="1">
                <a:solidFill>
                  <a:schemeClr val="tx1"/>
                </a:solidFill>
              </a:rPr>
              <a:t>passiert</a:t>
            </a:r>
            <a:r>
              <a:rPr lang="en-US" sz="140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Ursachen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analyse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Why did sales drop last week?</a:t>
            </a:r>
            <a:endParaRPr lang="LID4096" sz="14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F213E-ABFB-684F-098E-9FB8F1F6B320}"/>
              </a:ext>
            </a:extLst>
          </p:cNvPr>
          <p:cNvSpPr txBox="1"/>
          <p:nvPr/>
        </p:nvSpPr>
        <p:spPr>
          <a:xfrm>
            <a:off x="543998" y="593523"/>
            <a:ext cx="5966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/>
              <a:t>Die 4 Arten von Datenanalyse-Fragen</a:t>
            </a:r>
            <a:endParaRPr lang="de-DE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BC9C7A-79F2-8071-3325-28541661B27C}"/>
              </a:ext>
            </a:extLst>
          </p:cNvPr>
          <p:cNvSpPr txBox="1"/>
          <p:nvPr/>
        </p:nvSpPr>
        <p:spPr>
          <a:xfrm>
            <a:off x="10244668" y="47193"/>
            <a:ext cx="192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 of questions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FDF87-0196-5D30-43A5-57C441EC1778}"/>
              </a:ext>
            </a:extLst>
          </p:cNvPr>
          <p:cNvSpPr txBox="1"/>
          <p:nvPr/>
        </p:nvSpPr>
        <p:spPr>
          <a:xfrm>
            <a:off x="626924" y="2359719"/>
            <a:ext cx="1937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/>
              <a:t>Descriptive Statistics</a:t>
            </a:r>
          </a:p>
          <a:p>
            <a:pPr algn="r"/>
            <a:r>
              <a:rPr lang="en-US" sz="1600" b="1" dirty="0"/>
              <a:t>Data Visualization</a:t>
            </a:r>
            <a:endParaRPr lang="LID4096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D942C-8FD8-D60A-3073-1850358CD9AB}"/>
              </a:ext>
            </a:extLst>
          </p:cNvPr>
          <p:cNvSpPr txBox="1"/>
          <p:nvPr/>
        </p:nvSpPr>
        <p:spPr>
          <a:xfrm>
            <a:off x="863031" y="5206616"/>
            <a:ext cx="1704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/>
              <a:t>Statistical Models</a:t>
            </a:r>
          </a:p>
          <a:p>
            <a:pPr algn="r"/>
            <a:r>
              <a:rPr lang="en-US" sz="1600" b="1" dirty="0"/>
              <a:t>Machine Learning</a:t>
            </a:r>
            <a:endParaRPr lang="LID4096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0182F-C8DA-D523-76A6-C6F6B484F738}"/>
              </a:ext>
            </a:extLst>
          </p:cNvPr>
          <p:cNvSpPr txBox="1"/>
          <p:nvPr/>
        </p:nvSpPr>
        <p:spPr>
          <a:xfrm>
            <a:off x="9177860" y="2359719"/>
            <a:ext cx="1480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Correlation</a:t>
            </a:r>
          </a:p>
          <a:p>
            <a:r>
              <a:rPr lang="en-US" sz="1600" b="1" dirty="0"/>
              <a:t>Causal Analysis</a:t>
            </a:r>
            <a:endParaRPr lang="LID4096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80A53-B08D-145C-7923-F30376ABA6A6}"/>
              </a:ext>
            </a:extLst>
          </p:cNvPr>
          <p:cNvSpPr txBox="1"/>
          <p:nvPr/>
        </p:nvSpPr>
        <p:spPr>
          <a:xfrm>
            <a:off x="9177863" y="5206616"/>
            <a:ext cx="1290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Optimization</a:t>
            </a:r>
          </a:p>
          <a:p>
            <a:r>
              <a:rPr lang="en-US" sz="1600" b="1" dirty="0"/>
              <a:t>Simulation</a:t>
            </a:r>
            <a:endParaRPr lang="LID4096" sz="16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02193A-84CB-700C-5867-C5B2E81AF05A}"/>
              </a:ext>
            </a:extLst>
          </p:cNvPr>
          <p:cNvSpPr/>
          <p:nvPr/>
        </p:nvSpPr>
        <p:spPr>
          <a:xfrm>
            <a:off x="6359920" y="1659467"/>
            <a:ext cx="4790677" cy="204683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77360A-A6CA-8090-D9B6-2F77EE651BB4}"/>
              </a:ext>
            </a:extLst>
          </p:cNvPr>
          <p:cNvSpPr/>
          <p:nvPr/>
        </p:nvSpPr>
        <p:spPr>
          <a:xfrm>
            <a:off x="6359918" y="4506364"/>
            <a:ext cx="4790677" cy="204683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E85107-94D1-05C9-6C9A-0E850790520B}"/>
              </a:ext>
            </a:extLst>
          </p:cNvPr>
          <p:cNvSpPr/>
          <p:nvPr/>
        </p:nvSpPr>
        <p:spPr>
          <a:xfrm>
            <a:off x="613912" y="4506364"/>
            <a:ext cx="4790677" cy="204683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717B85-EE2E-262B-C0F0-4AAA39343A5B}"/>
              </a:ext>
            </a:extLst>
          </p:cNvPr>
          <p:cNvSpPr/>
          <p:nvPr/>
        </p:nvSpPr>
        <p:spPr>
          <a:xfrm>
            <a:off x="613912" y="1659466"/>
            <a:ext cx="4790677" cy="2046835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0244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E91C-F813-D899-3F9C-0A4F2949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E5B19C-E249-3902-A2A1-DF36411B256D}"/>
              </a:ext>
            </a:extLst>
          </p:cNvPr>
          <p:cNvSpPr txBox="1"/>
          <p:nvPr/>
        </p:nvSpPr>
        <p:spPr>
          <a:xfrm>
            <a:off x="914397" y="969309"/>
            <a:ext cx="10258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KPI</a:t>
            </a:r>
            <a:r>
              <a:rPr lang="de-DE" dirty="0"/>
              <a:t>s: Messbarer Wert, der anzeigt, wie effektiv </a:t>
            </a:r>
            <a:r>
              <a:rPr lang="de-DE" b="1" dirty="0"/>
              <a:t>Ziele erreicht werden</a:t>
            </a:r>
            <a:r>
              <a:rPr lang="de-DE" dirty="0"/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034A4A-38B8-068A-6C4B-AC7BBF47E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15136"/>
              </p:ext>
            </p:extLst>
          </p:nvPr>
        </p:nvGraphicFramePr>
        <p:xfrm>
          <a:off x="914397" y="1913434"/>
          <a:ext cx="10981266" cy="3975257"/>
        </p:xfrm>
        <a:graphic>
          <a:graphicData uri="http://schemas.openxmlformats.org/drawingml/2006/table">
            <a:tbl>
              <a:tblPr/>
              <a:tblGrid>
                <a:gridCol w="2446869">
                  <a:extLst>
                    <a:ext uri="{9D8B030D-6E8A-4147-A177-3AD203B41FA5}">
                      <a16:colId xmlns:a16="http://schemas.microsoft.com/office/drawing/2014/main" val="350017225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583597240"/>
                    </a:ext>
                  </a:extLst>
                </a:gridCol>
                <a:gridCol w="5333997">
                  <a:extLst>
                    <a:ext uri="{9D8B030D-6E8A-4147-A177-3AD203B41FA5}">
                      <a16:colId xmlns:a16="http://schemas.microsoft.com/office/drawing/2014/main" val="263180350"/>
                    </a:ext>
                  </a:extLst>
                </a:gridCol>
              </a:tblGrid>
              <a:tr h="437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Typ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Kein KPI (Problem)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Guter KPI (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Lösungs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 /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Zielorientiert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87023"/>
                  </a:ext>
                </a:extLst>
              </a:tr>
              <a:tr h="7552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Rohdaten </a:t>
                      </a:r>
                      <a:r>
                        <a:rPr lang="en-US" sz="1600" b="1"/>
                        <a:t>→ </a:t>
                      </a: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Zielorientierter KPI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Gesamtzahl der versendeten E-Mails (nicht mit Ziel verknüpft)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Prozentsatz der geöffneten oder angeklickten E-Mails </a:t>
                      </a:r>
                      <a:r>
                        <a:rPr lang="en-US" sz="1600" b="1" dirty="0"/>
                        <a:t>→ </a:t>
                      </a: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misst die </a:t>
                      </a:r>
                      <a:r>
                        <a:rPr lang="de-DE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Effektivität der E-Mail-Kampagne</a:t>
                      </a:r>
                      <a:endParaRPr lang="de-DE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20509"/>
                  </a:ext>
                </a:extLst>
              </a:tr>
              <a:tr h="13913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Vanity Metric </a:t>
                      </a:r>
                      <a:r>
                        <a:rPr lang="en-US" sz="1600" b="1" dirty="0"/>
                        <a:t>→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Handlungsrelevanter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KPI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Anzahl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der Social-Media-Follower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allein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Interaktionsrate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(Likes + Shares +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Kommentare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Follower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insgesamt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sz="1600" b="1" dirty="0"/>
                        <a:t>→ </a:t>
                      </a:r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misst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Publikumsinteraktion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und Content-</a:t>
                      </a: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Effektivität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59102"/>
                  </a:ext>
                </a:extLst>
              </a:tr>
              <a:tr h="13913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Irrelevante Messung </a:t>
                      </a:r>
                      <a:r>
                        <a:rPr lang="en-US" sz="1600" b="1"/>
                        <a:t>→</a:t>
                      </a: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Performance-KPI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Bürotemperatur oder Anzahl der Stühle in einem Besprechungsraum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Durchschnittliche Zeit zur Behebung von Wartungsproblemen oder Score zur Mitarbeiterzufriedenheit </a:t>
                      </a:r>
                      <a:r>
                        <a:rPr lang="en-US" sz="1600" b="1" dirty="0"/>
                        <a:t>→</a:t>
                      </a:r>
                      <a:r>
                        <a:rPr lang="de-DE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misst </a:t>
                      </a:r>
                      <a:r>
                        <a:rPr lang="de-DE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Arbeitsplatzeffizienz und Wohlbefinden</a:t>
                      </a:r>
                      <a:endParaRPr lang="de-DE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0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61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0635FE-7EF6-A91D-661B-8B7914DCB04E}"/>
              </a:ext>
            </a:extLst>
          </p:cNvPr>
          <p:cNvSpPr txBox="1"/>
          <p:nvPr/>
        </p:nvSpPr>
        <p:spPr>
          <a:xfrm>
            <a:off x="702732" y="404969"/>
            <a:ext cx="109812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KPI</a:t>
            </a:r>
            <a:r>
              <a:rPr lang="de-DE" dirty="0"/>
              <a:t>s: Messbarer Wert, der anzeigt, wie effektiv </a:t>
            </a:r>
            <a:r>
              <a:rPr lang="de-DE" b="1" dirty="0"/>
              <a:t>Ziele erreicht werden</a:t>
            </a:r>
            <a:r>
              <a:rPr lang="de-DE" dirty="0"/>
              <a:t>.</a:t>
            </a:r>
          </a:p>
          <a:p>
            <a:endParaRPr lang="en-US" b="1" dirty="0"/>
          </a:p>
          <a:p>
            <a:r>
              <a:rPr lang="en-US" b="1" dirty="0"/>
              <a:t>KPI</a:t>
            </a:r>
            <a:r>
              <a:rPr lang="en-US" dirty="0"/>
              <a:t>s (</a:t>
            </a:r>
            <a:r>
              <a:rPr lang="en-US" b="1" dirty="0"/>
              <a:t>Key Performance Indicator</a:t>
            </a:r>
            <a:r>
              <a:rPr lang="en-US" dirty="0"/>
              <a:t>) : measurable value that indicates how effectively </a:t>
            </a:r>
            <a:r>
              <a:rPr lang="en-US" b="1" dirty="0"/>
              <a:t>objectives are being achieved</a:t>
            </a:r>
            <a:r>
              <a:rPr lang="en-US" dirty="0"/>
              <a:t>.</a:t>
            </a:r>
            <a:endParaRPr lang="LID4096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5AD822E-9E79-E5A5-2415-2D812064D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358433"/>
              </p:ext>
            </p:extLst>
          </p:nvPr>
        </p:nvGraphicFramePr>
        <p:xfrm>
          <a:off x="618064" y="2180011"/>
          <a:ext cx="10981266" cy="3975257"/>
        </p:xfrm>
        <a:graphic>
          <a:graphicData uri="http://schemas.openxmlformats.org/drawingml/2006/table">
            <a:tbl>
              <a:tblPr/>
              <a:tblGrid>
                <a:gridCol w="2446869">
                  <a:extLst>
                    <a:ext uri="{9D8B030D-6E8A-4147-A177-3AD203B41FA5}">
                      <a16:colId xmlns:a16="http://schemas.microsoft.com/office/drawing/2014/main" val="350017225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583597240"/>
                    </a:ext>
                  </a:extLst>
                </a:gridCol>
                <a:gridCol w="5333997">
                  <a:extLst>
                    <a:ext uri="{9D8B030D-6E8A-4147-A177-3AD203B41FA5}">
                      <a16:colId xmlns:a16="http://schemas.microsoft.com/office/drawing/2014/main" val="263180350"/>
                    </a:ext>
                  </a:extLst>
                </a:gridCol>
              </a:tblGrid>
              <a:tr h="437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Type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Not KPI (Problem)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Good KPI (Solution / Goal-linked)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87023"/>
                  </a:ext>
                </a:extLst>
              </a:tr>
              <a:tr h="755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Raw data → Goal-linked KPI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Total number of emails sent (not linked to objective)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Percentage of emails opened or clicked → measures </a:t>
                      </a:r>
                      <a:r>
                        <a:rPr lang="en-US" sz="1600" b="1" dirty="0"/>
                        <a:t>email campaign effectiveness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20509"/>
                  </a:ext>
                </a:extLst>
              </a:tr>
              <a:tr h="139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Vanity metric → Actionable KPI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Number of social media followers alone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Engagement rate (likes + shares + comments ÷ total followers) → measures </a:t>
                      </a:r>
                      <a:r>
                        <a:rPr lang="en-US" sz="1600" b="1" dirty="0"/>
                        <a:t>audience interaction and content effectiveness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59102"/>
                  </a:ext>
                </a:extLst>
              </a:tr>
              <a:tr h="139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Irrelevant measurement → Performance KPI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Office temperature or number of chairs in a meeting room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Average time to resolve office maintenance issues or employee comfort satisfaction score → measures </a:t>
                      </a:r>
                      <a:r>
                        <a:rPr lang="en-US" sz="1600" b="1" dirty="0"/>
                        <a:t>workplace efficiency and employee well-being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0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560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4282</TotalTime>
  <Words>1184</Words>
  <Application>Microsoft Office PowerPoint</Application>
  <PresentationFormat>Widescreen</PresentationFormat>
  <Paragraphs>319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37</cp:revision>
  <dcterms:created xsi:type="dcterms:W3CDTF">2026-02-20T09:06:58Z</dcterms:created>
  <dcterms:modified xsi:type="dcterms:W3CDTF">2026-02-24T06:41:07Z</dcterms:modified>
</cp:coreProperties>
</file>